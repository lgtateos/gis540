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464" r:id="rId3"/>
    <p:sldId id="466" r:id="rId4"/>
    <p:sldId id="467" r:id="rId5"/>
    <p:sldId id="468" r:id="rId6"/>
    <p:sldId id="412" r:id="rId7"/>
    <p:sldId id="472" r:id="rId8"/>
    <p:sldId id="471" r:id="rId9"/>
    <p:sldId id="463" r:id="rId10"/>
    <p:sldId id="476" r:id="rId11"/>
    <p:sldId id="477" r:id="rId12"/>
    <p:sldId id="478" r:id="rId13"/>
    <p:sldId id="475" r:id="rId14"/>
    <p:sldId id="480" r:id="rId15"/>
    <p:sldId id="489" r:id="rId16"/>
    <p:sldId id="459" r:id="rId17"/>
    <p:sldId id="483" r:id="rId18"/>
    <p:sldId id="486" r:id="rId19"/>
    <p:sldId id="481" r:id="rId20"/>
    <p:sldId id="488" r:id="rId21"/>
    <p:sldId id="490" r:id="rId22"/>
    <p:sldId id="491" r:id="rId23"/>
    <p:sldId id="492" r:id="rId24"/>
    <p:sldId id="495" r:id="rId25"/>
    <p:sldId id="496" r:id="rId26"/>
    <p:sldId id="479" r:id="rId27"/>
    <p:sldId id="498" r:id="rId28"/>
    <p:sldId id="506" r:id="rId29"/>
    <p:sldId id="461" r:id="rId30"/>
    <p:sldId id="500" r:id="rId31"/>
    <p:sldId id="497" r:id="rId32"/>
    <p:sldId id="493" r:id="rId33"/>
    <p:sldId id="502" r:id="rId34"/>
    <p:sldId id="504" r:id="rId35"/>
    <p:sldId id="501" r:id="rId36"/>
    <p:sldId id="503" r:id="rId37"/>
    <p:sldId id="460" r:id="rId38"/>
    <p:sldId id="462" r:id="rId39"/>
    <p:sldId id="427" r:id="rId40"/>
    <p:sldId id="457" r:id="rId41"/>
    <p:sldId id="458" r:id="rId4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6BD"/>
    <a:srgbClr val="9F7705"/>
    <a:srgbClr val="7F7F7F"/>
    <a:srgbClr val="FF0066"/>
    <a:srgbClr val="F2F2F2"/>
    <a:srgbClr val="2E75B6"/>
    <a:srgbClr val="0000FF"/>
    <a:srgbClr val="669900"/>
    <a:srgbClr val="B2B062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039" autoAdjust="0"/>
  </p:normalViewPr>
  <p:slideViewPr>
    <p:cSldViewPr>
      <p:cViewPr varScale="1">
        <p:scale>
          <a:sx n="155" d="100"/>
          <a:sy n="155" d="100"/>
        </p:scale>
        <p:origin x="1974" y="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00" d="100"/>
        <a:sy n="3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026">
            <a:extLst>
              <a:ext uri="{FF2B5EF4-FFF2-40B4-BE49-F238E27FC236}">
                <a16:creationId xmlns:a16="http://schemas.microsoft.com/office/drawing/2014/main" id="{7A6C6709-988A-F230-6F80-DAFF4BEE5C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1619" name="Rectangle 1027">
            <a:extLst>
              <a:ext uri="{FF2B5EF4-FFF2-40B4-BE49-F238E27FC236}">
                <a16:creationId xmlns:a16="http://schemas.microsoft.com/office/drawing/2014/main" id="{ABE1B2E4-A018-1781-97DF-4DF7D9FCD42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0" name="Rectangle 1028">
            <a:extLst>
              <a:ext uri="{FF2B5EF4-FFF2-40B4-BE49-F238E27FC236}">
                <a16:creationId xmlns:a16="http://schemas.microsoft.com/office/drawing/2014/main" id="{23B25163-3F88-C972-C642-250DD2C28DE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  <a:ext uri="{FAA26D3D-D897-4be2-8F04-BA451C77F1D7}"/>
          </a:extLst>
        </p:spPr>
      </p:sp>
      <p:sp>
        <p:nvSpPr>
          <p:cNvPr id="111621" name="Rectangle 1029">
            <a:extLst>
              <a:ext uri="{FF2B5EF4-FFF2-40B4-BE49-F238E27FC236}">
                <a16:creationId xmlns:a16="http://schemas.microsoft.com/office/drawing/2014/main" id="{08041603-1A29-5258-3A30-301E8741DA0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1622" name="Rectangle 1030">
            <a:extLst>
              <a:ext uri="{FF2B5EF4-FFF2-40B4-BE49-F238E27FC236}">
                <a16:creationId xmlns:a16="http://schemas.microsoft.com/office/drawing/2014/main" id="{2991F9E3-2B93-F011-326B-BCB2AD90B73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1623" name="Rectangle 1031">
            <a:extLst>
              <a:ext uri="{FF2B5EF4-FFF2-40B4-BE49-F238E27FC236}">
                <a16:creationId xmlns:a16="http://schemas.microsoft.com/office/drawing/2014/main" id="{206377D4-F39A-EFC4-3D80-5AC1E14B57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5F73FC1-CAA2-4B05-A6E3-5698006F1130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F425DF-F559-F75F-B799-5938B769D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099" name="Notes Placeholder 2">
            <a:extLst>
              <a:ext uri="{FF2B5EF4-FFF2-40B4-BE49-F238E27FC236}">
                <a16:creationId xmlns:a16="http://schemas.microsoft.com/office/drawing/2014/main" id="{CC4D259F-6248-AEA0-BD77-42046B826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>
              <a:buFontTx/>
              <a:buAutoNum type="arabicPeriod"/>
            </a:pPr>
            <a:r>
              <a:rPr lang="en-US" altLang="en-US" dirty="0" err="1">
                <a:latin typeface="Arial" panose="020B0604020202020204" pitchFamily="34" charset="0"/>
              </a:rPr>
              <a:t>myList.append</a:t>
            </a:r>
            <a:r>
              <a:rPr lang="en-US" altLang="en-US" dirty="0">
                <a:latin typeface="Arial" panose="020B0604020202020204" pitchFamily="34" charset="0"/>
              </a:rPr>
              <a:t>( 4 )</a:t>
            </a:r>
            <a:br>
              <a:rPr lang="en-US" altLang="en-US" dirty="0">
                <a:latin typeface="Arial" panose="020B0604020202020204" pitchFamily="34" charset="0"/>
              </a:rPr>
            </a:br>
            <a:endParaRPr lang="en-US" altLang="en-US" dirty="0">
              <a:latin typeface="Arial" panose="020B0604020202020204" pitchFamily="34" charset="0"/>
            </a:endParaRPr>
          </a:p>
          <a:p>
            <a:pPr eaLnBrk="1" hangingPunct="1">
              <a:buFontTx/>
              <a:buAutoNum type="arabicPeriod"/>
            </a:pPr>
            <a:r>
              <a:rPr lang="en-US" altLang="en-US" dirty="0" err="1">
                <a:latin typeface="Arial" panose="020B0604020202020204" pitchFamily="34" charset="0"/>
              </a:rPr>
              <a:t>mystr.endswith</a:t>
            </a:r>
            <a:r>
              <a:rPr lang="en-US" altLang="en-US" dirty="0">
                <a:latin typeface="Arial" panose="020B0604020202020204" pitchFamily="34" charset="0"/>
              </a:rPr>
              <a:t>(</a:t>
            </a:r>
            <a:r>
              <a:rPr lang="ja-JP" altLang="en-US" dirty="0">
                <a:latin typeface="Arial" panose="020B0604020202020204" pitchFamily="34" charset="0"/>
              </a:rPr>
              <a:t>“</a:t>
            </a:r>
            <a:r>
              <a:rPr lang="en-US" altLang="ja-JP" dirty="0" err="1">
                <a:latin typeface="Arial" panose="020B0604020202020204" pitchFamily="34" charset="0"/>
              </a:rPr>
              <a:t>shp</a:t>
            </a:r>
            <a:r>
              <a:rPr lang="ja-JP" altLang="en-US" dirty="0">
                <a:latin typeface="Arial" panose="020B0604020202020204" pitchFamily="34" charset="0"/>
              </a:rPr>
              <a:t>”</a:t>
            </a:r>
            <a:r>
              <a:rPr lang="en-US" altLang="ja-JP" dirty="0">
                <a:latin typeface="Arial" panose="020B0604020202020204" pitchFamily="34" charset="0"/>
              </a:rPr>
              <a:t>)</a:t>
            </a:r>
          </a:p>
          <a:p>
            <a:pPr eaLnBrk="1" hangingPunct="1">
              <a:buFontTx/>
              <a:buAutoNum type="arabicPeriod"/>
            </a:pPr>
            <a:endParaRPr lang="en-US" altLang="en-US" dirty="0">
              <a:latin typeface="Arial" panose="020B0604020202020204" pitchFamily="34" charset="0"/>
            </a:endParaRPr>
          </a:p>
          <a:p>
            <a:pPr eaLnBrk="1" hangingPunct="1">
              <a:buFontTx/>
              <a:buAutoNum type="arabicPeriod"/>
            </a:pPr>
            <a:r>
              <a:rPr lang="en-US" altLang="en-US" dirty="0" err="1">
                <a:latin typeface="Arial" panose="020B0604020202020204" pitchFamily="34" charset="0"/>
              </a:rPr>
              <a:t>arcpy.env.overwriteOutput</a:t>
            </a:r>
            <a:r>
              <a:rPr lang="en-US" altLang="en-US" dirty="0">
                <a:latin typeface="Arial" panose="020B0604020202020204" pitchFamily="34" charset="0"/>
              </a:rPr>
              <a:t> = 1</a:t>
            </a:r>
          </a:p>
          <a:p>
            <a:pPr eaLnBrk="1" hangingPunct="1">
              <a:buFontTx/>
              <a:buAutoNum type="arabicPeriod"/>
            </a:pPr>
            <a:endParaRPr lang="en-US" altLang="en-US" dirty="0">
              <a:latin typeface="Arial" panose="020B0604020202020204" pitchFamily="34" charset="0"/>
            </a:endParaRPr>
          </a:p>
          <a:p>
            <a:pPr eaLnBrk="1" hangingPunct="1">
              <a:buFontTx/>
              <a:buAutoNum type="arabicPeriod"/>
            </a:pPr>
            <a:r>
              <a:rPr lang="en-US" altLang="en-US" dirty="0" err="1">
                <a:latin typeface="Arial" panose="020B0604020202020204" pitchFamily="34" charset="0"/>
              </a:rPr>
              <a:t>arcpy.compact_management</a:t>
            </a:r>
            <a:r>
              <a:rPr lang="en-US" altLang="en-US" dirty="0">
                <a:latin typeface="Arial" panose="020B0604020202020204" pitchFamily="34" charset="0"/>
              </a:rPr>
              <a:t>(filename)</a:t>
            </a:r>
            <a:br>
              <a:rPr lang="en-US" altLang="en-US" dirty="0">
                <a:latin typeface="Arial" panose="020B0604020202020204" pitchFamily="34" charset="0"/>
              </a:rPr>
            </a:br>
            <a:endParaRPr lang="en-US" altLang="en-US" dirty="0">
              <a:latin typeface="Arial" panose="020B0604020202020204" pitchFamily="34" charset="0"/>
            </a:endParaRPr>
          </a:p>
          <a:p>
            <a:pPr eaLnBrk="1" hangingPunct="1">
              <a:buFontTx/>
              <a:buAutoNum type="arabicPeriod"/>
            </a:pPr>
            <a:r>
              <a:rPr lang="en-US" altLang="en-US" dirty="0" err="1">
                <a:latin typeface="Arial" panose="020B0604020202020204" pitchFamily="34" charset="0"/>
              </a:rPr>
              <a:t>rc</a:t>
            </a:r>
            <a:r>
              <a:rPr lang="en-US" altLang="en-US" dirty="0">
                <a:latin typeface="Arial" panose="020B0604020202020204" pitchFamily="34" charset="0"/>
              </a:rPr>
              <a:t> = </a:t>
            </a:r>
            <a:r>
              <a:rPr lang="en-US" altLang="en-US" dirty="0" err="1">
                <a:latin typeface="Arial" panose="020B0604020202020204" pitchFamily="34" charset="0"/>
              </a:rPr>
              <a:t>arcpy.AverageNearestNeighbor_stats</a:t>
            </a:r>
            <a:r>
              <a:rPr lang="en-US" altLang="en-US" dirty="0">
                <a:latin typeface="Arial" panose="020B0604020202020204" pitchFamily="34" charset="0"/>
              </a:rPr>
              <a:t>("C://points.shp", "Euclidean Distance")</a:t>
            </a:r>
            <a:br>
              <a:rPr lang="en-US" altLang="en-US" dirty="0">
                <a:latin typeface="Arial" panose="020B0604020202020204" pitchFamily="34" charset="0"/>
              </a:rPr>
            </a:br>
            <a:br>
              <a:rPr lang="en-US" altLang="en-US" dirty="0">
                <a:latin typeface="Arial" panose="020B0604020202020204" pitchFamily="34" charset="0"/>
              </a:rPr>
            </a:br>
            <a:r>
              <a:rPr lang="en-US" altLang="en-US" dirty="0">
                <a:latin typeface="Arial" panose="020B0604020202020204" pitchFamily="34" charset="0"/>
              </a:rPr>
              <a:t>a. print (</a:t>
            </a:r>
            <a:r>
              <a:rPr lang="en-US" altLang="en-US" dirty="0" err="1">
                <a:latin typeface="Arial" panose="020B0604020202020204" pitchFamily="34" charset="0"/>
              </a:rPr>
              <a:t>rc.outputcount</a:t>
            </a:r>
            <a:r>
              <a:rPr lang="en-US" altLang="en-US" dirty="0">
                <a:latin typeface="Arial" panose="020B0604020202020204" pitchFamily="34" charset="0"/>
              </a:rPr>
              <a:t>)</a:t>
            </a:r>
            <a:br>
              <a:rPr lang="en-US" altLang="en-US" dirty="0">
                <a:latin typeface="Arial" panose="020B0604020202020204" pitchFamily="34" charset="0"/>
              </a:rPr>
            </a:br>
            <a:br>
              <a:rPr lang="en-US" altLang="en-US" dirty="0">
                <a:latin typeface="Arial" panose="020B0604020202020204" pitchFamily="34" charset="0"/>
              </a:rPr>
            </a:br>
            <a:r>
              <a:rPr lang="en-US" altLang="en-US" dirty="0">
                <a:latin typeface="Arial" panose="020B0604020202020204" pitchFamily="34" charset="0"/>
              </a:rPr>
              <a:t>b. print(</a:t>
            </a:r>
            <a:r>
              <a:rPr lang="en-US" altLang="en-US" dirty="0" err="1">
                <a:latin typeface="Arial" panose="020B0604020202020204" pitchFamily="34" charset="0"/>
              </a:rPr>
              <a:t>rc.getOutput</a:t>
            </a:r>
            <a:r>
              <a:rPr lang="en-US" altLang="en-US" dirty="0">
                <a:latin typeface="Arial" panose="020B0604020202020204" pitchFamily="34" charset="0"/>
              </a:rPr>
              <a:t>(0))</a:t>
            </a:r>
          </a:p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100" name="Slide Number Placeholder 3">
            <a:extLst>
              <a:ext uri="{FF2B5EF4-FFF2-40B4-BE49-F238E27FC236}">
                <a16:creationId xmlns:a16="http://schemas.microsoft.com/office/drawing/2014/main" id="{A278CC04-94F2-D1A2-3C78-514431900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CA8AB3EF-F15B-4805-9A76-FBC6DC470905}" type="slidenum">
              <a:rPr lang="en-US" altLang="en-US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977F7C-E36C-DF9A-C9BA-BB371C9B3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3E3CE6D0-5993-6824-3EED-8EA85B4DD1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AD7AD908-90A1-AC84-F318-2158F81D80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DF227EA-8B29-46B4-AC89-2B5568E6C5EB}" type="slidenum">
              <a:rPr lang="en-US" altLang="en-US"/>
              <a:pPr/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554AF-AF54-DFF3-9169-B240420DA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147" name="Notes Placeholder 2">
            <a:extLst>
              <a:ext uri="{FF2B5EF4-FFF2-40B4-BE49-F238E27FC236}">
                <a16:creationId xmlns:a16="http://schemas.microsoft.com/office/drawing/2014/main" id="{F1084AE6-1146-22DE-B579-D7C199225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6148" name="Slide Number Placeholder 3">
            <a:extLst>
              <a:ext uri="{FF2B5EF4-FFF2-40B4-BE49-F238E27FC236}">
                <a16:creationId xmlns:a16="http://schemas.microsoft.com/office/drawing/2014/main" id="{A019FC36-52C6-1371-3D9B-2A9E1E9B2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272CC16-80E1-4117-9789-83624799070E}" type="slidenum">
              <a:rPr lang="en-US" altLang="en-US"/>
              <a:pPr/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50885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554AF-AF54-DFF3-9169-B240420DA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147" name="Notes Placeholder 2">
            <a:extLst>
              <a:ext uri="{FF2B5EF4-FFF2-40B4-BE49-F238E27FC236}">
                <a16:creationId xmlns:a16="http://schemas.microsoft.com/office/drawing/2014/main" id="{F1084AE6-1146-22DE-B579-D7C199225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6148" name="Slide Number Placeholder 3">
            <a:extLst>
              <a:ext uri="{FF2B5EF4-FFF2-40B4-BE49-F238E27FC236}">
                <a16:creationId xmlns:a16="http://schemas.microsoft.com/office/drawing/2014/main" id="{A019FC36-52C6-1371-3D9B-2A9E1E9B2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272CC16-80E1-4117-9789-83624799070E}" type="slidenum">
              <a:rPr lang="en-US" altLang="en-US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58671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554AF-AF54-DFF3-9169-B240420DA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147" name="Notes Placeholder 2">
            <a:extLst>
              <a:ext uri="{FF2B5EF4-FFF2-40B4-BE49-F238E27FC236}">
                <a16:creationId xmlns:a16="http://schemas.microsoft.com/office/drawing/2014/main" id="{F1084AE6-1146-22DE-B579-D7C199225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6148" name="Slide Number Placeholder 3">
            <a:extLst>
              <a:ext uri="{FF2B5EF4-FFF2-40B4-BE49-F238E27FC236}">
                <a16:creationId xmlns:a16="http://schemas.microsoft.com/office/drawing/2014/main" id="{A019FC36-52C6-1371-3D9B-2A9E1E9B2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272CC16-80E1-4117-9789-83624799070E}" type="slidenum">
              <a:rPr lang="en-US" altLang="en-US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91940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50696-D138-AAA4-C6ED-B632BAA08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243" name="Notes Placeholder 2">
            <a:extLst>
              <a:ext uri="{FF2B5EF4-FFF2-40B4-BE49-F238E27FC236}">
                <a16:creationId xmlns:a16="http://schemas.microsoft.com/office/drawing/2014/main" id="{006E76B7-F790-DCCF-D694-0880C8060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0244" name="Slide Number Placeholder 3">
            <a:extLst>
              <a:ext uri="{FF2B5EF4-FFF2-40B4-BE49-F238E27FC236}">
                <a16:creationId xmlns:a16="http://schemas.microsoft.com/office/drawing/2014/main" id="{9AB4AA4B-6A13-A35C-9661-21D7FBFCE3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83E8785-0EEB-4FD5-B9E0-93B0E06E73C0}" type="slidenum">
              <a:rPr lang="en-US" altLang="en-US"/>
              <a:pPr/>
              <a:t>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50696-D138-AAA4-C6ED-B632BAA08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243" name="Notes Placeholder 2">
            <a:extLst>
              <a:ext uri="{FF2B5EF4-FFF2-40B4-BE49-F238E27FC236}">
                <a16:creationId xmlns:a16="http://schemas.microsoft.com/office/drawing/2014/main" id="{006E76B7-F790-DCCF-D694-0880C8060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0244" name="Slide Number Placeholder 3">
            <a:extLst>
              <a:ext uri="{FF2B5EF4-FFF2-40B4-BE49-F238E27FC236}">
                <a16:creationId xmlns:a16="http://schemas.microsoft.com/office/drawing/2014/main" id="{9AB4AA4B-6A13-A35C-9661-21D7FBFCE3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83E8785-0EEB-4FD5-B9E0-93B0E06E73C0}" type="slidenum">
              <a:rPr lang="en-US" altLang="en-US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521158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50696-D138-AAA4-C6ED-B632BAA08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243" name="Notes Placeholder 2">
            <a:extLst>
              <a:ext uri="{FF2B5EF4-FFF2-40B4-BE49-F238E27FC236}">
                <a16:creationId xmlns:a16="http://schemas.microsoft.com/office/drawing/2014/main" id="{006E76B7-F790-DCCF-D694-0880C8060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0244" name="Slide Number Placeholder 3">
            <a:extLst>
              <a:ext uri="{FF2B5EF4-FFF2-40B4-BE49-F238E27FC236}">
                <a16:creationId xmlns:a16="http://schemas.microsoft.com/office/drawing/2014/main" id="{9AB4AA4B-6A13-A35C-9661-21D7FBFCE3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83E8785-0EEB-4FD5-B9E0-93B0E06E73C0}" type="slidenum">
              <a:rPr lang="en-US" altLang="en-US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219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71BB9-0264-6653-89AA-753B9730F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339" name="Notes Placeholder 2">
            <a:extLst>
              <a:ext uri="{FF2B5EF4-FFF2-40B4-BE49-F238E27FC236}">
                <a16:creationId xmlns:a16="http://schemas.microsoft.com/office/drawing/2014/main" id="{43B63967-19F9-C46B-5990-2C7778D96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4340" name="Slide Number Placeholder 3">
            <a:extLst>
              <a:ext uri="{FF2B5EF4-FFF2-40B4-BE49-F238E27FC236}">
                <a16:creationId xmlns:a16="http://schemas.microsoft.com/office/drawing/2014/main" id="{7E5C8EA8-9AC3-6618-8D1A-AF3E31B7C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7C2C8F9-50D5-4C1D-83D3-7AF319D621FE}" type="slidenum">
              <a:rPr lang="en-US" altLang="en-US"/>
              <a:pPr/>
              <a:t>9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71BB9-0264-6653-89AA-753B9730F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339" name="Notes Placeholder 2">
            <a:extLst>
              <a:ext uri="{FF2B5EF4-FFF2-40B4-BE49-F238E27FC236}">
                <a16:creationId xmlns:a16="http://schemas.microsoft.com/office/drawing/2014/main" id="{43B63967-19F9-C46B-5990-2C7778D96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4340" name="Slide Number Placeholder 3">
            <a:extLst>
              <a:ext uri="{FF2B5EF4-FFF2-40B4-BE49-F238E27FC236}">
                <a16:creationId xmlns:a16="http://schemas.microsoft.com/office/drawing/2014/main" id="{7E5C8EA8-9AC3-6618-8D1A-AF3E31B7C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7C2C8F9-50D5-4C1D-83D3-7AF319D621FE}" type="slidenum">
              <a:rPr lang="en-US" altLang="en-US"/>
              <a:pPr/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65067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71BB9-0264-6653-89AA-753B9730F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339" name="Notes Placeholder 2">
            <a:extLst>
              <a:ext uri="{FF2B5EF4-FFF2-40B4-BE49-F238E27FC236}">
                <a16:creationId xmlns:a16="http://schemas.microsoft.com/office/drawing/2014/main" id="{43B63967-19F9-C46B-5990-2C7778D96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4340" name="Slide Number Placeholder 3">
            <a:extLst>
              <a:ext uri="{FF2B5EF4-FFF2-40B4-BE49-F238E27FC236}">
                <a16:creationId xmlns:a16="http://schemas.microsoft.com/office/drawing/2014/main" id="{7E5C8EA8-9AC3-6618-8D1A-AF3E31B7C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7C2C8F9-50D5-4C1D-83D3-7AF319D621FE}" type="slidenum">
              <a:rPr lang="en-US" altLang="en-US"/>
              <a:pPr/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61433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71BB9-0264-6653-89AA-753B9730F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339" name="Notes Placeholder 2">
            <a:extLst>
              <a:ext uri="{FF2B5EF4-FFF2-40B4-BE49-F238E27FC236}">
                <a16:creationId xmlns:a16="http://schemas.microsoft.com/office/drawing/2014/main" id="{43B63967-19F9-C46B-5990-2C7778D96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4340" name="Slide Number Placeholder 3">
            <a:extLst>
              <a:ext uri="{FF2B5EF4-FFF2-40B4-BE49-F238E27FC236}">
                <a16:creationId xmlns:a16="http://schemas.microsoft.com/office/drawing/2014/main" id="{7E5C8EA8-9AC3-6618-8D1A-AF3E31B7C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7C2C8F9-50D5-4C1D-83D3-7AF319D621FE}" type="slidenum">
              <a:rPr lang="en-US" altLang="en-US"/>
              <a:pPr/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14202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71BB9-0264-6653-89AA-753B9730F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339" name="Notes Placeholder 2">
            <a:extLst>
              <a:ext uri="{FF2B5EF4-FFF2-40B4-BE49-F238E27FC236}">
                <a16:creationId xmlns:a16="http://schemas.microsoft.com/office/drawing/2014/main" id="{43B63967-19F9-C46B-5990-2C7778D96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4340" name="Slide Number Placeholder 3">
            <a:extLst>
              <a:ext uri="{FF2B5EF4-FFF2-40B4-BE49-F238E27FC236}">
                <a16:creationId xmlns:a16="http://schemas.microsoft.com/office/drawing/2014/main" id="{7E5C8EA8-9AC3-6618-8D1A-AF3E31B7C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7C2C8F9-50D5-4C1D-83D3-7AF319D621FE}" type="slidenum">
              <a:rPr lang="en-US" altLang="en-US"/>
              <a:pPr/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7388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5243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38947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986723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25275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35258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a) </a:t>
            </a: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b) </a:t>
            </a: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c) "</a:t>
            </a:r>
            <a:r>
              <a:rPr lang="en-US" altLang="ja-JP" sz="1200" dirty="0" err="1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DelWaterGap.shp</a:t>
            </a: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d) "</a:t>
            </a:r>
            <a:r>
              <a:rPr lang="en-US" altLang="ja-JP" sz="1200" dirty="0" err="1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</a:t>
            </a: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e) ".</a:t>
            </a:r>
            <a:r>
              <a:rPr lang="en-US" altLang="ja-JP" sz="1200" dirty="0" err="1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shp</a:t>
            </a:r>
            <a:r>
              <a:rPr lang="en-US" altLang="ja-JP" sz="12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ja-JP" sz="12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ja-JP" sz="12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73FC1-CAA2-4B05-A6E3-5698006F1130}" type="slidenum">
              <a:rPr lang="en-US" altLang="en-US" smtClean="0"/>
              <a:pPr/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299943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85983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7058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331957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7EFCF5-CBD3-F1D6-A125-ABC56D0C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2531" name="Notes Placeholder 2">
            <a:extLst>
              <a:ext uri="{FF2B5EF4-FFF2-40B4-BE49-F238E27FC236}">
                <a16:creationId xmlns:a16="http://schemas.microsoft.com/office/drawing/2014/main" id="{C36E6A02-824E-B208-2476-8440865AE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indent="0">
              <a:buFontTx/>
              <a:buNone/>
              <a:defRPr/>
            </a:pPr>
            <a:r>
              <a:rPr lang="en-US" sz="1200" i="1" dirty="0">
                <a:latin typeface="Consolas" panose="020B0609020204030204" pitchFamily="49" charset="0"/>
                <a:cs typeface="Courier New" panose="02070309020205020404" pitchFamily="49" charset="0"/>
              </a:rPr>
              <a:t># Splitting extensions</a:t>
            </a:r>
          </a:p>
          <a:p>
            <a:pPr marL="0" indent="0">
              <a:buFontTx/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myShapefile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= '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parks.shp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endParaRPr lang="en-US" sz="1200" i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FontTx/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fp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os.path.splitext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myShapefile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Tx/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fp</a:t>
            </a:r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FontTx/>
              <a:buNone/>
              <a:defRPr/>
            </a:pPr>
            <a:r>
              <a:rPr lang="en-US" sz="12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('parks', '.</a:t>
            </a:r>
            <a:r>
              <a:rPr lang="en-US" sz="12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shp</a:t>
            </a:r>
            <a:r>
              <a:rPr lang="en-US" sz="12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')</a:t>
            </a:r>
          </a:p>
          <a:p>
            <a:pPr marL="0" indent="0">
              <a:buFontTx/>
              <a:buNone/>
              <a:defRPr/>
            </a:pP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&gt;&gt;&gt;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fp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[0]</a:t>
            </a:r>
          </a:p>
          <a:p>
            <a:pPr marL="0" indent="0">
              <a:buFontTx/>
              <a:buNone/>
              <a:defRPr/>
            </a:pPr>
            <a:r>
              <a:rPr lang="en-US" sz="12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'parks'</a:t>
            </a:r>
          </a:p>
          <a:p>
            <a:pPr marL="0" indent="0">
              <a:buFontTx/>
              <a:buNone/>
              <a:defRPr/>
            </a:pP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os.path.splitext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myShapefile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)[0]</a:t>
            </a:r>
          </a:p>
          <a:p>
            <a:pPr marL="0" indent="0">
              <a:buFontTx/>
              <a:buNone/>
              <a:defRPr/>
            </a:pPr>
            <a:r>
              <a:rPr lang="en-US" sz="12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'parks'</a:t>
            </a:r>
          </a:p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2532" name="Slide Number Placeholder 3">
            <a:extLst>
              <a:ext uri="{FF2B5EF4-FFF2-40B4-BE49-F238E27FC236}">
                <a16:creationId xmlns:a16="http://schemas.microsoft.com/office/drawing/2014/main" id="{B21992EB-9A80-CA4F-3838-675E0908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2F624D4-C52C-449B-AAE3-91E5AB87BF1C}" type="slidenum">
              <a:rPr lang="en-US" altLang="en-US"/>
              <a:pPr/>
              <a:t>29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222818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2354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28486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65976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736A9-BEF6-55B1-C381-61DEB6C9E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0483" name="Notes Placeholder 2">
            <a:extLst>
              <a:ext uri="{FF2B5EF4-FFF2-40B4-BE49-F238E27FC236}">
                <a16:creationId xmlns:a16="http://schemas.microsoft.com/office/drawing/2014/main" id="{90921AFE-A09B-7F18-9061-9339A0549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arcpy, 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12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arcpy.env.workspace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"C:/gispy/data/ch02/"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endParaRPr lang="en-US" sz="12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theFile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os.path.join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arcpy.env.workspace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theFile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eaLnBrk="1" hangingPunct="1">
              <a:buFontTx/>
              <a:buNone/>
              <a:defRPr/>
            </a:pP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response = 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os.path.getsize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 </a:t>
            </a:r>
          </a:p>
          <a:p>
            <a:pPr eaLnBrk="1" hangingPunct="1">
              <a:buFontTx/>
              <a:buNone/>
              <a:defRPr/>
            </a:pPr>
            <a:r>
              <a:rPr lang="en-US" sz="12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print(response)</a:t>
            </a:r>
          </a:p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0484" name="Slide Number Placeholder 3">
            <a:extLst>
              <a:ext uri="{FF2B5EF4-FFF2-40B4-BE49-F238E27FC236}">
                <a16:creationId xmlns:a16="http://schemas.microsoft.com/office/drawing/2014/main" id="{878B2C44-447B-B162-70ED-9C2456B54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26F1132-D779-4A44-A5EC-89CCD9F1ECD5}" type="slidenum">
              <a:rPr lang="en-US" altLang="en-US"/>
              <a:pPr/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8955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1031">
            <a:extLst>
              <a:ext uri="{FF2B5EF4-FFF2-40B4-BE49-F238E27FC236}">
                <a16:creationId xmlns:a16="http://schemas.microsoft.com/office/drawing/2014/main" id="{1A9858C5-AFFC-23D0-6A85-9A865A533B2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5FD67195-BBD8-4518-AC9C-6083C960A85C}" type="slidenum">
              <a:rPr lang="en-US" altLang="en-US"/>
              <a:pPr>
                <a:spcBef>
                  <a:spcPct val="0"/>
                </a:spcBef>
              </a:pPr>
              <a:t>37</a:t>
            </a:fld>
            <a:endParaRPr lang="en-US" altLang="en-US"/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A655A8B2-9819-577C-A414-9220926C9AB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>
            <a:extLst>
              <a:ext uri="{FF2B5EF4-FFF2-40B4-BE49-F238E27FC236}">
                <a16:creationId xmlns:a16="http://schemas.microsoft.com/office/drawing/2014/main" id="{DEA4E529-BD67-882D-F07F-38256AAAA5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defRPr/>
            </a:pPr>
            <a:r>
              <a:rPr lang="en-US" dirty="0">
                <a:ea typeface="ＭＳ Ｐゴシック" charset="0"/>
              </a:rPr>
              <a:t>import </a:t>
            </a:r>
            <a:r>
              <a:rPr lang="en-US" dirty="0" err="1">
                <a:ea typeface="ＭＳ Ｐゴシック" charset="0"/>
              </a:rPr>
              <a:t>os</a:t>
            </a:r>
            <a:r>
              <a:rPr lang="en-US" dirty="0">
                <a:ea typeface="ＭＳ Ｐゴシック" charset="0"/>
              </a:rPr>
              <a:t>, sys</a:t>
            </a:r>
          </a:p>
          <a:p>
            <a:pPr eaLnBrk="1" hangingPunct="1">
              <a:defRPr/>
            </a:pPr>
            <a:r>
              <a:rPr lang="en-US" dirty="0">
                <a:ea typeface="ＭＳ Ｐゴシック" charset="0"/>
              </a:rPr>
              <a:t>p = </a:t>
            </a:r>
            <a:r>
              <a:rPr lang="en-US" dirty="0" err="1">
                <a:ea typeface="ＭＳ Ｐゴシック" charset="0"/>
              </a:rPr>
              <a:t>sys.argv</a:t>
            </a:r>
            <a:r>
              <a:rPr lang="en-US" dirty="0">
                <a:ea typeface="ＭＳ Ｐゴシック" charset="0"/>
              </a:rPr>
              <a:t>[0]</a:t>
            </a:r>
          </a:p>
          <a:p>
            <a:pPr eaLnBrk="1" hangingPunct="1">
              <a:defRPr/>
            </a:pPr>
            <a:r>
              <a:rPr lang="en-US" dirty="0">
                <a:ea typeface="ＭＳ Ｐゴシック" charset="0"/>
              </a:rPr>
              <a:t>d = </a:t>
            </a:r>
            <a:r>
              <a:rPr lang="en-US" dirty="0" err="1">
                <a:ea typeface="ＭＳ Ｐゴシック" charset="0"/>
              </a:rPr>
              <a:t>os.path.dirname</a:t>
            </a:r>
            <a:r>
              <a:rPr lang="en-US" dirty="0">
                <a:ea typeface="ＭＳ Ｐゴシック" charset="0"/>
              </a:rPr>
              <a:t>(p)</a:t>
            </a:r>
          </a:p>
          <a:p>
            <a:pPr eaLnBrk="1" hangingPunct="1">
              <a:defRPr/>
            </a:pPr>
            <a:r>
              <a:rPr lang="en-US" dirty="0">
                <a:ea typeface="ＭＳ Ｐゴシック" charset="0"/>
              </a:rPr>
              <a:t>print(</a:t>
            </a:r>
            <a:r>
              <a:rPr lang="en-US" dirty="0" err="1">
                <a:ea typeface="ＭＳ Ｐゴシック" charset="0"/>
              </a:rPr>
              <a:t>os.listdir</a:t>
            </a:r>
            <a:r>
              <a:rPr lang="en-US" dirty="0">
                <a:ea typeface="ＭＳ Ｐゴシック" charset="0"/>
              </a:rPr>
              <a:t>(d))</a:t>
            </a:r>
          </a:p>
          <a:p>
            <a:pPr eaLnBrk="1" hangingPunct="1">
              <a:defRPr/>
            </a:pPr>
            <a:endParaRPr lang="en-US" dirty="0">
              <a:ea typeface="ＭＳ Ｐゴシック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6612A8-0C1B-EEFB-F0A6-BFEC29EA24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6627" name="Notes Placeholder 2">
            <a:extLst>
              <a:ext uri="{FF2B5EF4-FFF2-40B4-BE49-F238E27FC236}">
                <a16:creationId xmlns:a16="http://schemas.microsoft.com/office/drawing/2014/main" id="{A191960C-880E-9269-ECD2-837C32CEF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6628" name="Slide Number Placeholder 3">
            <a:extLst>
              <a:ext uri="{FF2B5EF4-FFF2-40B4-BE49-F238E27FC236}">
                <a16:creationId xmlns:a16="http://schemas.microsoft.com/office/drawing/2014/main" id="{EC4C4EFD-266D-12F3-A12C-7B632CA87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40C8958-AFC2-4378-9F67-499D781E47B9}" type="slidenum">
              <a:rPr lang="en-US" altLang="en-US"/>
              <a:pPr/>
              <a:t>38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AFAB7-78FB-4E77-FFE4-DAB08090B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2291" name="Notes Placeholder 2">
            <a:extLst>
              <a:ext uri="{FF2B5EF4-FFF2-40B4-BE49-F238E27FC236}">
                <a16:creationId xmlns:a16="http://schemas.microsoft.com/office/drawing/2014/main" id="{3E57FC40-4E12-AC14-649D-62665A69A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2292" name="Slide Number Placeholder 3">
            <a:extLst>
              <a:ext uri="{FF2B5EF4-FFF2-40B4-BE49-F238E27FC236}">
                <a16:creationId xmlns:a16="http://schemas.microsoft.com/office/drawing/2014/main" id="{74A69C53-99C6-13FD-9766-34C0C9BCD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5D3763D-B457-460D-8042-D88FFFF571CB}" type="slidenum">
              <a:rPr lang="en-US" altLang="en-US"/>
              <a:pPr/>
              <a:t>39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A8CF7-F0C3-F594-E47D-EC3D9098E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387" name="Notes Placeholder 2">
            <a:extLst>
              <a:ext uri="{FF2B5EF4-FFF2-40B4-BE49-F238E27FC236}">
                <a16:creationId xmlns:a16="http://schemas.microsoft.com/office/drawing/2014/main" id="{13DE4AA9-0224-DF20-1FE8-050670BD3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674F60C4-E2A7-2412-0A9C-5842A8EC3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043FB67-DDAA-4A23-B802-09A13325598A}" type="slidenum">
              <a:rPr lang="en-US" altLang="en-US"/>
              <a:pPr/>
              <a:t>40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6DFBA1-FC82-D893-5796-43DBA3313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435" name="Notes Placeholder 2">
            <a:extLst>
              <a:ext uri="{FF2B5EF4-FFF2-40B4-BE49-F238E27FC236}">
                <a16:creationId xmlns:a16="http://schemas.microsoft.com/office/drawing/2014/main" id="{D9666B0D-3E3F-A822-256E-F0C11B1D5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2B397A7C-A2C5-7428-836D-77E7F4BFD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BAA3AA7-C789-43AC-ADBE-5729EB6EF86D}" type="slidenum">
              <a:rPr lang="en-US" altLang="en-US"/>
              <a:pPr/>
              <a:t>41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b="1">
                <a:solidFill>
                  <a:srgbClr val="2E75B6"/>
                </a:solidFill>
                <a:effectLst/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C5CC231-2E38-9569-92A0-A788353140B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D18416D-9352-3CA7-F645-2904F2D3BA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0CA88C8-EF9F-009C-E775-D722538E6F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8B1292-FA2F-4276-85B2-255033C6A77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33181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190500"/>
            <a:ext cx="8001000" cy="457200"/>
          </a:xfrm>
        </p:spPr>
        <p:txBody>
          <a:bodyPr/>
          <a:lstStyle>
            <a:lvl1pPr>
              <a:defRPr b="0">
                <a:solidFill>
                  <a:srgbClr val="2E75B6"/>
                </a:solidFill>
                <a:effectLst/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F093544-24FF-9143-EA66-933110EF32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A33F957-BAF6-C100-80A7-AB1D3D1FC93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29B4496-80A1-7A2D-DA92-D90238EA1F5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A38DE12-5407-4DFA-A32B-505D4D3836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958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7E11F95-4799-BFC6-1660-997BCA1432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256DDA4-431B-DF16-45F2-7B318DD5CD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5DDE62E-97F4-64E7-D957-8095F7A522F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76E7F2-ED23-4006-8DC4-73747CFDCA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215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2E75B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" y="914400"/>
            <a:ext cx="426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0" y="914400"/>
            <a:ext cx="426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89C10C-8BA9-3206-1BC5-DA52EE2C5D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AA83B4-AE26-1927-61C7-77D6239031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7C91C-3E55-E9A7-5FB1-C5854ADEC5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12E04E-7539-4EE2-A58C-F06793C1043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7585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 b="0">
                <a:solidFill>
                  <a:srgbClr val="2E75B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C4EE8B6-8E31-DCA0-5395-645A46C8A9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E64952E-AFF6-B00D-B1AE-C2F7A21296E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CE07D637-CBAF-3E4C-A46B-93C2BFAF5B8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43EA7F-0F90-4819-B800-B71FFE031F4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4993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2E75B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B0510CEF-6D3C-D35E-167C-F335934623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4BD17F4-D8E0-0F2C-D3FB-2FFC929D5E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0FA04B2-EFB8-F0D5-2AE7-3F1B5408DA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2BF1AD5-4053-441D-AF73-019474BDF23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4211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A8A2455-388E-8C8B-E8C2-20C3BD5DFC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561CB5A-BB14-D531-567A-75378EDDE08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841D74E5-1656-1DC9-799D-3C3E5528E9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4E4D7B-DCFF-43D6-878B-1BA7047D9B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615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B662D2-9EE1-27A9-2A38-B3F364487FA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04117B-D010-36D1-A165-C933AD9C0E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37C667-13CB-EF07-108F-CD00EBD2EF9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02C038B-E198-4BAA-9DBA-8F6331049A7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2954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70587A-5F53-47E9-F662-0F93EEA342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6ACB03-A0DD-1F68-BD7F-72F3CE5A313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DE176E-9F0F-A787-5C44-26184B8F35F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EF9BC59-CB8A-4C90-A8FA-48ED185CF91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2123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812DC68-456B-AADC-1DC3-DBFFFB0F50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A5FF424-2E47-301C-8EBB-2BA9937DEA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1CE7332-5401-FD14-EE83-84A5331EF6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41DC64-C583-4EC3-8450-1C2A599C7D8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5135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67500" y="152400"/>
            <a:ext cx="2171700" cy="6172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" y="152400"/>
            <a:ext cx="6362700" cy="6172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C08363F-EFB1-A842-A947-4110B1ED07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576794F-840F-FD3A-866F-E47E92623A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FD92C49-906D-F803-9A02-3E5554B9353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34934E7-6847-44DE-898C-A52EE868A7C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656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F8B6658-73B1-E1D7-C344-FBCB865611A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52400" y="152400"/>
            <a:ext cx="8001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6F92169-D01F-6B7F-1F98-AD2582BBCD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2400" y="914400"/>
            <a:ext cx="8686800" cy="541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78810DFC-A1A8-03DB-2003-0FA6AC4E4B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52400" y="6400800"/>
            <a:ext cx="24384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rgbClr val="008000"/>
                </a:solidFill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C92EF6F5-370B-9CED-DA96-E1D1E51CF98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667000" y="6400800"/>
            <a:ext cx="3810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solidFill>
                  <a:srgbClr val="008000"/>
                </a:solidFill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2C02A4B-4E58-8453-841E-77916E7BEFB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400800"/>
            <a:ext cx="2286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rgbClr val="008000"/>
                </a:solidFill>
              </a:defRPr>
            </a:lvl1pPr>
          </a:lstStyle>
          <a:p>
            <a:fld id="{03585D6A-584A-46D8-874B-8658E9ECB7BF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2E75B6"/>
          </a:solidFill>
          <a:latin typeface="+mn-lt"/>
          <a:ea typeface="MS PGothic" panose="020B0600070205080204" pitchFamily="34" charset="-128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2E75B6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  <a:ea typeface="MS PGothic" panose="020B0600070205080204" pitchFamily="34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2E75B6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  <a:ea typeface="MS PGothic" panose="020B0600070205080204" pitchFamily="34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2E75B6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  <a:ea typeface="MS PGothic" panose="020B0600070205080204" pitchFamily="34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2E75B6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  <a:ea typeface="MS PGothic" panose="020B0600070205080204" pitchFamily="34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669900"/>
          </a:solidFill>
          <a:effectLst>
            <a:outerShdw blurRad="38100" dist="38100" dir="2700000" algn="tl">
              <a:srgbClr val="000000"/>
            </a:outerShdw>
          </a:effectLst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669900"/>
          </a:solidFill>
          <a:effectLst>
            <a:outerShdw blurRad="38100" dist="38100" dir="2700000" algn="tl">
              <a:srgbClr val="000000"/>
            </a:outerShdw>
          </a:effectLst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669900"/>
          </a:solidFill>
          <a:effectLst>
            <a:outerShdw blurRad="38100" dist="38100" dir="2700000" algn="tl">
              <a:srgbClr val="000000"/>
            </a:outerShdw>
          </a:effectLst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669900"/>
          </a:solidFill>
          <a:effectLst>
            <a:outerShdw blurRad="38100" dist="38100" dir="2700000" algn="tl">
              <a:srgbClr val="000000"/>
            </a:outerShdw>
          </a:effectLst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defRPr sz="2800">
          <a:solidFill>
            <a:schemeClr val="tx1"/>
          </a:solidFill>
          <a:latin typeface="+mn-lt"/>
          <a:ea typeface="MS PGothic" panose="020B0600070205080204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MS PGothic" panose="020B0600070205080204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MS PGothic" panose="020B0600070205080204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MS PGothic" panose="020B0600070205080204" pitchFamily="34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xplainxkcd.com/wiki/index.php/1666:_Brain_Upload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os.path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6BC26F2-4AB3-710B-03EA-A748A963E49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52400" y="228600"/>
            <a:ext cx="2971800" cy="3276600"/>
          </a:xfrm>
        </p:spPr>
        <p:txBody>
          <a:bodyPr/>
          <a:lstStyle/>
          <a:p>
            <a:pPr eaLnBrk="1" hangingPunct="1"/>
            <a:r>
              <a:rPr lang="en-US" altLang="en-US" sz="5400" b="0" dirty="0"/>
              <a:t>Getting user input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BF68C-1CD4-AD60-A341-2E518CA1707B}"/>
              </a:ext>
            </a:extLst>
          </p:cNvPr>
          <p:cNvSpPr txBox="1"/>
          <p:nvPr/>
        </p:nvSpPr>
        <p:spPr>
          <a:xfrm>
            <a:off x="5867400" y="6149975"/>
            <a:ext cx="3170238" cy="7080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en-US" sz="4000" dirty="0">
                <a:solidFill>
                  <a:srgbClr val="2E75B6"/>
                </a:solidFill>
                <a:latin typeface="+mn-lt"/>
              </a:rPr>
              <a:t>Dr. </a:t>
            </a:r>
            <a:r>
              <a:rPr lang="en-US" altLang="en-US" sz="4000" dirty="0" err="1">
                <a:solidFill>
                  <a:srgbClr val="2E75B6"/>
                </a:solidFill>
                <a:latin typeface="+mn-lt"/>
              </a:rPr>
              <a:t>Tateosian</a:t>
            </a:r>
            <a:endParaRPr lang="en-US" sz="4000" dirty="0">
              <a:solidFill>
                <a:srgbClr val="2E75B6"/>
              </a:solidFill>
              <a:latin typeface="+mn-lt"/>
            </a:endParaRPr>
          </a:p>
        </p:txBody>
      </p:sp>
      <p:pic>
        <p:nvPicPr>
          <p:cNvPr id="3076" name="Picture 5" descr="Image result for xkcd user input">
            <a:extLst>
              <a:ext uri="{FF2B5EF4-FFF2-40B4-BE49-F238E27FC236}">
                <a16:creationId xmlns:a16="http://schemas.microsoft.com/office/drawing/2014/main" id="{CA1D36E8-0841-F3C9-4314-6B3B0CFC3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685800"/>
            <a:ext cx="5578475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Rectangle 2">
            <a:extLst>
              <a:ext uri="{FF2B5EF4-FFF2-40B4-BE49-F238E27FC236}">
                <a16:creationId xmlns:a16="http://schemas.microsoft.com/office/drawing/2014/main" id="{F545A4E8-7B40-ACB5-516B-EE7276FAB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00271"/>
            <a:ext cx="45720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Hard-coding vs. soft-coding with sys.argv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Single quotes 'gotcha'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en-US" altLang="en-US" sz="1800" dirty="0"/>
              <a:t>Get the script's path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en-US" altLang="en-US" sz="1800" dirty="0"/>
              <a:t>Handling file paths</a:t>
            </a:r>
          </a:p>
        </p:txBody>
      </p:sp>
      <p:sp>
        <p:nvSpPr>
          <p:cNvPr id="3078" name="Rectangle 3">
            <a:extLst>
              <a:ext uri="{FF2B5EF4-FFF2-40B4-BE49-F238E27FC236}">
                <a16:creationId xmlns:a16="http://schemas.microsoft.com/office/drawing/2014/main" id="{A9E67A6A-26E6-0E27-023B-FC4950EE6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108325"/>
            <a:ext cx="45720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>
                <a:hlinkClick r:id="rId4"/>
              </a:rPr>
              <a:t>https://www.explainxkcd.com/wiki/index.php/1666:_Brain_Upload</a:t>
            </a:r>
            <a:endParaRPr lang="en-US" alt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16">
            <a:extLst>
              <a:ext uri="{FF2B5EF4-FFF2-40B4-BE49-F238E27FC236}">
                <a16:creationId xmlns:a16="http://schemas.microsoft.com/office/drawing/2014/main" id="{B2173769-AAEC-C9A4-BD1B-E816ABB902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190500"/>
            <a:ext cx="8458200" cy="457200"/>
          </a:xfrm>
        </p:spPr>
        <p:txBody>
          <a:bodyPr/>
          <a:lstStyle/>
          <a:p>
            <a:pPr eaLnBrk="1" hangingPunct="1"/>
            <a:r>
              <a:rPr lang="en-US" altLang="en-US"/>
              <a:t>Hard-coding versus soft-coding</a:t>
            </a:r>
          </a:p>
        </p:txBody>
      </p:sp>
      <p:sp>
        <p:nvSpPr>
          <p:cNvPr id="7172" name="TextBox 4">
            <a:extLst>
              <a:ext uri="{FF2B5EF4-FFF2-40B4-BE49-F238E27FC236}">
                <a16:creationId xmlns:a16="http://schemas.microsoft.com/office/drawing/2014/main" id="{5A80C43F-9227-D358-F5B7-119A7E247C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100" y="1227138"/>
            <a:ext cx="7886700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dirty="0"/>
              <a:t>Hard-coding</a:t>
            </a:r>
            <a:r>
              <a:rPr lang="en-US" altLang="en-US" sz="1800" dirty="0"/>
              <a:t>: assigning a value in a program so that it can’t be changed without altering the code.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/>
              <a:t>Hard-coding example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fireDamage</a:t>
            </a:r>
            <a:r>
              <a:rPr lang="en-US" alt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alt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fire.shp</a:t>
            </a:r>
            <a:r>
              <a:rPr lang="en-US" alt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/>
              <a:t>                            </a:t>
            </a:r>
            <a:r>
              <a:rPr lang="en-US" altLang="en-US" sz="1800" dirty="0">
                <a:solidFill>
                  <a:schemeClr val="accent2"/>
                </a:solidFill>
              </a:rPr>
              <a:t>string literal</a:t>
            </a:r>
          </a:p>
        </p:txBody>
      </p:sp>
      <p:sp>
        <p:nvSpPr>
          <p:cNvPr id="7173" name="TextBox 18">
            <a:extLst>
              <a:ext uri="{FF2B5EF4-FFF2-40B4-BE49-F238E27FC236}">
                <a16:creationId xmlns:a16="http://schemas.microsoft.com/office/drawing/2014/main" id="{6B3933F8-698A-0523-C6A7-C54E178E11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100" y="3981450"/>
            <a:ext cx="8039100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/>
              <a:t>Soft-coding</a:t>
            </a:r>
            <a:r>
              <a:rPr lang="en-US" altLang="en-US" sz="1800"/>
              <a:t>: obtaining a value from an external source, such as user input.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/>
              <a:t>Soft-coding example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fireDamage = sys.argv[1]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18" name="Line 7">
            <a:extLst>
              <a:ext uri="{FF2B5EF4-FFF2-40B4-BE49-F238E27FC236}">
                <a16:creationId xmlns:a16="http://schemas.microsoft.com/office/drawing/2014/main" id="{CADF8BAD-8B21-36D4-D265-79B6C66090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19400" y="2895600"/>
            <a:ext cx="0" cy="28575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defRPr/>
            </a:pPr>
            <a:endParaRPr lang="en-US" dirty="0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Rectangle 16">
            <a:extLst>
              <a:ext uri="{FF2B5EF4-FFF2-40B4-BE49-F238E27FC236}">
                <a16:creationId xmlns:a16="http://schemas.microsoft.com/office/drawing/2014/main" id="{7BB1B6EB-870C-8DB7-0A0C-5E44D3D848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190500"/>
            <a:ext cx="8458200" cy="457200"/>
          </a:xfrm>
        </p:spPr>
        <p:txBody>
          <a:bodyPr/>
          <a:lstStyle/>
          <a:p>
            <a:pPr eaLnBrk="1" hangingPunct="1"/>
            <a:r>
              <a:rPr lang="en-US" altLang="en-US" dirty="0"/>
              <a:t>Hard-coded script uses literals</a:t>
            </a:r>
          </a:p>
        </p:txBody>
      </p:sp>
      <p:sp>
        <p:nvSpPr>
          <p:cNvPr id="9" name="Rectangle 18">
            <a:extLst>
              <a:ext uri="{FF2B5EF4-FFF2-40B4-BE49-F238E27FC236}">
                <a16:creationId xmlns:a16="http://schemas.microsoft.com/office/drawing/2014/main" id="{E6990EDC-8B19-96B1-FEB5-E886BEB56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273" y="1435418"/>
            <a:ext cx="5027338" cy="45243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buffer_clip.py (hard-coded version)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Purpose: Buffer a zone and use it to clip another file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Usage: No arguments needed.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import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arcpy.env.overwriteOutput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True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arcpy.env.workspace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'C:/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gispy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/data/ch06'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'C:/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gispy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/scratch/'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input values.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park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park.shp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'5 km'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output names.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park[:-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DamageBuffer.shp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arcpy.Buffer_analysis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arcpy.Clip_analysis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(park,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pSp>
        <p:nvGrpSpPr>
          <p:cNvPr id="5129" name="Group 3">
            <a:extLst>
              <a:ext uri="{FF2B5EF4-FFF2-40B4-BE49-F238E27FC236}">
                <a16:creationId xmlns:a16="http://schemas.microsoft.com/office/drawing/2014/main" id="{A6B28400-5E5D-69F0-E2C7-491A10C5FCE9}"/>
              </a:ext>
            </a:extLst>
          </p:cNvPr>
          <p:cNvGrpSpPr>
            <a:grpSpLocks/>
          </p:cNvGrpSpPr>
          <p:nvPr/>
        </p:nvGrpSpPr>
        <p:grpSpPr bwMode="auto">
          <a:xfrm>
            <a:off x="2438400" y="796925"/>
            <a:ext cx="3124200" cy="730250"/>
            <a:chOff x="2286000" y="685800"/>
            <a:chExt cx="3124200" cy="730250"/>
          </a:xfrm>
        </p:grpSpPr>
        <p:pic>
          <p:nvPicPr>
            <p:cNvPr id="23561" name="Picture 9">
              <a:extLst>
                <a:ext uri="{FF2B5EF4-FFF2-40B4-BE49-F238E27FC236}">
                  <a16:creationId xmlns:a16="http://schemas.microsoft.com/office/drawing/2014/main" id="{C17C4114-4BB9-5FD5-B820-10AC5B1624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2286000" y="685800"/>
              <a:ext cx="838200" cy="7080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2" name="Picture 10">
              <a:extLst>
                <a:ext uri="{FF2B5EF4-FFF2-40B4-BE49-F238E27FC236}">
                  <a16:creationId xmlns:a16="http://schemas.microsoft.com/office/drawing/2014/main" id="{8C9AE517-3DAA-3C67-1F13-D34E5E2350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4572000" y="685800"/>
              <a:ext cx="838200" cy="725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3" name="Picture 11">
              <a:extLst>
                <a:ext uri="{FF2B5EF4-FFF2-40B4-BE49-F238E27FC236}">
                  <a16:creationId xmlns:a16="http://schemas.microsoft.com/office/drawing/2014/main" id="{C8D6571D-1FD9-41E0-D738-E578639F2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3429000" y="685800"/>
              <a:ext cx="839788" cy="730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sp>
          <p:nvSpPr>
            <p:cNvPr id="23565" name="Line 17">
              <a:extLst>
                <a:ext uri="{FF2B5EF4-FFF2-40B4-BE49-F238E27FC236}">
                  <a16:creationId xmlns:a16="http://schemas.microsoft.com/office/drawing/2014/main" id="{CF099322-6983-0179-8FA7-8367C25D20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00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3566" name="Line 18">
              <a:extLst>
                <a:ext uri="{FF2B5EF4-FFF2-40B4-BE49-F238E27FC236}">
                  <a16:creationId xmlns:a16="http://schemas.microsoft.com/office/drawing/2014/main" id="{B4C1BC1E-7E49-040F-7E2E-00EC80A38E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208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Rectangle 16">
            <a:extLst>
              <a:ext uri="{FF2B5EF4-FFF2-40B4-BE49-F238E27FC236}">
                <a16:creationId xmlns:a16="http://schemas.microsoft.com/office/drawing/2014/main" id="{7BB1B6EB-870C-8DB7-0A0C-5E44D3D848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190500"/>
            <a:ext cx="8458200" cy="457200"/>
          </a:xfrm>
        </p:spPr>
        <p:txBody>
          <a:bodyPr/>
          <a:lstStyle/>
          <a:p>
            <a:pPr eaLnBrk="1" hangingPunct="1"/>
            <a:r>
              <a:rPr lang="en-US" altLang="en-US" dirty="0"/>
              <a:t>Remove hard-coding script</a:t>
            </a:r>
          </a:p>
        </p:txBody>
      </p:sp>
      <p:sp>
        <p:nvSpPr>
          <p:cNvPr id="9" name="Rectangle 18">
            <a:extLst>
              <a:ext uri="{FF2B5EF4-FFF2-40B4-BE49-F238E27FC236}">
                <a16:creationId xmlns:a16="http://schemas.microsoft.com/office/drawing/2014/main" id="{E6990EDC-8B19-96B1-FEB5-E886BEB56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273" y="1435418"/>
            <a:ext cx="5027338" cy="45243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buffer_clip.py (hard-coded version)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Purpose: Buffer a zone and use it to clip another file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Usage: No arguments needed.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import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arcpy.env.overwriteOutput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True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arcpy.env.workspace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dblStrike" cap="none" normalizeH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'C:/</a:t>
            </a:r>
            <a:r>
              <a:rPr kumimoji="0" lang="en-US" altLang="en-US" sz="1200" b="1" i="0" u="none" strike="dblStrike" cap="none" normalizeH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gispy</a:t>
            </a:r>
            <a:r>
              <a:rPr kumimoji="0" lang="en-US" altLang="en-US" sz="1200" b="1" i="0" u="none" strike="dblStrike" cap="none" normalizeH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/data/ch06'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'C:/</a:t>
            </a:r>
            <a:r>
              <a:rPr lang="en-US" altLang="en-US" sz="1200" b="1" strike="dblStrike" dirty="0" err="1">
                <a:solidFill>
                  <a:srgbClr val="008080"/>
                </a:solidFill>
                <a:latin typeface="Consolas" panose="020B0609020204030204" pitchFamily="49" charset="0"/>
              </a:rPr>
              <a:t>gispy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/scratch/'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input values.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</a:t>
            </a:r>
            <a:r>
              <a:rPr lang="en-US" altLang="en-US" sz="1200" b="1" strike="dblStrike" dirty="0" err="1">
                <a:solidFill>
                  <a:srgbClr val="008080"/>
                </a:solidFill>
                <a:latin typeface="Consolas" panose="020B0609020204030204" pitchFamily="49" charset="0"/>
              </a:rPr>
              <a:t>fire.shp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park = 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</a:t>
            </a:r>
            <a:r>
              <a:rPr lang="en-US" altLang="en-US" sz="1200" b="1" strike="dblStrike" dirty="0" err="1">
                <a:solidFill>
                  <a:srgbClr val="008080"/>
                </a:solidFill>
                <a:latin typeface="Consolas" panose="020B0609020204030204" pitchFamily="49" charset="0"/>
              </a:rPr>
              <a:t>park.shp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lang="en-US" altLang="en-US" sz="1200" b="1" strike="dblStrike" dirty="0">
                <a:solidFill>
                  <a:srgbClr val="008080"/>
                </a:solidFill>
                <a:latin typeface="Consolas" panose="020B0609020204030204" pitchFamily="49" charset="0"/>
              </a:rPr>
              <a:t>'5 km'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output names.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park[:-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DamageBuffer.shp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arcpy.Buffer_analysis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arcpy.Clip_analysis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(park,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pSp>
        <p:nvGrpSpPr>
          <p:cNvPr id="5129" name="Group 3">
            <a:extLst>
              <a:ext uri="{FF2B5EF4-FFF2-40B4-BE49-F238E27FC236}">
                <a16:creationId xmlns:a16="http://schemas.microsoft.com/office/drawing/2014/main" id="{A6B28400-5E5D-69F0-E2C7-491A10C5FCE9}"/>
              </a:ext>
            </a:extLst>
          </p:cNvPr>
          <p:cNvGrpSpPr>
            <a:grpSpLocks/>
          </p:cNvGrpSpPr>
          <p:nvPr/>
        </p:nvGrpSpPr>
        <p:grpSpPr bwMode="auto">
          <a:xfrm>
            <a:off x="2438400" y="796925"/>
            <a:ext cx="3124200" cy="730250"/>
            <a:chOff x="2286000" y="685800"/>
            <a:chExt cx="3124200" cy="730250"/>
          </a:xfrm>
        </p:grpSpPr>
        <p:pic>
          <p:nvPicPr>
            <p:cNvPr id="23561" name="Picture 9">
              <a:extLst>
                <a:ext uri="{FF2B5EF4-FFF2-40B4-BE49-F238E27FC236}">
                  <a16:creationId xmlns:a16="http://schemas.microsoft.com/office/drawing/2014/main" id="{C17C4114-4BB9-5FD5-B820-10AC5B1624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2286000" y="685800"/>
              <a:ext cx="838200" cy="7080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2" name="Picture 10">
              <a:extLst>
                <a:ext uri="{FF2B5EF4-FFF2-40B4-BE49-F238E27FC236}">
                  <a16:creationId xmlns:a16="http://schemas.microsoft.com/office/drawing/2014/main" id="{8C9AE517-3DAA-3C67-1F13-D34E5E2350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4572000" y="685800"/>
              <a:ext cx="838200" cy="725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3" name="Picture 11">
              <a:extLst>
                <a:ext uri="{FF2B5EF4-FFF2-40B4-BE49-F238E27FC236}">
                  <a16:creationId xmlns:a16="http://schemas.microsoft.com/office/drawing/2014/main" id="{C8D6571D-1FD9-41E0-D738-E578639F2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3429000" y="685800"/>
              <a:ext cx="839788" cy="730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sp>
          <p:nvSpPr>
            <p:cNvPr id="23565" name="Line 17">
              <a:extLst>
                <a:ext uri="{FF2B5EF4-FFF2-40B4-BE49-F238E27FC236}">
                  <a16:creationId xmlns:a16="http://schemas.microsoft.com/office/drawing/2014/main" id="{CF099322-6983-0179-8FA7-8367C25D20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00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3566" name="Line 18">
              <a:extLst>
                <a:ext uri="{FF2B5EF4-FFF2-40B4-BE49-F238E27FC236}">
                  <a16:creationId xmlns:a16="http://schemas.microsoft.com/office/drawing/2014/main" id="{B4C1BC1E-7E49-040F-7E2E-00EC80A38E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62101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Rectangle 16">
            <a:extLst>
              <a:ext uri="{FF2B5EF4-FFF2-40B4-BE49-F238E27FC236}">
                <a16:creationId xmlns:a16="http://schemas.microsoft.com/office/drawing/2014/main" id="{7BB1B6EB-870C-8DB7-0A0C-5E44D3D848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190500"/>
            <a:ext cx="8458200" cy="457200"/>
          </a:xfrm>
        </p:spPr>
        <p:txBody>
          <a:bodyPr/>
          <a:lstStyle/>
          <a:p>
            <a:pPr eaLnBrk="1" hangingPunct="1"/>
            <a:r>
              <a:rPr lang="en-US" altLang="en-US" dirty="0"/>
              <a:t>Soft-coded script uses arguments</a:t>
            </a:r>
          </a:p>
        </p:txBody>
      </p:sp>
      <p:sp>
        <p:nvSpPr>
          <p:cNvPr id="9" name="Rectangle 18">
            <a:extLst>
              <a:ext uri="{FF2B5EF4-FFF2-40B4-BE49-F238E27FC236}">
                <a16:creationId xmlns:a16="http://schemas.microsoft.com/office/drawing/2014/main" id="{E6990EDC-8B19-96B1-FEB5-E886BEB56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273" y="1410510"/>
            <a:ext cx="6811480" cy="489364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buffer_clip.py (soft-coded version)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Purpose: Buffer a zone and use it to clip another file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Usage: </a:t>
            </a:r>
            <a:r>
              <a:rPr kumimoji="0" lang="en-US" altLang="en-US" sz="1200" b="0" i="1" u="none" strike="noStrike" cap="none" normalizeH="0" baseline="0" dirty="0" err="1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input_workspace</a:t>
            </a: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output_directory</a:t>
            </a: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kumimoji="0" lang="en-US" altLang="en-US" sz="1200" b="0" i="1" u="none" strike="noStrike" cap="none" normalizeH="0" baseline="0" dirty="0" err="1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fire_zone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</a:t>
            </a:r>
            <a:r>
              <a:rPr kumimoji="0" lang="en-US" altLang="en-US" sz="1200" b="0" i="1" u="none" strike="noStrike" cap="none" normalizeH="0" baseline="0" dirty="0" err="1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buffer_distance</a:t>
            </a: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park_name</a:t>
            </a: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endParaRPr kumimoji="0" lang="en-US" altLang="en-US" sz="1200" b="0" i="1" u="none" strike="noStrike" cap="none" normalizeH="0" baseline="0" dirty="0">
              <a:ln>
                <a:noFill/>
              </a:ln>
              <a:solidFill>
                <a:srgbClr val="808080"/>
              </a:solidFill>
              <a:effectLst/>
              <a:latin typeface="Consolas" panose="020B0609020204030204" pitchFamily="49" charset="0"/>
              <a:ea typeface="MS PGothic" panose="020B0600070205080204" pitchFamily="34" charset="-128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# Example input: C:/parkData/  C:/gispy/scratch </a:t>
            </a:r>
            <a:r>
              <a:rPr lang="en-US" altLang="en-US" sz="12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fire.shp</a:t>
            </a:r>
            <a:r>
              <a:rPr lang="en-US" alt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 "5 km" </a:t>
            </a:r>
            <a:r>
              <a:rPr lang="en-US" altLang="en-US" sz="12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yosemite.shp</a:t>
            </a:r>
            <a:endParaRPr lang="en-US" altLang="en-US" sz="1200" i="1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lvl="0"/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import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import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sys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arcpy.env.overwriteOutput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True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arcpy.env.workspace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1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</a:p>
          <a:p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2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input values.</a:t>
            </a:r>
            <a:b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3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</a:t>
            </a:r>
          </a:p>
          <a:p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park = sys.argv[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5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output names.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  <a:ea typeface="MS PGothic" panose="020B0600070205080204" pitchFamily="34" charset="-128"/>
            </a:endParaRPr>
          </a:p>
          <a:p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+ park[:-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4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+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DamageBuffer.shp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'</a:t>
            </a: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arcpy.Buffer_analysis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</a:p>
          <a:p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arcpy.Clip_analysis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(park,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fireBuffer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print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(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f'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{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clipOutput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}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created.'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)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pSp>
        <p:nvGrpSpPr>
          <p:cNvPr id="5129" name="Group 3">
            <a:extLst>
              <a:ext uri="{FF2B5EF4-FFF2-40B4-BE49-F238E27FC236}">
                <a16:creationId xmlns:a16="http://schemas.microsoft.com/office/drawing/2014/main" id="{A6B28400-5E5D-69F0-E2C7-491A10C5FCE9}"/>
              </a:ext>
            </a:extLst>
          </p:cNvPr>
          <p:cNvGrpSpPr>
            <a:grpSpLocks/>
          </p:cNvGrpSpPr>
          <p:nvPr/>
        </p:nvGrpSpPr>
        <p:grpSpPr bwMode="auto">
          <a:xfrm>
            <a:off x="2438400" y="796925"/>
            <a:ext cx="3124200" cy="730250"/>
            <a:chOff x="2286000" y="685800"/>
            <a:chExt cx="3124200" cy="730250"/>
          </a:xfrm>
        </p:grpSpPr>
        <p:pic>
          <p:nvPicPr>
            <p:cNvPr id="23561" name="Picture 9">
              <a:extLst>
                <a:ext uri="{FF2B5EF4-FFF2-40B4-BE49-F238E27FC236}">
                  <a16:creationId xmlns:a16="http://schemas.microsoft.com/office/drawing/2014/main" id="{C17C4114-4BB9-5FD5-B820-10AC5B1624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2286000" y="685800"/>
              <a:ext cx="838200" cy="7080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2" name="Picture 10">
              <a:extLst>
                <a:ext uri="{FF2B5EF4-FFF2-40B4-BE49-F238E27FC236}">
                  <a16:creationId xmlns:a16="http://schemas.microsoft.com/office/drawing/2014/main" id="{8C9AE517-3DAA-3C67-1F13-D34E5E2350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4572000" y="685800"/>
              <a:ext cx="838200" cy="725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pic>
          <p:nvPicPr>
            <p:cNvPr id="23563" name="Picture 11">
              <a:extLst>
                <a:ext uri="{FF2B5EF4-FFF2-40B4-BE49-F238E27FC236}">
                  <a16:creationId xmlns:a16="http://schemas.microsoft.com/office/drawing/2014/main" id="{C8D6571D-1FD9-41E0-D738-E578639F2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3429000" y="685800"/>
              <a:ext cx="839788" cy="730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pic>
        <p:sp>
          <p:nvSpPr>
            <p:cNvPr id="23565" name="Line 17">
              <a:extLst>
                <a:ext uri="{FF2B5EF4-FFF2-40B4-BE49-F238E27FC236}">
                  <a16:creationId xmlns:a16="http://schemas.microsoft.com/office/drawing/2014/main" id="{CF099322-6983-0179-8FA7-8367C25D20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00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3566" name="Line 18">
              <a:extLst>
                <a:ext uri="{FF2B5EF4-FFF2-40B4-BE49-F238E27FC236}">
                  <a16:creationId xmlns:a16="http://schemas.microsoft.com/office/drawing/2014/main" id="{B4C1BC1E-7E49-040F-7E2E-00EC80A38E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066800"/>
              <a:ext cx="15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1" hangingPunct="1"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42C05CA-463E-0BBE-3E3C-2E249525E2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4200" y="2432438"/>
            <a:ext cx="7227697" cy="199312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A3CDC0-F9BA-4A05-F0A5-A54D9993CD19}"/>
              </a:ext>
            </a:extLst>
          </p:cNvPr>
          <p:cNvCxnSpPr/>
          <p:nvPr/>
        </p:nvCxnSpPr>
        <p:spPr bwMode="auto">
          <a:xfrm>
            <a:off x="4001294" y="3276600"/>
            <a:ext cx="570706" cy="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26021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6F7AB17C-C86F-F499-028F-54543D60C0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sys.argv automatically populated</a:t>
            </a:r>
          </a:p>
        </p:txBody>
      </p:sp>
      <p:grpSp>
        <p:nvGrpSpPr>
          <p:cNvPr id="9221" name="Group 2">
            <a:extLst>
              <a:ext uri="{FF2B5EF4-FFF2-40B4-BE49-F238E27FC236}">
                <a16:creationId xmlns:a16="http://schemas.microsoft.com/office/drawing/2014/main" id="{4B8CB9F0-1D17-DD94-BC1F-E18B299BF1C3}"/>
              </a:ext>
            </a:extLst>
          </p:cNvPr>
          <p:cNvGrpSpPr>
            <a:grpSpLocks/>
          </p:cNvGrpSpPr>
          <p:nvPr/>
        </p:nvGrpSpPr>
        <p:grpSpPr bwMode="auto">
          <a:xfrm>
            <a:off x="3657600" y="1043057"/>
            <a:ext cx="4224338" cy="1655762"/>
            <a:chOff x="4898626" y="945084"/>
            <a:chExt cx="4224338" cy="1655762"/>
          </a:xfrm>
        </p:grpSpPr>
        <p:sp>
          <p:nvSpPr>
            <p:cNvPr id="9225" name="Rectangle 2">
              <a:extLst>
                <a:ext uri="{FF2B5EF4-FFF2-40B4-BE49-F238E27FC236}">
                  <a16:creationId xmlns:a16="http://schemas.microsoft.com/office/drawing/2014/main" id="{39562EA5-3A9B-3424-A6B7-5DFF98750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8626" y="945084"/>
              <a:ext cx="4107363" cy="15046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rgbClr val="FF0066"/>
                  </a:solidFill>
                  <a:round/>
                  <a:headEnd/>
                  <a:tailEnd type="triangl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B6F4EE7-A028-D0CB-756A-6DF353F59EB2}"/>
                </a:ext>
              </a:extLst>
            </p:cNvPr>
            <p:cNvGrpSpPr/>
            <p:nvPr/>
          </p:nvGrpSpPr>
          <p:grpSpPr bwMode="auto">
            <a:xfrm>
              <a:off x="4898626" y="1044794"/>
              <a:ext cx="4224338" cy="1556052"/>
              <a:chOff x="4509684" y="1788883"/>
              <a:chExt cx="4224233" cy="1555771"/>
            </a:xfrm>
            <a:noFill/>
          </p:grpSpPr>
          <p:sp>
            <p:nvSpPr>
              <p:cNvPr id="21509" name="Text Box 4">
                <a:extLst>
                  <a:ext uri="{FF2B5EF4-FFF2-40B4-BE49-F238E27FC236}">
                    <a16:creationId xmlns:a16="http://schemas.microsoft.com/office/drawing/2014/main" id="{9007694A-DF86-0028-DEA6-B1D862A4FF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64057" y="1788883"/>
                <a:ext cx="3217467" cy="1200112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>
                  <a:defRPr/>
                </a:pPr>
                <a:r>
                  <a:rPr lang="en-US" dirty="0">
                    <a:solidFill>
                      <a:srgbClr val="3333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import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sys</a:t>
                </a:r>
              </a:p>
              <a:p>
                <a:pPr eaLnBrk="1" hangingPunct="1">
                  <a:defRPr/>
                </a:pPr>
                <a:r>
                  <a:rPr lang="en-US" i="1" dirty="0">
                    <a:solidFill>
                      <a:srgbClr val="6699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# Get the user input.</a:t>
                </a:r>
              </a:p>
              <a:p>
                <a:pPr eaLnBrk="1" hangingPunct="1">
                  <a:defRPr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filename = sys.argv[1]</a:t>
                </a:r>
              </a:p>
              <a:p>
                <a:pPr eaLnBrk="1" hangingPunct="1">
                  <a:defRPr/>
                </a:pP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" name="Text Box 4">
                <a:extLst>
                  <a:ext uri="{FF2B5EF4-FFF2-40B4-BE49-F238E27FC236}">
                    <a16:creationId xmlns:a16="http://schemas.microsoft.com/office/drawing/2014/main" id="{5496AD19-7E12-53F0-17A1-13C5797716E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09684" y="2852211"/>
                <a:ext cx="4224233" cy="492443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eaLnBrk="1" hangingPunct="1">
                  <a:defRPr/>
                </a:pPr>
                <a:r>
                  <a:rPr lang="en-US" sz="1800" dirty="0"/>
                  <a:t>sys is a module.     </a:t>
                </a:r>
                <a:r>
                  <a:rPr lang="en-US" sz="1800" dirty="0" err="1"/>
                  <a:t>argv</a:t>
                </a:r>
                <a:r>
                  <a:rPr lang="en-US" sz="1800" dirty="0"/>
                  <a:t> is a Python list.</a:t>
                </a:r>
              </a:p>
              <a:p>
                <a:pPr eaLnBrk="1" hangingPunct="1">
                  <a:defRPr/>
                </a:pPr>
                <a:endParaRPr lang="en-US" sz="800" dirty="0"/>
              </a:p>
            </p:txBody>
          </p:sp>
          <p:cxnSp>
            <p:nvCxnSpPr>
              <p:cNvPr id="21511" name="Straight Arrow Connector 2">
                <a:extLst>
                  <a:ext uri="{FF2B5EF4-FFF2-40B4-BE49-F238E27FC236}">
                    <a16:creationId xmlns:a16="http://schemas.microsoft.com/office/drawing/2014/main" id="{7ED25075-317E-AD75-C7E1-EAF6C58F8F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188168" y="2654617"/>
                <a:ext cx="231775" cy="266700"/>
              </a:xfrm>
              <a:prstGeom prst="straightConnector1">
                <a:avLst/>
              </a:prstGeom>
              <a:grp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1512" name="Straight Arrow Connector 8">
                <a:extLst>
                  <a:ext uri="{FF2B5EF4-FFF2-40B4-BE49-F238E27FC236}">
                    <a16:creationId xmlns:a16="http://schemas.microsoft.com/office/drawing/2014/main" id="{06869DF2-5B71-2B40-9CD9-16726F28FA1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917695" y="2665898"/>
                <a:ext cx="269875" cy="285750"/>
              </a:xfrm>
              <a:prstGeom prst="straightConnector1">
                <a:avLst/>
              </a:prstGeom>
              <a:grp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</p:grpSp>
      <p:sp>
        <p:nvSpPr>
          <p:cNvPr id="10" name="Rectangle 3">
            <a:extLst>
              <a:ext uri="{FF2B5EF4-FFF2-40B4-BE49-F238E27FC236}">
                <a16:creationId xmlns:a16="http://schemas.microsoft.com/office/drawing/2014/main" id="{07DB67E7-5BC4-8AE6-C951-CDD9CAD19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914400"/>
            <a:ext cx="8915400" cy="2219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MS PGothic" panose="020B0600070205080204" pitchFamily="34" charset="-128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eaLnBrk="1" hangingPunct="1">
              <a:buNone/>
              <a:defRPr/>
            </a:pPr>
            <a:r>
              <a:rPr lang="en-US" sz="2000" kern="0" dirty="0">
                <a:latin typeface="Consolas" panose="020B0609020204030204" pitchFamily="49" charset="0"/>
                <a:ea typeface="ＭＳ Ｐゴシック" charset="0"/>
              </a:rPr>
              <a:t>sys </a:t>
            </a:r>
          </a:p>
          <a:p>
            <a:pPr marL="457200" lvl="1" indent="0" eaLnBrk="1" hangingPunct="1">
              <a:defRPr/>
            </a:pPr>
            <a:r>
              <a:rPr lang="en-US" sz="1600" kern="0" dirty="0">
                <a:ea typeface="ＭＳ Ｐゴシック" charset="0"/>
              </a:rPr>
              <a:t>built-in module</a:t>
            </a:r>
          </a:p>
          <a:p>
            <a:pPr marL="0" indent="0" eaLnBrk="1" hangingPunct="1">
              <a:buNone/>
              <a:defRPr/>
            </a:pPr>
            <a:r>
              <a:rPr lang="en-US" sz="2000" kern="0" dirty="0">
                <a:latin typeface="Consolas" panose="020B0609020204030204" pitchFamily="49" charset="0"/>
                <a:ea typeface="ＭＳ Ｐゴシック" charset="0"/>
                <a:cs typeface="Courier New" panose="02070309020205020404" pitchFamily="49" charset="0"/>
              </a:rPr>
              <a:t>sys.argv</a:t>
            </a:r>
            <a:r>
              <a:rPr lang="en-US" sz="2000" kern="0" dirty="0">
                <a:latin typeface="Consolas" panose="020B0609020204030204" pitchFamily="49" charset="0"/>
                <a:ea typeface="ＭＳ Ｐゴシック" charset="0"/>
              </a:rPr>
              <a:t> </a:t>
            </a:r>
          </a:p>
          <a:p>
            <a:pPr marL="457200" lvl="1" indent="0" eaLnBrk="1" hangingPunct="1">
              <a:defRPr/>
            </a:pPr>
            <a:r>
              <a:rPr lang="en-US" sz="1600" kern="0" dirty="0">
                <a:ea typeface="ＭＳ Ｐゴシック" charset="0"/>
              </a:rPr>
              <a:t>A Python list</a:t>
            </a:r>
          </a:p>
          <a:p>
            <a:pPr marL="0" indent="0" eaLnBrk="1" hangingPunct="1">
              <a:buNone/>
              <a:defRPr/>
            </a:pP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argv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dirty="0"/>
              <a:t>        A </a:t>
            </a:r>
            <a:r>
              <a:rPr lang="en-US" sz="1600" dirty="0">
                <a:latin typeface="Consolas" panose="020B0609020204030204" pitchFamily="49" charset="0"/>
              </a:rPr>
              <a:t>sys</a:t>
            </a:r>
            <a:r>
              <a:rPr lang="en-US" sz="1600" dirty="0"/>
              <a:t> module property</a:t>
            </a:r>
            <a:endParaRPr lang="en-US" sz="16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endParaRPr lang="en-US" sz="18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endParaRPr lang="en-US" sz="18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kern="0" dirty="0">
                <a:ea typeface="ＭＳ Ｐゴシック" charset="0"/>
              </a:rPr>
              <a:t>Populate the list using the Arguments text box of the Run Script Window (in </a:t>
            </a:r>
            <a:r>
              <a:rPr lang="en-US" sz="1600" kern="0" dirty="0" err="1">
                <a:ea typeface="ＭＳ Ｐゴシック" charset="0"/>
              </a:rPr>
              <a:t>PythonWin</a:t>
            </a:r>
            <a:r>
              <a:rPr lang="en-US" sz="1600" kern="0" dirty="0">
                <a:ea typeface="ＭＳ Ｐゴシック" charset="0"/>
              </a:rPr>
              <a:t>).</a:t>
            </a:r>
          </a:p>
          <a:p>
            <a:pPr marL="0" indent="0" eaLnBrk="1" hangingPunct="1">
              <a:buNone/>
              <a:defRPr/>
            </a:pPr>
            <a:endParaRPr lang="en-US" sz="16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kern="0" dirty="0">
                <a:ea typeface="ＭＳ Ｐゴシック" charset="0"/>
              </a:rPr>
              <a:t>Access the list using indexing.</a:t>
            </a:r>
          </a:p>
          <a:p>
            <a:pPr marL="0" indent="0" eaLnBrk="1" hangingPunct="1">
              <a:buNone/>
              <a:defRPr/>
            </a:pPr>
            <a:endParaRPr lang="en-US" sz="1800" kern="0" dirty="0">
              <a:ea typeface="ＭＳ Ｐゴシック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E9836-57AB-D837-28A7-6A6DC95D729F}"/>
              </a:ext>
            </a:extLst>
          </p:cNvPr>
          <p:cNvGrpSpPr/>
          <p:nvPr/>
        </p:nvGrpSpPr>
        <p:grpSpPr>
          <a:xfrm>
            <a:off x="3429000" y="3961416"/>
            <a:ext cx="3320984" cy="2588980"/>
            <a:chOff x="4001244" y="2666440"/>
            <a:chExt cx="3320984" cy="25889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8A516C-B8CB-AC44-D225-B754797DEC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862" b="1862"/>
            <a:stretch/>
          </p:blipFill>
          <p:spPr>
            <a:xfrm>
              <a:off x="4001244" y="2666440"/>
              <a:ext cx="3320984" cy="258898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F1EAE9-6B7D-C9EC-DA4A-4ACD9FA4CA8D}"/>
                </a:ext>
              </a:extLst>
            </p:cNvPr>
            <p:cNvGrpSpPr/>
            <p:nvPr/>
          </p:nvGrpSpPr>
          <p:grpSpPr>
            <a:xfrm>
              <a:off x="4575243" y="3028416"/>
              <a:ext cx="2504213" cy="2227004"/>
              <a:chOff x="4575243" y="3028416"/>
              <a:chExt cx="2504213" cy="2227004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D6F3B36-455C-BB97-A8EB-EE3E2A7EA233}"/>
                  </a:ext>
                </a:extLst>
              </p:cNvPr>
              <p:cNvSpPr/>
              <p:nvPr/>
            </p:nvSpPr>
            <p:spPr bwMode="auto">
              <a:xfrm>
                <a:off x="4575243" y="4054216"/>
                <a:ext cx="1493671" cy="286057"/>
              </a:xfrm>
              <a:prstGeom prst="ellipse">
                <a:avLst/>
              </a:prstGeom>
              <a:noFill/>
              <a:ln w="38100" cap="flat" cmpd="sng" algn="ctr">
                <a:solidFill>
                  <a:srgbClr val="FF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cxnSp>
            <p:nvCxnSpPr>
              <p:cNvPr id="8" name="Straight Arrow Connector 2">
                <a:extLst>
                  <a:ext uri="{FF2B5EF4-FFF2-40B4-BE49-F238E27FC236}">
                    <a16:creationId xmlns:a16="http://schemas.microsoft.com/office/drawing/2014/main" id="{CA7717D4-D25A-D0B4-A823-8414D551613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486400" y="4340273"/>
                <a:ext cx="926158" cy="710882"/>
              </a:xfrm>
              <a:prstGeom prst="straightConnector1">
                <a:avLst/>
              </a:prstGeom>
              <a:no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A283B18-F586-E093-BE93-E6E7A541206E}"/>
                  </a:ext>
                </a:extLst>
              </p:cNvPr>
              <p:cNvCxnSpPr/>
              <p:nvPr/>
            </p:nvCxnSpPr>
            <p:spPr bwMode="auto">
              <a:xfrm>
                <a:off x="6019800" y="5255420"/>
                <a:ext cx="1059656" cy="0"/>
              </a:xfrm>
              <a:prstGeom prst="line">
                <a:avLst/>
              </a:prstGeom>
              <a:solidFill>
                <a:schemeClr val="bg1"/>
              </a:solidFill>
              <a:ln w="38100" cap="flat" cmpd="sng" algn="ctr">
                <a:solidFill>
                  <a:srgbClr val="FF0066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8AC5DEEF-511F-BC1E-F801-6896C8E3AC95}"/>
                  </a:ext>
                </a:extLst>
              </p:cNvPr>
              <p:cNvSpPr/>
              <p:nvPr/>
            </p:nvSpPr>
            <p:spPr bwMode="auto">
              <a:xfrm>
                <a:off x="5220510" y="3028416"/>
                <a:ext cx="228600" cy="246936"/>
              </a:xfrm>
              <a:prstGeom prst="roundRect">
                <a:avLst/>
              </a:prstGeom>
              <a:noFill/>
              <a:ln w="38100" cap="flat" cmpd="sng" algn="ctr">
                <a:solidFill>
                  <a:srgbClr val="FF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3">
            <a:extLst>
              <a:ext uri="{FF2B5EF4-FFF2-40B4-BE49-F238E27FC236}">
                <a16:creationId xmlns:a16="http://schemas.microsoft.com/office/drawing/2014/main" id="{07DB67E7-5BC4-8AE6-C951-CDD9CAD19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914400"/>
            <a:ext cx="8686800" cy="2219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MS PGothic" panose="020B0600070205080204" pitchFamily="34" charset="-128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eaLnBrk="1" hangingPunct="1">
              <a:buNone/>
              <a:defRPr/>
            </a:pPr>
            <a:r>
              <a:rPr lang="en-US" sz="2000" kern="0" dirty="0">
                <a:latin typeface="Consolas" panose="020B0609020204030204" pitchFamily="49" charset="0"/>
                <a:ea typeface="ＭＳ Ｐゴシック" charset="0"/>
              </a:rPr>
              <a:t>sys </a:t>
            </a:r>
          </a:p>
          <a:p>
            <a:pPr marL="457200" lvl="1" indent="0" eaLnBrk="1" hangingPunct="1">
              <a:defRPr/>
            </a:pPr>
            <a:r>
              <a:rPr lang="en-US" sz="1600" kern="0" dirty="0">
                <a:ea typeface="ＭＳ Ｐゴシック" charset="0"/>
              </a:rPr>
              <a:t>built-in module</a:t>
            </a:r>
          </a:p>
          <a:p>
            <a:pPr marL="0" indent="0" eaLnBrk="1" hangingPunct="1">
              <a:buNone/>
              <a:defRPr/>
            </a:pPr>
            <a:r>
              <a:rPr lang="en-US" sz="2000" kern="0" dirty="0">
                <a:latin typeface="Consolas" panose="020B0609020204030204" pitchFamily="49" charset="0"/>
                <a:ea typeface="ＭＳ Ｐゴシック" charset="0"/>
                <a:cs typeface="Courier New" panose="02070309020205020404" pitchFamily="49" charset="0"/>
              </a:rPr>
              <a:t>sys.argv</a:t>
            </a:r>
            <a:r>
              <a:rPr lang="en-US" sz="2000" kern="0" dirty="0">
                <a:latin typeface="Consolas" panose="020B0609020204030204" pitchFamily="49" charset="0"/>
                <a:ea typeface="ＭＳ Ｐゴシック" charset="0"/>
              </a:rPr>
              <a:t> </a:t>
            </a:r>
          </a:p>
          <a:p>
            <a:pPr marL="457200" lvl="1" indent="0" eaLnBrk="1" hangingPunct="1">
              <a:defRPr/>
            </a:pPr>
            <a:r>
              <a:rPr lang="en-US" sz="1600" kern="0" dirty="0">
                <a:ea typeface="ＭＳ Ｐゴシック" charset="0"/>
              </a:rPr>
              <a:t>A Python list</a:t>
            </a:r>
          </a:p>
          <a:p>
            <a:pPr marL="0" indent="0" eaLnBrk="1" hangingPunct="1">
              <a:buNone/>
              <a:defRPr/>
            </a:pP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argv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dirty="0"/>
              <a:t>        A </a:t>
            </a:r>
            <a:r>
              <a:rPr lang="en-US" sz="1600" dirty="0">
                <a:latin typeface="Consolas" panose="020B0609020204030204" pitchFamily="49" charset="0"/>
              </a:rPr>
              <a:t>sys</a:t>
            </a:r>
            <a:r>
              <a:rPr lang="en-US" sz="1600" dirty="0"/>
              <a:t> module property</a:t>
            </a:r>
            <a:endParaRPr lang="en-US" sz="16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endParaRPr lang="en-US" sz="18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endParaRPr lang="en-US" sz="18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kern="0" dirty="0">
                <a:ea typeface="ＭＳ Ｐゴシック" charset="0"/>
              </a:rPr>
              <a:t>Populate the list using the Parameters text box of the Configuration settings (in PyCharm).</a:t>
            </a:r>
          </a:p>
          <a:p>
            <a:pPr marL="0" indent="0" eaLnBrk="1" hangingPunct="1">
              <a:buNone/>
              <a:defRPr/>
            </a:pPr>
            <a:endParaRPr lang="en-US" sz="1600" kern="0" dirty="0">
              <a:ea typeface="ＭＳ Ｐゴシック" charset="0"/>
            </a:endParaRPr>
          </a:p>
          <a:p>
            <a:pPr marL="0" indent="0" eaLnBrk="1" hangingPunct="1">
              <a:buNone/>
              <a:defRPr/>
            </a:pPr>
            <a:r>
              <a:rPr lang="en-US" sz="1600" kern="0" dirty="0">
                <a:ea typeface="ＭＳ Ｐゴシック" charset="0"/>
              </a:rPr>
              <a:t>Access the list using indexing.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6F7AB17C-C86F-F499-028F-54543D60C0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sys.argv automatically populated</a:t>
            </a:r>
          </a:p>
        </p:txBody>
      </p:sp>
      <p:grpSp>
        <p:nvGrpSpPr>
          <p:cNvPr id="9221" name="Group 2">
            <a:extLst>
              <a:ext uri="{FF2B5EF4-FFF2-40B4-BE49-F238E27FC236}">
                <a16:creationId xmlns:a16="http://schemas.microsoft.com/office/drawing/2014/main" id="{4B8CB9F0-1D17-DD94-BC1F-E18B299BF1C3}"/>
              </a:ext>
            </a:extLst>
          </p:cNvPr>
          <p:cNvGrpSpPr>
            <a:grpSpLocks/>
          </p:cNvGrpSpPr>
          <p:nvPr/>
        </p:nvGrpSpPr>
        <p:grpSpPr bwMode="auto">
          <a:xfrm>
            <a:off x="3657600" y="1043057"/>
            <a:ext cx="4224338" cy="1655762"/>
            <a:chOff x="4898626" y="945084"/>
            <a:chExt cx="4224338" cy="1655762"/>
          </a:xfrm>
        </p:grpSpPr>
        <p:sp>
          <p:nvSpPr>
            <p:cNvPr id="9225" name="Rectangle 2">
              <a:extLst>
                <a:ext uri="{FF2B5EF4-FFF2-40B4-BE49-F238E27FC236}">
                  <a16:creationId xmlns:a16="http://schemas.microsoft.com/office/drawing/2014/main" id="{39562EA5-3A9B-3424-A6B7-5DFF98750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8626" y="945084"/>
              <a:ext cx="4107363" cy="15046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rgbClr val="FF0066"/>
                  </a:solidFill>
                  <a:round/>
                  <a:headEnd/>
                  <a:tailEnd type="triangl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B6F4EE7-A028-D0CB-756A-6DF353F59EB2}"/>
                </a:ext>
              </a:extLst>
            </p:cNvPr>
            <p:cNvGrpSpPr/>
            <p:nvPr/>
          </p:nvGrpSpPr>
          <p:grpSpPr bwMode="auto">
            <a:xfrm>
              <a:off x="4898626" y="1044794"/>
              <a:ext cx="4224338" cy="1556052"/>
              <a:chOff x="4509684" y="1788883"/>
              <a:chExt cx="4224233" cy="1555771"/>
            </a:xfrm>
            <a:noFill/>
          </p:grpSpPr>
          <p:sp>
            <p:nvSpPr>
              <p:cNvPr id="21509" name="Text Box 4">
                <a:extLst>
                  <a:ext uri="{FF2B5EF4-FFF2-40B4-BE49-F238E27FC236}">
                    <a16:creationId xmlns:a16="http://schemas.microsoft.com/office/drawing/2014/main" id="{9007694A-DF86-0028-DEA6-B1D862A4FF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64057" y="1788883"/>
                <a:ext cx="3217467" cy="1200112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>
                  <a:defRPr/>
                </a:pPr>
                <a:r>
                  <a:rPr lang="en-US" dirty="0">
                    <a:solidFill>
                      <a:srgbClr val="3333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import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sys</a:t>
                </a:r>
              </a:p>
              <a:p>
                <a:pPr eaLnBrk="1" hangingPunct="1">
                  <a:defRPr/>
                </a:pPr>
                <a:r>
                  <a:rPr lang="en-US" i="1" dirty="0">
                    <a:solidFill>
                      <a:srgbClr val="6699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# Get the user input.</a:t>
                </a:r>
              </a:p>
              <a:p>
                <a:pPr eaLnBrk="1" hangingPunct="1">
                  <a:defRPr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filename = sys.argv[1]</a:t>
                </a:r>
              </a:p>
              <a:p>
                <a:pPr eaLnBrk="1" hangingPunct="1">
                  <a:defRPr/>
                </a:pP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" name="Text Box 4">
                <a:extLst>
                  <a:ext uri="{FF2B5EF4-FFF2-40B4-BE49-F238E27FC236}">
                    <a16:creationId xmlns:a16="http://schemas.microsoft.com/office/drawing/2014/main" id="{5496AD19-7E12-53F0-17A1-13C5797716E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09684" y="2852211"/>
                <a:ext cx="4224233" cy="492443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eaLnBrk="1" hangingPunct="1">
                  <a:defRPr/>
                </a:pPr>
                <a:r>
                  <a:rPr lang="en-US" sz="1800" dirty="0"/>
                  <a:t>sys is a module.     </a:t>
                </a:r>
                <a:r>
                  <a:rPr lang="en-US" sz="1800" dirty="0" err="1"/>
                  <a:t>argv</a:t>
                </a:r>
                <a:r>
                  <a:rPr lang="en-US" sz="1800" dirty="0"/>
                  <a:t> is a Python list.</a:t>
                </a:r>
              </a:p>
              <a:p>
                <a:pPr eaLnBrk="1" hangingPunct="1">
                  <a:defRPr/>
                </a:pPr>
                <a:endParaRPr lang="en-US" sz="800" dirty="0"/>
              </a:p>
            </p:txBody>
          </p:sp>
          <p:cxnSp>
            <p:nvCxnSpPr>
              <p:cNvPr id="21511" name="Straight Arrow Connector 2">
                <a:extLst>
                  <a:ext uri="{FF2B5EF4-FFF2-40B4-BE49-F238E27FC236}">
                    <a16:creationId xmlns:a16="http://schemas.microsoft.com/office/drawing/2014/main" id="{7ED25075-317E-AD75-C7E1-EAF6C58F8F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188168" y="2654617"/>
                <a:ext cx="231775" cy="266700"/>
              </a:xfrm>
              <a:prstGeom prst="straightConnector1">
                <a:avLst/>
              </a:prstGeom>
              <a:grp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1512" name="Straight Arrow Connector 8">
                <a:extLst>
                  <a:ext uri="{FF2B5EF4-FFF2-40B4-BE49-F238E27FC236}">
                    <a16:creationId xmlns:a16="http://schemas.microsoft.com/office/drawing/2014/main" id="{06869DF2-5B71-2B40-9CD9-16726F28FA1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917695" y="2665898"/>
                <a:ext cx="269875" cy="285750"/>
              </a:xfrm>
              <a:prstGeom prst="straightConnector1">
                <a:avLst/>
              </a:prstGeom>
              <a:grp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C1F52-F39E-83C1-7191-31FA4272478E}"/>
              </a:ext>
            </a:extLst>
          </p:cNvPr>
          <p:cNvGrpSpPr/>
          <p:nvPr/>
        </p:nvGrpSpPr>
        <p:grpSpPr>
          <a:xfrm>
            <a:off x="3534319" y="4066651"/>
            <a:ext cx="4067175" cy="1427163"/>
            <a:chOff x="2682809" y="5133974"/>
            <a:chExt cx="4067175" cy="14271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8A516C-B8CB-AC44-D225-B754797DEC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5465" b="1862"/>
            <a:stretch/>
          </p:blipFill>
          <p:spPr>
            <a:xfrm>
              <a:off x="3429000" y="5133974"/>
              <a:ext cx="3320984" cy="141642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814FFAE-AEBA-14EA-C0D7-EBBDAC560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2809" y="5133975"/>
              <a:ext cx="4067175" cy="885825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283B18-F586-E093-BE93-E6E7A541206E}"/>
                </a:ext>
              </a:extLst>
            </p:cNvPr>
            <p:cNvCxnSpPr/>
            <p:nvPr/>
          </p:nvCxnSpPr>
          <p:spPr bwMode="auto">
            <a:xfrm>
              <a:off x="5410200" y="6561137"/>
              <a:ext cx="1059656" cy="0"/>
            </a:xfrm>
            <a:prstGeom prst="line">
              <a:avLst/>
            </a:prstGeom>
            <a:solidFill>
              <a:schemeClr val="bg1"/>
            </a:solidFill>
            <a:ln w="3810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D6F3B36-455C-BB97-A8EB-EE3E2A7EA233}"/>
                </a:ext>
              </a:extLst>
            </p:cNvPr>
            <p:cNvSpPr/>
            <p:nvPr/>
          </p:nvSpPr>
          <p:spPr bwMode="auto">
            <a:xfrm>
              <a:off x="3962400" y="5731446"/>
              <a:ext cx="2332554" cy="286057"/>
            </a:xfrm>
            <a:prstGeom prst="ellipse">
              <a:avLst/>
            </a:prstGeom>
            <a:noFill/>
            <a:ln w="3810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8" name="Straight Arrow Connector 2">
              <a:extLst>
                <a:ext uri="{FF2B5EF4-FFF2-40B4-BE49-F238E27FC236}">
                  <a16:creationId xmlns:a16="http://schemas.microsoft.com/office/drawing/2014/main" id="{CA7717D4-D25A-D0B4-A823-8414D55161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873557" y="6017503"/>
              <a:ext cx="578459" cy="307097"/>
            </a:xfrm>
            <a:prstGeom prst="straightConnector1">
              <a:avLst/>
            </a:prstGeom>
            <a:noFill/>
            <a:ln w="38100">
              <a:solidFill>
                <a:srgbClr val="FF0066"/>
              </a:solidFill>
              <a:round/>
              <a:headEnd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199761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6F7AB17C-C86F-F499-028F-54543D60C0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Script name, first item</a:t>
            </a:r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9DEE63D7-78C1-99FE-5747-F4880FF298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345" y="5276671"/>
            <a:ext cx="81391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85750" indent="-28575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en-US" altLang="en-US" sz="1800" dirty="0"/>
              <a:t>The first item in </a:t>
            </a:r>
            <a:r>
              <a:rPr lang="en-US" alt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sys.argv </a:t>
            </a:r>
            <a:r>
              <a:rPr lang="en-US" altLang="en-US" sz="1800" dirty="0"/>
              <a:t>is the full path file name.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en-US" altLang="en-US" sz="1800" dirty="0"/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en-US" altLang="en-US" sz="1800" dirty="0"/>
              <a:t>What is the minimum possible value of </a:t>
            </a:r>
            <a:r>
              <a:rPr lang="en-US" alt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alt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(sys.argv)</a:t>
            </a:r>
            <a:r>
              <a:rPr lang="en-US" altLang="en-US" sz="1800" dirty="0"/>
              <a:t>for any script?</a:t>
            </a:r>
            <a:endParaRPr lang="en-US" altLang="ja-JP" sz="1800" dirty="0"/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1980E02F-32AE-EC24-8CD0-034F78191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3200858"/>
            <a:ext cx="90678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</a:p>
          <a:p>
            <a:pPr eaLnBrk="1" hangingPunct="1">
              <a:defRPr/>
            </a:pP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eaLnBrk="1" hangingPunct="1">
              <a:defRPr/>
            </a:pP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&gt;&gt;&gt; print(sys.argv)</a:t>
            </a:r>
          </a:p>
          <a:p>
            <a:pPr eaLnBrk="1" hangingPunct="1">
              <a:defRPr/>
            </a:pP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['C:/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gispy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sample_scripts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/ch07/compact.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py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 altLang="ja-JP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 altLang="ja-JP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C:/</a:t>
            </a:r>
            <a:r>
              <a:rPr lang="en-US" altLang="ja-JP" sz="1600" dirty="0" err="1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gispy</a:t>
            </a:r>
            <a:r>
              <a:rPr lang="en-US" altLang="ja-JP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/scratch/cities.mdb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 altLang="ja-JP" sz="16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pPr eaLnBrk="1" hangingPunct="1">
              <a:defRPr/>
            </a:pP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eaLnBrk="1" hangingPunct="1">
              <a:defRPr/>
            </a:pP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&gt;&gt;&gt;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(sys.argv)</a:t>
            </a:r>
          </a:p>
          <a:p>
            <a:pPr eaLnBrk="1" hangingPunct="1">
              <a:defRPr/>
            </a:pPr>
            <a:r>
              <a:rPr lang="en-US" sz="1800" dirty="0">
                <a:solidFill>
                  <a:srgbClr val="009999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2</a:t>
            </a:r>
          </a:p>
          <a:p>
            <a:pPr eaLnBrk="1" hangingPunct="1">
              <a:defRPr/>
            </a:pPr>
            <a:r>
              <a:rPr lang="en-US" sz="1400" dirty="0"/>
              <a:t>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957E17-7902-3C20-ED21-93D8740B4038}"/>
              </a:ext>
            </a:extLst>
          </p:cNvPr>
          <p:cNvGrpSpPr>
            <a:grpSpLocks/>
          </p:cNvGrpSpPr>
          <p:nvPr/>
        </p:nvGrpSpPr>
        <p:grpSpPr bwMode="auto">
          <a:xfrm>
            <a:off x="1905000" y="1024708"/>
            <a:ext cx="4108820" cy="1655673"/>
            <a:chOff x="4898626" y="945084"/>
            <a:chExt cx="4108820" cy="1655673"/>
          </a:xfrm>
        </p:grpSpPr>
        <p:sp>
          <p:nvSpPr>
            <p:cNvPr id="4" name="Rectangle 2">
              <a:extLst>
                <a:ext uri="{FF2B5EF4-FFF2-40B4-BE49-F238E27FC236}">
                  <a16:creationId xmlns:a16="http://schemas.microsoft.com/office/drawing/2014/main" id="{5ED94CAF-855F-04BA-E867-96B74662B8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8626" y="945084"/>
              <a:ext cx="4107363" cy="15046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rgbClr val="FF0066"/>
                  </a:solidFill>
                  <a:round/>
                  <a:headEnd/>
                  <a:tailEnd type="triangl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76BD1C1-5601-2716-47B9-EFEE8F008A4E}"/>
                </a:ext>
              </a:extLst>
            </p:cNvPr>
            <p:cNvGrpSpPr/>
            <p:nvPr/>
          </p:nvGrpSpPr>
          <p:grpSpPr bwMode="auto">
            <a:xfrm>
              <a:off x="4898629" y="1044794"/>
              <a:ext cx="4108817" cy="1555963"/>
              <a:chOff x="4509684" y="1788883"/>
              <a:chExt cx="4108710" cy="1555682"/>
            </a:xfrm>
            <a:noFill/>
          </p:grpSpPr>
          <p:sp>
            <p:nvSpPr>
              <p:cNvPr id="13" name="Text Box 4">
                <a:extLst>
                  <a:ext uri="{FF2B5EF4-FFF2-40B4-BE49-F238E27FC236}">
                    <a16:creationId xmlns:a16="http://schemas.microsoft.com/office/drawing/2014/main" id="{F531326B-2A3F-3237-F466-1D9D4B3DC84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64057" y="1788883"/>
                <a:ext cx="3217467" cy="1200112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>
                  <a:defRPr/>
                </a:pPr>
                <a:r>
                  <a:rPr lang="en-US" dirty="0">
                    <a:solidFill>
                      <a:srgbClr val="3333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import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sys</a:t>
                </a:r>
              </a:p>
              <a:p>
                <a:pPr eaLnBrk="1" hangingPunct="1">
                  <a:defRPr/>
                </a:pPr>
                <a:r>
                  <a:rPr lang="en-US" i="1" dirty="0">
                    <a:solidFill>
                      <a:srgbClr val="6699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# Get the user input.</a:t>
                </a:r>
              </a:p>
              <a:p>
                <a:pPr eaLnBrk="1" hangingPunct="1">
                  <a:defRPr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filename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sys.argv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[1]</a:t>
                </a:r>
              </a:p>
              <a:p>
                <a:pPr eaLnBrk="1" hangingPunct="1">
                  <a:defRPr/>
                </a:pP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Text Box 4">
                <a:extLst>
                  <a:ext uri="{FF2B5EF4-FFF2-40B4-BE49-F238E27FC236}">
                    <a16:creationId xmlns:a16="http://schemas.microsoft.com/office/drawing/2014/main" id="{B2992EA8-C9B4-E2DA-FC5C-84EDDD7B91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09684" y="2852211"/>
                <a:ext cx="4108710" cy="492354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eaLnBrk="1" hangingPunct="1">
                  <a:defRPr/>
                </a:pPr>
                <a:r>
                  <a:rPr lang="en-US" sz="1800" dirty="0"/>
                  <a:t>                             </a:t>
                </a:r>
                <a:r>
                  <a:rPr lang="en-US" sz="1800" dirty="0" err="1"/>
                  <a:t>argv</a:t>
                </a:r>
                <a:r>
                  <a:rPr lang="en-US" sz="1800" dirty="0"/>
                  <a:t> is a Python list.</a:t>
                </a:r>
              </a:p>
              <a:p>
                <a:pPr eaLnBrk="1" hangingPunct="1">
                  <a:defRPr/>
                </a:pPr>
                <a:endParaRPr lang="en-US" sz="800" dirty="0"/>
              </a:p>
            </p:txBody>
          </p:sp>
          <p:cxnSp>
            <p:nvCxnSpPr>
              <p:cNvPr id="16" name="Straight Arrow Connector 8">
                <a:extLst>
                  <a:ext uri="{FF2B5EF4-FFF2-40B4-BE49-F238E27FC236}">
                    <a16:creationId xmlns:a16="http://schemas.microsoft.com/office/drawing/2014/main" id="{53562BBF-C097-97F4-F76F-D3BA5A6E59E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917695" y="2665898"/>
                <a:ext cx="269875" cy="285750"/>
              </a:xfrm>
              <a:prstGeom prst="straightConnector1">
                <a:avLst/>
              </a:prstGeom>
              <a:grpFill/>
              <a:ln w="38100">
                <a:solidFill>
                  <a:srgbClr val="FF0066"/>
                </a:solidFill>
                <a:round/>
                <a:headEnd/>
                <a:tailEnd type="triangl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AF45141-A97C-89D1-8B43-CE6C66780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798325"/>
            <a:ext cx="406717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207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6B8BACDE-5F0D-E06A-E673-324B53861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Spacing in arguments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3C40FB23-83FF-AC96-8DCC-09C6F5B69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127CB2-C81C-0550-351C-C2121DFBA6EF}"/>
              </a:ext>
            </a:extLst>
          </p:cNvPr>
          <p:cNvSpPr txBox="1"/>
          <p:nvPr/>
        </p:nvSpPr>
        <p:spPr>
          <a:xfrm>
            <a:off x="124780" y="1063561"/>
            <a:ext cx="619981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800" kern="0" dirty="0">
              <a:ea typeface="ＭＳ Ｐゴシック" charset="0"/>
            </a:endParaRPr>
          </a:p>
          <a:p>
            <a:endParaRPr lang="en-US" sz="1800" kern="0" dirty="0">
              <a:ea typeface="ＭＳ Ｐゴシック" charset="0"/>
            </a:endParaRPr>
          </a:p>
          <a:p>
            <a:endParaRPr lang="en-US" sz="1800" kern="0" dirty="0">
              <a:ea typeface="ＭＳ Ｐゴシック" charset="0"/>
            </a:endParaRPr>
          </a:p>
          <a:p>
            <a:endParaRPr lang="en-US" sz="1800" kern="0" dirty="0">
              <a:ea typeface="ＭＳ Ｐゴシック" charset="0"/>
            </a:endParaRPr>
          </a:p>
          <a:p>
            <a:endParaRPr lang="en-US" sz="1800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How many user arguments with this configuration?</a:t>
            </a:r>
          </a:p>
          <a:p>
            <a:endParaRPr lang="en-US" sz="1800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Why? </a:t>
            </a:r>
          </a:p>
          <a:p>
            <a:endParaRPr lang="en-US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       Script arguments are </a:t>
            </a:r>
            <a:r>
              <a:rPr lang="en-US" i="1" kern="0" dirty="0">
                <a:ea typeface="ＭＳ Ｐゴシック" charset="0"/>
              </a:rPr>
              <a:t>space</a:t>
            </a:r>
            <a:r>
              <a:rPr lang="en-US" kern="0" dirty="0">
                <a:ea typeface="ＭＳ Ｐゴシック" charset="0"/>
              </a:rPr>
              <a:t> delimited.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r>
              <a:rPr lang="en-US" sz="1800" kern="0" dirty="0">
                <a:ea typeface="ＭＳ Ｐゴシック" charset="0"/>
              </a:rPr>
              <a:t>So what?</a:t>
            </a:r>
          </a:p>
          <a:p>
            <a:endParaRPr lang="en-US" sz="1800" kern="0" dirty="0">
              <a:ea typeface="ＭＳ Ｐゴシック" charset="0"/>
            </a:endParaRPr>
          </a:p>
          <a:p>
            <a:pPr lvl="1"/>
            <a:r>
              <a:rPr lang="en-US" kern="0" dirty="0">
                <a:ea typeface="ＭＳ Ｐゴシック" charset="0"/>
              </a:rPr>
              <a:t>File paths sometimes have spaces.</a:t>
            </a:r>
          </a:p>
          <a:p>
            <a:pPr lvl="1"/>
            <a:r>
              <a:rPr lang="en-US" kern="0" dirty="0">
                <a:ea typeface="ＭＳ Ｐゴシック" charset="0"/>
              </a:rPr>
              <a:t>E.g., </a:t>
            </a:r>
            <a:r>
              <a:rPr lang="en-US" altLang="en-US" dirty="0">
                <a:latin typeface="JcvnkkCfvqxxCourierNewPSMT"/>
              </a:rPr>
              <a:t>C:/African Elephant/</a:t>
            </a:r>
            <a:r>
              <a:rPr lang="en-US" altLang="en-US" dirty="0" err="1">
                <a:latin typeface="JcvnkkCfvqxxCourierNewPSMT"/>
              </a:rPr>
              <a:t>rasters</a:t>
            </a:r>
            <a:r>
              <a:rPr lang="en-US" kern="0" dirty="0">
                <a:ea typeface="ＭＳ Ｐゴシック" charset="0"/>
              </a:rPr>
              <a:t> </a:t>
            </a:r>
          </a:p>
          <a:p>
            <a:pPr lvl="1"/>
            <a:endParaRPr lang="en-US" kern="0" dirty="0">
              <a:ea typeface="ＭＳ Ｐゴシック" charset="0"/>
            </a:endParaRPr>
          </a:p>
          <a:p>
            <a:pPr lvl="1"/>
            <a:r>
              <a:rPr lang="en-US" kern="0" dirty="0">
                <a:ea typeface="ＭＳ Ｐゴシック" charset="0"/>
              </a:rPr>
              <a:t>Other arguments sometimes have spaces</a:t>
            </a:r>
          </a:p>
          <a:p>
            <a:pPr lvl="1"/>
            <a:r>
              <a:rPr lang="en-US" kern="0" dirty="0">
                <a:ea typeface="ＭＳ Ｐゴシック" charset="0"/>
              </a:rPr>
              <a:t>E.g., 5 km</a:t>
            </a:r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8B6C8D6-5F16-2E26-F034-009BB40E03D7}"/>
              </a:ext>
            </a:extLst>
          </p:cNvPr>
          <p:cNvGrpSpPr/>
          <p:nvPr/>
        </p:nvGrpSpPr>
        <p:grpSpPr>
          <a:xfrm>
            <a:off x="202316" y="1232726"/>
            <a:ext cx="4086225" cy="885825"/>
            <a:chOff x="190593" y="1432487"/>
            <a:chExt cx="4086225" cy="88582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869213E-D9D7-2B64-7BA2-9501800A3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0593" y="1432487"/>
              <a:ext cx="4086225" cy="885825"/>
            </a:xfrm>
            <a:prstGeom prst="rect">
              <a:avLst/>
            </a:prstGeom>
          </p:spPr>
        </p:pic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0CF4E4E-6A97-11AA-26BE-63E0A67F3362}"/>
                </a:ext>
              </a:extLst>
            </p:cNvPr>
            <p:cNvSpPr/>
            <p:nvPr/>
          </p:nvSpPr>
          <p:spPr bwMode="auto">
            <a:xfrm>
              <a:off x="1207477" y="1484625"/>
              <a:ext cx="457200" cy="23443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BAD84C0-DDF7-008C-018C-3A2323DF5CF6}"/>
              </a:ext>
            </a:extLst>
          </p:cNvPr>
          <p:cNvCxnSpPr/>
          <p:nvPr/>
        </p:nvCxnSpPr>
        <p:spPr bwMode="auto">
          <a:xfrm flipV="1">
            <a:off x="1752600" y="2118551"/>
            <a:ext cx="0" cy="319849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A7127CB2-C81C-0550-351C-C2121DFBA6EF}"/>
              </a:ext>
            </a:extLst>
          </p:cNvPr>
          <p:cNvSpPr txBox="1"/>
          <p:nvPr/>
        </p:nvSpPr>
        <p:spPr>
          <a:xfrm>
            <a:off x="124780" y="1063561"/>
            <a:ext cx="89430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JcvnkkCfvqxxCourierNewPSMT"/>
              </a:rPr>
              <a:t>Suppose you want to pass in this path:   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sz="1800" kern="0" dirty="0">
                <a:solidFill>
                  <a:schemeClr val="bg1">
                    <a:lumMod val="50000"/>
                  </a:schemeClr>
                </a:solidFill>
                <a:ea typeface="ＭＳ Ｐゴシック" charset="0"/>
              </a:rPr>
              <a:t> 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</p:txBody>
      </p:sp>
      <p:sp>
        <p:nvSpPr>
          <p:cNvPr id="13314" name="Title 1">
            <a:extLst>
              <a:ext uri="{FF2B5EF4-FFF2-40B4-BE49-F238E27FC236}">
                <a16:creationId xmlns:a16="http://schemas.microsoft.com/office/drawing/2014/main" id="{6B8BACDE-5F0D-E06A-E673-324B53861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Handling spaces in arguments</a:t>
            </a:r>
          </a:p>
        </p:txBody>
      </p:sp>
      <p:sp>
        <p:nvSpPr>
          <p:cNvPr id="13317" name="Rectangle 8">
            <a:extLst>
              <a:ext uri="{FF2B5EF4-FFF2-40B4-BE49-F238E27FC236}">
                <a16:creationId xmlns:a16="http://schemas.microsoft.com/office/drawing/2014/main" id="{45B4D792-557A-4095-EFE1-ABA7C6A64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1598474"/>
            <a:ext cx="45720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 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F</a:t>
            </a:r>
            <a:r>
              <a:rPr lang="en-US" altLang="en-US" sz="1800" dirty="0">
                <a:latin typeface="GkhjstVlqjcwCourierNewPSMT"/>
              </a:rPr>
              <a:t>i</a:t>
            </a:r>
            <a:r>
              <a:rPr lang="en-US" altLang="en-US" sz="1800" dirty="0">
                <a:latin typeface="JcvnkkCfvqxxCourierNewPSMT"/>
              </a:rPr>
              <a:t>rst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Second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3C40FB23-83FF-AC96-8DCC-09C6F5B69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A47C71-71AE-61A1-8390-B88D747C4520}"/>
              </a:ext>
            </a:extLst>
          </p:cNvPr>
          <p:cNvGrpSpPr/>
          <p:nvPr/>
        </p:nvGrpSpPr>
        <p:grpSpPr>
          <a:xfrm>
            <a:off x="76200" y="1600200"/>
            <a:ext cx="4553712" cy="1035415"/>
            <a:chOff x="76200" y="3045205"/>
            <a:chExt cx="4553712" cy="103541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0460846-330B-D21E-49A7-895D547E3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00" y="3045205"/>
              <a:ext cx="4553712" cy="103541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F1E9292-D54C-E24F-E486-43D3E94D7087}"/>
                </a:ext>
              </a:extLst>
            </p:cNvPr>
            <p:cNvSpPr/>
            <p:nvPr/>
          </p:nvSpPr>
          <p:spPr bwMode="auto">
            <a:xfrm>
              <a:off x="1219200" y="3068353"/>
              <a:ext cx="457200" cy="23443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77E746-2524-C0D8-0E70-EB886F1C7349}"/>
              </a:ext>
            </a:extLst>
          </p:cNvPr>
          <p:cNvCxnSpPr/>
          <p:nvPr/>
        </p:nvCxnSpPr>
        <p:spPr bwMode="auto">
          <a:xfrm flipV="1">
            <a:off x="2478909" y="24451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96333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A7127CB2-C81C-0550-351C-C2121DFBA6EF}"/>
              </a:ext>
            </a:extLst>
          </p:cNvPr>
          <p:cNvSpPr txBox="1"/>
          <p:nvPr/>
        </p:nvSpPr>
        <p:spPr>
          <a:xfrm>
            <a:off x="124780" y="1063561"/>
            <a:ext cx="894301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JcvnkkCfvqxxCourierNewPSMT"/>
              </a:rPr>
              <a:t>Suppose you want to pass in this path:   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sz="1800" kern="0" dirty="0">
                <a:solidFill>
                  <a:schemeClr val="bg1">
                    <a:lumMod val="50000"/>
                  </a:schemeClr>
                </a:solidFill>
                <a:ea typeface="ＭＳ Ｐゴシック" charset="0"/>
              </a:rPr>
              <a:t> 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How to fix this?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</p:txBody>
      </p:sp>
      <p:sp>
        <p:nvSpPr>
          <p:cNvPr id="13314" name="Title 1">
            <a:extLst>
              <a:ext uri="{FF2B5EF4-FFF2-40B4-BE49-F238E27FC236}">
                <a16:creationId xmlns:a16="http://schemas.microsoft.com/office/drawing/2014/main" id="{6B8BACDE-5F0D-E06A-E673-324B53861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Handling spaces in arguments</a:t>
            </a:r>
          </a:p>
        </p:txBody>
      </p:sp>
      <p:sp>
        <p:nvSpPr>
          <p:cNvPr id="13317" name="Rectangle 8">
            <a:extLst>
              <a:ext uri="{FF2B5EF4-FFF2-40B4-BE49-F238E27FC236}">
                <a16:creationId xmlns:a16="http://schemas.microsoft.com/office/drawing/2014/main" id="{45B4D792-557A-4095-EFE1-ABA7C6A64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1598474"/>
            <a:ext cx="45720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 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F</a:t>
            </a:r>
            <a:r>
              <a:rPr lang="en-US" altLang="en-US" sz="1800" dirty="0">
                <a:latin typeface="GkhjstVlqjcwCourierNewPSMT"/>
              </a:rPr>
              <a:t>i</a:t>
            </a:r>
            <a:r>
              <a:rPr lang="en-US" altLang="en-US" sz="1800" dirty="0">
                <a:latin typeface="JcvnkkCfvqxxCourierNewPSMT"/>
              </a:rPr>
              <a:t>rst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Second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319" name="Rectangle 10">
            <a:extLst>
              <a:ext uri="{FF2B5EF4-FFF2-40B4-BE49-F238E27FC236}">
                <a16:creationId xmlns:a16="http://schemas.microsoft.com/office/drawing/2014/main" id="{B6A58E1A-D395-B268-6446-43CF99EF6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152" y="3657600"/>
            <a:ext cx="45720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The user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     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3C40FB23-83FF-AC96-8DCC-09C6F5B69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167C47-C8EE-F9F8-F533-D806D0C9F3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32" t="9981" r="1152" b="10004"/>
          <a:stretch/>
        </p:blipFill>
        <p:spPr>
          <a:xfrm>
            <a:off x="76200" y="3962400"/>
            <a:ext cx="4553712" cy="36625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BA47C71-71AE-61A1-8390-B88D747C4520}"/>
              </a:ext>
            </a:extLst>
          </p:cNvPr>
          <p:cNvGrpSpPr/>
          <p:nvPr/>
        </p:nvGrpSpPr>
        <p:grpSpPr>
          <a:xfrm>
            <a:off x="76200" y="1600200"/>
            <a:ext cx="4553712" cy="1035415"/>
            <a:chOff x="76200" y="3045205"/>
            <a:chExt cx="4553712" cy="103541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0460846-330B-D21E-49A7-895D547E3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00" y="3045205"/>
              <a:ext cx="4553712" cy="103541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F1E9292-D54C-E24F-E486-43D3E94D7087}"/>
                </a:ext>
              </a:extLst>
            </p:cNvPr>
            <p:cNvSpPr/>
            <p:nvPr/>
          </p:nvSpPr>
          <p:spPr bwMode="auto">
            <a:xfrm>
              <a:off x="1219200" y="3068353"/>
              <a:ext cx="457200" cy="23443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DCD9A8-2BE5-AA52-96C2-CE245E074D6D}"/>
              </a:ext>
            </a:extLst>
          </p:cNvPr>
          <p:cNvCxnSpPr/>
          <p:nvPr/>
        </p:nvCxnSpPr>
        <p:spPr bwMode="auto">
          <a:xfrm flipV="1">
            <a:off x="1714979" y="4155981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0AAF2-20C6-FDD9-D09C-9B362A73C229}"/>
              </a:ext>
            </a:extLst>
          </p:cNvPr>
          <p:cNvCxnSpPr/>
          <p:nvPr/>
        </p:nvCxnSpPr>
        <p:spPr bwMode="auto">
          <a:xfrm flipV="1">
            <a:off x="3810000" y="4158106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1900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A7127CB2-C81C-0550-351C-C2121DFBA6EF}"/>
              </a:ext>
            </a:extLst>
          </p:cNvPr>
          <p:cNvSpPr txBox="1"/>
          <p:nvPr/>
        </p:nvSpPr>
        <p:spPr>
          <a:xfrm>
            <a:off x="124780" y="1063561"/>
            <a:ext cx="894301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JcvnkkCfvqxxCourierNewPSMT"/>
              </a:rPr>
              <a:t>Suppose you want to pass in this path:   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sz="1800" kern="0" dirty="0">
                <a:solidFill>
                  <a:schemeClr val="bg1">
                    <a:lumMod val="50000"/>
                  </a:schemeClr>
                </a:solidFill>
                <a:ea typeface="ＭＳ Ｐゴシック" charset="0"/>
              </a:rPr>
              <a:t> 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How to fix this?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r>
              <a:rPr lang="en-US" kern="0" dirty="0">
                <a:ea typeface="ＭＳ Ｐゴシック" charset="0"/>
              </a:rPr>
              <a:t>How about this?</a:t>
            </a:r>
            <a:endParaRPr lang="en-US" dirty="0"/>
          </a:p>
        </p:txBody>
      </p:sp>
      <p:sp>
        <p:nvSpPr>
          <p:cNvPr id="13314" name="Title 1">
            <a:extLst>
              <a:ext uri="{FF2B5EF4-FFF2-40B4-BE49-F238E27FC236}">
                <a16:creationId xmlns:a16="http://schemas.microsoft.com/office/drawing/2014/main" id="{6B8BACDE-5F0D-E06A-E673-324B53861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Handling spaces in arguments</a:t>
            </a:r>
          </a:p>
        </p:txBody>
      </p:sp>
      <p:sp>
        <p:nvSpPr>
          <p:cNvPr id="13317" name="Rectangle 8">
            <a:extLst>
              <a:ext uri="{FF2B5EF4-FFF2-40B4-BE49-F238E27FC236}">
                <a16:creationId xmlns:a16="http://schemas.microsoft.com/office/drawing/2014/main" id="{45B4D792-557A-4095-EFE1-ABA7C6A64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1598474"/>
            <a:ext cx="45720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 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F</a:t>
            </a:r>
            <a:r>
              <a:rPr lang="en-US" altLang="en-US" sz="1800" dirty="0">
                <a:latin typeface="GkhjstVlqjcwCourierNewPSMT"/>
              </a:rPr>
              <a:t>i</a:t>
            </a:r>
            <a:r>
              <a:rPr lang="en-US" altLang="en-US" sz="1800" dirty="0">
                <a:latin typeface="JcvnkkCfvqxxCourierNewPSMT"/>
              </a:rPr>
              <a:t>rst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Second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318" name="Rectangle 9">
            <a:extLst>
              <a:ext uri="{FF2B5EF4-FFF2-40B4-BE49-F238E27FC236}">
                <a16:creationId xmlns:a16="http://schemas.microsoft.com/office/drawing/2014/main" id="{EC2066BE-F13E-4B36-D672-60CAAEEDA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5105400"/>
            <a:ext cx="4572000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 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F</a:t>
            </a:r>
            <a:r>
              <a:rPr lang="en-US" altLang="en-US" sz="1800" dirty="0">
                <a:latin typeface="GkhjstVlqjcwCourierNewPSMT"/>
              </a:rPr>
              <a:t>i</a:t>
            </a:r>
            <a:r>
              <a:rPr lang="en-US" altLang="en-US" sz="1800" dirty="0">
                <a:latin typeface="JcvnkkCfvqxxCourierNewPSMT"/>
              </a:rPr>
              <a:t>rst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'C:/African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Second argument?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rasters'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319" name="Rectangle 10">
            <a:extLst>
              <a:ext uri="{FF2B5EF4-FFF2-40B4-BE49-F238E27FC236}">
                <a16:creationId xmlns:a16="http://schemas.microsoft.com/office/drawing/2014/main" id="{B6A58E1A-D395-B268-6446-43CF99EF6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152" y="3657600"/>
            <a:ext cx="45720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How many user arguments?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The user argument? </a:t>
            </a:r>
            <a:br>
              <a:rPr lang="en-US" altLang="en-US" sz="1800" dirty="0">
                <a:latin typeface="JcvnkkCfvqxxCourierNewPSMT"/>
              </a:rPr>
            </a:br>
            <a:r>
              <a:rPr lang="en-US" altLang="en-US" sz="1800" dirty="0">
                <a:latin typeface="JcvnkkCfvqxxCourierNewPSMT"/>
              </a:rPr>
              <a:t>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3C40FB23-83FF-AC96-8DCC-09C6F5B69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112B4D-E3ED-CFB9-81C2-8D044C03A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337048"/>
            <a:ext cx="4553712" cy="4168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167C47-C8EE-F9F8-F533-D806D0C9F3B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32" t="9981" r="1152" b="10004"/>
          <a:stretch/>
        </p:blipFill>
        <p:spPr>
          <a:xfrm>
            <a:off x="76200" y="3962400"/>
            <a:ext cx="4553712" cy="36625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BA47C71-71AE-61A1-8390-B88D747C4520}"/>
              </a:ext>
            </a:extLst>
          </p:cNvPr>
          <p:cNvGrpSpPr/>
          <p:nvPr/>
        </p:nvGrpSpPr>
        <p:grpSpPr>
          <a:xfrm>
            <a:off x="76200" y="1600200"/>
            <a:ext cx="4553712" cy="1035415"/>
            <a:chOff x="76200" y="3045205"/>
            <a:chExt cx="4553712" cy="103541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0460846-330B-D21E-49A7-895D547E3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200" y="3045205"/>
              <a:ext cx="4553712" cy="103541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F1E9292-D54C-E24F-E486-43D3E94D7087}"/>
                </a:ext>
              </a:extLst>
            </p:cNvPr>
            <p:cNvSpPr/>
            <p:nvPr/>
          </p:nvSpPr>
          <p:spPr bwMode="auto">
            <a:xfrm>
              <a:off x="1219200" y="3068353"/>
              <a:ext cx="457200" cy="23443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DCD9A8-2BE5-AA52-96C2-CE245E074D6D}"/>
              </a:ext>
            </a:extLst>
          </p:cNvPr>
          <p:cNvCxnSpPr/>
          <p:nvPr/>
        </p:nvCxnSpPr>
        <p:spPr bwMode="auto">
          <a:xfrm flipV="1">
            <a:off x="1714979" y="4155981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0AAF2-20C6-FDD9-D09C-9B362A73C229}"/>
              </a:ext>
            </a:extLst>
          </p:cNvPr>
          <p:cNvCxnSpPr/>
          <p:nvPr/>
        </p:nvCxnSpPr>
        <p:spPr bwMode="auto">
          <a:xfrm flipV="1">
            <a:off x="3810000" y="4158106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618CCA-50E2-4BD2-7E4D-57F3B87B4292}"/>
              </a:ext>
            </a:extLst>
          </p:cNvPr>
          <p:cNvCxnSpPr/>
          <p:nvPr/>
        </p:nvCxnSpPr>
        <p:spPr bwMode="auto">
          <a:xfrm flipV="1">
            <a:off x="1735239" y="55693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2EF97D-6264-5182-B307-4EE64D3709CE}"/>
              </a:ext>
            </a:extLst>
          </p:cNvPr>
          <p:cNvCxnSpPr/>
          <p:nvPr/>
        </p:nvCxnSpPr>
        <p:spPr bwMode="auto">
          <a:xfrm flipV="1">
            <a:off x="3826392" y="55693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C58944EE-724F-1855-006E-25E7EF66A559}"/>
              </a:ext>
            </a:extLst>
          </p:cNvPr>
          <p:cNvSpPr/>
          <p:nvPr/>
        </p:nvSpPr>
        <p:spPr bwMode="auto">
          <a:xfrm>
            <a:off x="5011839" y="5978322"/>
            <a:ext cx="152400" cy="152400"/>
          </a:xfrm>
          <a:prstGeom prst="ellipse">
            <a:avLst/>
          </a:prstGeom>
          <a:noFill/>
          <a:ln w="28575">
            <a:solidFill>
              <a:srgbClr val="FF0066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DD76DB8-0755-C893-E65E-7DA2C250661F}"/>
              </a:ext>
            </a:extLst>
          </p:cNvPr>
          <p:cNvSpPr/>
          <p:nvPr/>
        </p:nvSpPr>
        <p:spPr bwMode="auto">
          <a:xfrm>
            <a:off x="6542595" y="6523296"/>
            <a:ext cx="152400" cy="152400"/>
          </a:xfrm>
          <a:prstGeom prst="ellipse">
            <a:avLst/>
          </a:prstGeom>
          <a:noFill/>
          <a:ln w="28575">
            <a:solidFill>
              <a:srgbClr val="FF0066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3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A7127CB2-C81C-0550-351C-C2121DFBA6EF}"/>
              </a:ext>
            </a:extLst>
          </p:cNvPr>
          <p:cNvSpPr txBox="1"/>
          <p:nvPr/>
        </p:nvSpPr>
        <p:spPr>
          <a:xfrm>
            <a:off x="124780" y="1063561"/>
            <a:ext cx="894301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dirty="0">
                <a:latin typeface="JcvnkkCfvqxxCourierNewPSMT"/>
              </a:rPr>
              <a:t>When</a:t>
            </a:r>
            <a:r>
              <a:rPr lang="en-US" altLang="en-US" sz="1800" dirty="0">
                <a:latin typeface="JcvnkkCfvqxxCourierNewPSMT"/>
              </a:rPr>
              <a:t> you want to pass in this path:         </a:t>
            </a:r>
            <a:r>
              <a:rPr lang="en-US" altLang="en-US" sz="1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1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sz="1800" kern="0" dirty="0">
                <a:solidFill>
                  <a:schemeClr val="bg1">
                    <a:lumMod val="50000"/>
                  </a:schemeClr>
                </a:solidFill>
                <a:ea typeface="ＭＳ Ｐゴシック" charset="0"/>
              </a:rPr>
              <a:t> </a:t>
            </a: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  <a:p>
            <a:endParaRPr lang="en-US" kern="0" dirty="0">
              <a:ea typeface="ＭＳ Ｐゴシック" charset="0"/>
            </a:endParaRPr>
          </a:p>
        </p:txBody>
      </p:sp>
      <p:sp>
        <p:nvSpPr>
          <p:cNvPr id="13314" name="Title 1">
            <a:extLst>
              <a:ext uri="{FF2B5EF4-FFF2-40B4-BE49-F238E27FC236}">
                <a16:creationId xmlns:a16="http://schemas.microsoft.com/office/drawing/2014/main" id="{6B8BACDE-5F0D-E06A-E673-324B53861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Take home?</a:t>
            </a:r>
          </a:p>
        </p:txBody>
      </p:sp>
      <p:sp>
        <p:nvSpPr>
          <p:cNvPr id="13319" name="Rectangle 10">
            <a:extLst>
              <a:ext uri="{FF2B5EF4-FFF2-40B4-BE49-F238E27FC236}">
                <a16:creationId xmlns:a16="http://schemas.microsoft.com/office/drawing/2014/main" id="{B6A58E1A-D395-B268-6446-43CF99EF6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3962400"/>
            <a:ext cx="457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FF0066"/>
                </a:solidFill>
                <a:latin typeface="JcvnkkCfvqxxCourierNewPSMT"/>
              </a:rPr>
              <a:t>DO THIS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3C40FB23-83FF-AC96-8DCC-09C6F5B69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 cap="flat" cmpd="sng">
                <a:solidFill>
                  <a:srgbClr val="FF0066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112B4D-E3ED-CFB9-81C2-8D044C03A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337048"/>
            <a:ext cx="4553712" cy="4168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167C47-C8EE-F9F8-F533-D806D0C9F3B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32" t="9981" r="1152" b="10004"/>
          <a:stretch/>
        </p:blipFill>
        <p:spPr>
          <a:xfrm>
            <a:off x="76200" y="3962400"/>
            <a:ext cx="4553712" cy="36625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BA47C71-71AE-61A1-8390-B88D747C4520}"/>
              </a:ext>
            </a:extLst>
          </p:cNvPr>
          <p:cNvGrpSpPr/>
          <p:nvPr/>
        </p:nvGrpSpPr>
        <p:grpSpPr>
          <a:xfrm>
            <a:off x="76200" y="1600200"/>
            <a:ext cx="4553712" cy="1035415"/>
            <a:chOff x="76200" y="3045205"/>
            <a:chExt cx="4553712" cy="103541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0460846-330B-D21E-49A7-895D547E3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200" y="3045205"/>
              <a:ext cx="4553712" cy="103541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F1E9292-D54C-E24F-E486-43D3E94D7087}"/>
                </a:ext>
              </a:extLst>
            </p:cNvPr>
            <p:cNvSpPr/>
            <p:nvPr/>
          </p:nvSpPr>
          <p:spPr bwMode="auto">
            <a:xfrm>
              <a:off x="1219200" y="3068353"/>
              <a:ext cx="457200" cy="23443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77E746-2524-C0D8-0E70-EB886F1C7349}"/>
              </a:ext>
            </a:extLst>
          </p:cNvPr>
          <p:cNvCxnSpPr/>
          <p:nvPr/>
        </p:nvCxnSpPr>
        <p:spPr bwMode="auto">
          <a:xfrm flipV="1">
            <a:off x="2478909" y="24451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DCD9A8-2BE5-AA52-96C2-CE245E074D6D}"/>
              </a:ext>
            </a:extLst>
          </p:cNvPr>
          <p:cNvCxnSpPr/>
          <p:nvPr/>
        </p:nvCxnSpPr>
        <p:spPr bwMode="auto">
          <a:xfrm flipV="1">
            <a:off x="1714979" y="4155981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0AAF2-20C6-FDD9-D09C-9B362A73C229}"/>
              </a:ext>
            </a:extLst>
          </p:cNvPr>
          <p:cNvCxnSpPr/>
          <p:nvPr/>
        </p:nvCxnSpPr>
        <p:spPr bwMode="auto">
          <a:xfrm flipV="1">
            <a:off x="3810000" y="4158106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618CCA-50E2-4BD2-7E4D-57F3B87B4292}"/>
              </a:ext>
            </a:extLst>
          </p:cNvPr>
          <p:cNvCxnSpPr/>
          <p:nvPr/>
        </p:nvCxnSpPr>
        <p:spPr bwMode="auto">
          <a:xfrm flipV="1">
            <a:off x="1735239" y="55693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2EF97D-6264-5182-B307-4EE64D3709CE}"/>
              </a:ext>
            </a:extLst>
          </p:cNvPr>
          <p:cNvCxnSpPr/>
          <p:nvPr/>
        </p:nvCxnSpPr>
        <p:spPr bwMode="auto">
          <a:xfrm flipV="1">
            <a:off x="3826392" y="5569330"/>
            <a:ext cx="0" cy="45047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rgbClr val="FF0066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Rectangle 10">
            <a:extLst>
              <a:ext uri="{FF2B5EF4-FFF2-40B4-BE49-F238E27FC236}">
                <a16:creationId xmlns:a16="http://schemas.microsoft.com/office/drawing/2014/main" id="{16F94B0B-3DFA-BF89-8F32-82ACB426F2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4181" y="1933241"/>
            <a:ext cx="457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DON'T DO THIS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D25CAFE8-4DE1-A422-1C0E-850B6FBBB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5357407"/>
            <a:ext cx="457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latin typeface="JcvnkkCfvqxxCourierNewPSMT"/>
              </a:rPr>
              <a:t>DON'T DO THIS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</p:txBody>
      </p:sp>
    </p:spTree>
    <p:extLst>
      <p:ext uri="{BB962C8B-B14F-4D97-AF65-F5344CB8AC3E}">
        <p14:creationId xmlns:p14="http://schemas.microsoft.com/office/powerpoint/2010/main" val="3464268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B2F-7D93-DB50-0A72-A97017F3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got the path, now 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8731-D7DE-2214-00BE-F1A174AF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200" dirty="0" err="1">
                <a:latin typeface="JcvnkkCfvqxxCourierNewPSMT"/>
              </a:rPr>
              <a:t>myRast</a:t>
            </a:r>
            <a:r>
              <a:rPr lang="en-US" altLang="en-US" sz="3200" dirty="0">
                <a:latin typeface="JcvnkkCfvqxxCourierNewPSMT"/>
              </a:rPr>
              <a:t> = sys.argv[1]</a:t>
            </a:r>
          </a:p>
          <a:p>
            <a:pPr marL="0" indent="0">
              <a:buNone/>
            </a:pPr>
            <a:r>
              <a:rPr lang="en-US" altLang="en-US" dirty="0">
                <a:latin typeface="JcvnkkCfvqxxCourierNewPSMT"/>
              </a:rPr>
              <a:t>print(</a:t>
            </a:r>
            <a:r>
              <a:rPr lang="en-US" altLang="en-US" dirty="0" err="1">
                <a:latin typeface="JcvnkkCfvqxxCourierNewPSMT"/>
              </a:rPr>
              <a:t>myRast</a:t>
            </a:r>
            <a:r>
              <a:rPr lang="en-US" altLang="en-US" dirty="0">
                <a:latin typeface="JcvnkkCfvqxxCourierNewPSMT"/>
              </a:rPr>
              <a:t>)</a:t>
            </a:r>
          </a:p>
          <a:p>
            <a:pPr marL="0" indent="0">
              <a:buNone/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32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Suppose you want to find out if the 2019 data is also in this directory.</a:t>
            </a: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Suppose you want to get the name of the file without the ".</a:t>
            </a:r>
            <a:r>
              <a:rPr lang="en-US" dirty="0" err="1">
                <a:latin typeface="JcvnkkCfvqxxCourierNewPSMT"/>
              </a:rPr>
              <a:t>tif</a:t>
            </a:r>
            <a:r>
              <a:rPr lang="en-US" dirty="0">
                <a:latin typeface="JcvnkkCfvqxxCourierNewPSMT"/>
              </a:rPr>
              <a:t>" extension, to use as your map name.</a:t>
            </a:r>
          </a:p>
        </p:txBody>
      </p:sp>
    </p:spTree>
    <p:extLst>
      <p:ext uri="{BB962C8B-B14F-4D97-AF65-F5344CB8AC3E}">
        <p14:creationId xmlns:p14="http://schemas.microsoft.com/office/powerpoint/2010/main" val="3299264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ath winding through a grassy field">
            <a:extLst>
              <a:ext uri="{FF2B5EF4-FFF2-40B4-BE49-F238E27FC236}">
                <a16:creationId xmlns:a16="http://schemas.microsoft.com/office/drawing/2014/main" id="{1E809C9C-2150-901B-CEBF-7BA97C799D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215" r="8197" b="-1"/>
          <a:stretch/>
        </p:blipFill>
        <p:spPr>
          <a:xfrm>
            <a:off x="20" y="10"/>
            <a:ext cx="72522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43764" y="0"/>
            <a:ext cx="530023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51960-92DA-F0AF-1147-50C831CBF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706" y="2434201"/>
            <a:ext cx="3114293" cy="374276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5400" dirty="0"/>
              <a:t>OS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Built-in module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os.path</a:t>
            </a:r>
            <a:r>
              <a:rPr lang="en-US" sz="2800" dirty="0"/>
              <a:t> for common path manipulations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operating system</a:t>
            </a:r>
          </a:p>
        </p:txBody>
      </p:sp>
    </p:spTree>
    <p:extLst>
      <p:ext uri="{BB962C8B-B14F-4D97-AF65-F5344CB8AC3E}">
        <p14:creationId xmlns:p14="http://schemas.microsoft.com/office/powerpoint/2010/main" val="1208536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rgbClr val="9F7705"/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rgbClr val="9F7705"/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  <a:endParaRPr lang="en-US" altLang="en-US" sz="1800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F9F-DF8F-043C-1A46-7871F35122C0}"/>
              </a:ext>
            </a:extLst>
          </p:cNvPr>
          <p:cNvSpPr txBox="1"/>
          <p:nvPr/>
        </p:nvSpPr>
        <p:spPr>
          <a:xfrm>
            <a:off x="3127603" y="344066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ＭＳ Ｐゴシック" pitchFamily="34" charset="-128"/>
                <a:cs typeface="Courier New" panose="02070309020205020404" pitchFamily="49" charset="0"/>
              </a:rPr>
              <a:t>directory name</a:t>
            </a:r>
            <a:endParaRPr lang="en-US" dirty="0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882F5F6-FC6B-62A8-14AE-6D7B1F38BE3F}"/>
              </a:ext>
            </a:extLst>
          </p:cNvPr>
          <p:cNvSpPr/>
          <p:nvPr/>
        </p:nvSpPr>
        <p:spPr bwMode="auto">
          <a:xfrm rot="16200000">
            <a:off x="3924055" y="1333746"/>
            <a:ext cx="381000" cy="3809510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9F7705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889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rgbClr val="9F7705"/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rgbClr val="9F7705"/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</a:t>
            </a:r>
            <a:r>
              <a:rPr lang="en-US" altLang="en-US" sz="2800" dirty="0">
                <a:solidFill>
                  <a:schemeClr val="accent2">
                    <a:lumMod val="75000"/>
                  </a:schemeClr>
                </a:solidFill>
                <a:latin typeface="JcvnkkCfvqxxCourierNewPSMT"/>
              </a:rPr>
              <a:t>2020.tif</a:t>
            </a:r>
            <a:endParaRPr lang="en-US" altLang="en-US" sz="1800" dirty="0">
              <a:solidFill>
                <a:schemeClr val="accent2">
                  <a:lumMod val="75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F9F-DF8F-043C-1A46-7871F35122C0}"/>
              </a:ext>
            </a:extLst>
          </p:cNvPr>
          <p:cNvSpPr txBox="1"/>
          <p:nvPr/>
        </p:nvSpPr>
        <p:spPr>
          <a:xfrm>
            <a:off x="3127603" y="344066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ＭＳ Ｐゴシック" pitchFamily="34" charset="-128"/>
                <a:cs typeface="Courier New" panose="02070309020205020404" pitchFamily="49" charset="0"/>
              </a:rPr>
              <a:t>directory name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C2F4-315C-CCCA-0110-0F114509F15C}"/>
              </a:ext>
            </a:extLst>
          </p:cNvPr>
          <p:cNvSpPr txBox="1"/>
          <p:nvPr/>
        </p:nvSpPr>
        <p:spPr>
          <a:xfrm>
            <a:off x="6096000" y="3377971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b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ase name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94DF7007-596B-79F9-C1E0-54B1608DFF46}"/>
              </a:ext>
            </a:extLst>
          </p:cNvPr>
          <p:cNvSpPr/>
          <p:nvPr/>
        </p:nvSpPr>
        <p:spPr bwMode="auto">
          <a:xfrm rot="16200000">
            <a:off x="6591301" y="2705102"/>
            <a:ext cx="381000" cy="1066798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882F5F6-FC6B-62A8-14AE-6D7B1F38BE3F}"/>
              </a:ext>
            </a:extLst>
          </p:cNvPr>
          <p:cNvSpPr/>
          <p:nvPr/>
        </p:nvSpPr>
        <p:spPr bwMode="auto">
          <a:xfrm rot="16200000">
            <a:off x="3924055" y="1333746"/>
            <a:ext cx="381000" cy="3809510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9F7705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918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rgbClr val="9F7705"/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rgbClr val="9F7705"/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</a:t>
            </a:r>
            <a:r>
              <a:rPr lang="en-US" altLang="en-US" sz="2800" dirty="0">
                <a:solidFill>
                  <a:schemeClr val="accent2">
                    <a:lumMod val="75000"/>
                  </a:schemeClr>
                </a:solidFill>
                <a:latin typeface="JcvnkkCfvqxxCourierNewPSMT"/>
              </a:rPr>
              <a:t>2020.tif</a:t>
            </a:r>
            <a:endParaRPr lang="en-US" altLang="en-US" sz="1800" dirty="0">
              <a:solidFill>
                <a:schemeClr val="accent2">
                  <a:lumMod val="75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F9F-DF8F-043C-1A46-7871F35122C0}"/>
              </a:ext>
            </a:extLst>
          </p:cNvPr>
          <p:cNvSpPr txBox="1"/>
          <p:nvPr/>
        </p:nvSpPr>
        <p:spPr>
          <a:xfrm>
            <a:off x="3127603" y="344066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ＭＳ Ｐゴシック" pitchFamily="34" charset="-128"/>
                <a:cs typeface="Courier New" panose="02070309020205020404" pitchFamily="49" charset="0"/>
              </a:rPr>
              <a:t>directory name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C2F4-315C-CCCA-0110-0F114509F15C}"/>
              </a:ext>
            </a:extLst>
          </p:cNvPr>
          <p:cNvSpPr txBox="1"/>
          <p:nvPr/>
        </p:nvSpPr>
        <p:spPr>
          <a:xfrm>
            <a:off x="6096000" y="3377971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b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ase name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94DF7007-596B-79F9-C1E0-54B1608DFF46}"/>
              </a:ext>
            </a:extLst>
          </p:cNvPr>
          <p:cNvSpPr/>
          <p:nvPr/>
        </p:nvSpPr>
        <p:spPr bwMode="auto">
          <a:xfrm rot="16200000">
            <a:off x="6591301" y="2705102"/>
            <a:ext cx="381000" cy="1066798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882F5F6-FC6B-62A8-14AE-6D7B1F38BE3F}"/>
              </a:ext>
            </a:extLst>
          </p:cNvPr>
          <p:cNvSpPr/>
          <p:nvPr/>
        </p:nvSpPr>
        <p:spPr bwMode="auto">
          <a:xfrm rot="16200000">
            <a:off x="3924055" y="1333746"/>
            <a:ext cx="381000" cy="3809510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9F7705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6B56B0-FB7B-D4BA-E513-35EB93A9B06E}"/>
              </a:ext>
            </a:extLst>
          </p:cNvPr>
          <p:cNvCxnSpPr/>
          <p:nvPr/>
        </p:nvCxnSpPr>
        <p:spPr bwMode="auto">
          <a:xfrm>
            <a:off x="6781800" y="3810000"/>
            <a:ext cx="0" cy="76200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383358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rgbClr val="9F7705"/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rgbClr val="9F7705"/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</a:t>
            </a:r>
            <a:r>
              <a:rPr lang="en-US" altLang="en-US" sz="2800" dirty="0">
                <a:solidFill>
                  <a:schemeClr val="accent2">
                    <a:lumMod val="75000"/>
                  </a:schemeClr>
                </a:solidFill>
                <a:latin typeface="JcvnkkCfvqxxCourierNewPSMT"/>
              </a:rPr>
              <a:t>2020.tif</a:t>
            </a:r>
            <a:endParaRPr lang="en-US" altLang="en-US" sz="1800" dirty="0">
              <a:solidFill>
                <a:schemeClr val="accent2">
                  <a:lumMod val="75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F9F-DF8F-043C-1A46-7871F35122C0}"/>
              </a:ext>
            </a:extLst>
          </p:cNvPr>
          <p:cNvSpPr txBox="1"/>
          <p:nvPr/>
        </p:nvSpPr>
        <p:spPr>
          <a:xfrm>
            <a:off x="3127603" y="344066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ＭＳ Ｐゴシック" pitchFamily="34" charset="-128"/>
                <a:cs typeface="Courier New" panose="02070309020205020404" pitchFamily="49" charset="0"/>
              </a:rPr>
              <a:t>directory name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C2F4-315C-CCCA-0110-0F114509F15C}"/>
              </a:ext>
            </a:extLst>
          </p:cNvPr>
          <p:cNvSpPr txBox="1"/>
          <p:nvPr/>
        </p:nvSpPr>
        <p:spPr>
          <a:xfrm>
            <a:off x="6096000" y="3377971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b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ase name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94DF7007-596B-79F9-C1E0-54B1608DFF46}"/>
              </a:ext>
            </a:extLst>
          </p:cNvPr>
          <p:cNvSpPr/>
          <p:nvPr/>
        </p:nvSpPr>
        <p:spPr bwMode="auto">
          <a:xfrm rot="16200000">
            <a:off x="6591301" y="2705102"/>
            <a:ext cx="381000" cy="1066798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882F5F6-FC6B-62A8-14AE-6D7B1F38BE3F}"/>
              </a:ext>
            </a:extLst>
          </p:cNvPr>
          <p:cNvSpPr/>
          <p:nvPr/>
        </p:nvSpPr>
        <p:spPr bwMode="auto">
          <a:xfrm rot="16200000">
            <a:off x="3924055" y="1333746"/>
            <a:ext cx="381000" cy="3809510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9F7705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6B56B0-FB7B-D4BA-E513-35EB93A9B06E}"/>
              </a:ext>
            </a:extLst>
          </p:cNvPr>
          <p:cNvCxnSpPr/>
          <p:nvPr/>
        </p:nvCxnSpPr>
        <p:spPr bwMode="auto">
          <a:xfrm>
            <a:off x="6781800" y="3810000"/>
            <a:ext cx="0" cy="76200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64C8CB0-46E9-5F65-2B24-0ECB82883314}"/>
              </a:ext>
            </a:extLst>
          </p:cNvPr>
          <p:cNvSpPr txBox="1"/>
          <p:nvPr/>
        </p:nvSpPr>
        <p:spPr>
          <a:xfrm>
            <a:off x="5867024" y="4648200"/>
            <a:ext cx="19470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chemeClr val="accent2">
                    <a:lumMod val="60000"/>
                    <a:lumOff val="40000"/>
                  </a:schemeClr>
                </a:solidFill>
                <a:latin typeface="JcvnkkCfvqxxCourierNewPSMT"/>
              </a:rPr>
              <a:t>2020</a:t>
            </a:r>
            <a:r>
              <a:rPr lang="en-US" altLang="en-US" sz="4400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.tif</a:t>
            </a:r>
            <a:endParaRPr lang="en-US" sz="4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5AD21C5-0615-2736-6D5D-0EFEE4CCAE0F}"/>
              </a:ext>
            </a:extLst>
          </p:cNvPr>
          <p:cNvSpPr/>
          <p:nvPr/>
        </p:nvSpPr>
        <p:spPr bwMode="auto">
          <a:xfrm rot="16200000">
            <a:off x="6305395" y="4998418"/>
            <a:ext cx="381000" cy="1029015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F9D6BD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rgbClr val="9F770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36C107-2020-4D8B-B31F-541A9DCDA811}"/>
              </a:ext>
            </a:extLst>
          </p:cNvPr>
          <p:cNvSpPr txBox="1"/>
          <p:nvPr/>
        </p:nvSpPr>
        <p:spPr>
          <a:xfrm>
            <a:off x="6134725" y="5721850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s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tem</a:t>
            </a:r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D329AFB2-3F95-D810-E9A7-0F173D711705}"/>
              </a:ext>
            </a:extLst>
          </p:cNvPr>
          <p:cNvSpPr/>
          <p:nvPr/>
        </p:nvSpPr>
        <p:spPr bwMode="auto">
          <a:xfrm rot="16200000">
            <a:off x="7257152" y="5228079"/>
            <a:ext cx="381000" cy="5730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rgbClr val="9F7705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B7933D-32D0-C0A1-4036-892C0CBF3188}"/>
              </a:ext>
            </a:extLst>
          </p:cNvPr>
          <p:cNvSpPr txBox="1"/>
          <p:nvPr/>
        </p:nvSpPr>
        <p:spPr>
          <a:xfrm>
            <a:off x="6913146" y="5726668"/>
            <a:ext cx="2052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extension (suffix)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7251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      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                                     </a:t>
            </a: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         </a:t>
            </a:r>
            <a:r>
              <a:rPr lang="en-US" altLang="en-US" sz="2800" dirty="0">
                <a:solidFill>
                  <a:srgbClr val="9F7705"/>
                </a:solidFill>
                <a:latin typeface="JcvnkkCfvqxxCourierNewPSMT"/>
              </a:rPr>
              <a:t>C:/African Elephant/</a:t>
            </a:r>
            <a:r>
              <a:rPr lang="en-US" altLang="en-US" sz="2800" dirty="0" err="1">
                <a:solidFill>
                  <a:srgbClr val="9F7705"/>
                </a:solidFill>
                <a:latin typeface="JcvnkkCfvqxxCourierNewPSMT"/>
              </a:rPr>
              <a:t>rasters</a:t>
            </a: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</a:t>
            </a:r>
            <a:r>
              <a:rPr lang="en-US" altLang="en-US" sz="2800" dirty="0">
                <a:solidFill>
                  <a:schemeClr val="accent2">
                    <a:lumMod val="75000"/>
                  </a:schemeClr>
                </a:solidFill>
                <a:latin typeface="JcvnkkCfvqxxCourierNewPSMT"/>
              </a:rPr>
              <a:t>2020.tif</a:t>
            </a:r>
            <a:endParaRPr lang="en-US" altLang="en-US" sz="1800" dirty="0">
              <a:solidFill>
                <a:schemeClr val="accent2">
                  <a:lumMod val="75000"/>
                </a:schemeClr>
              </a:solidFill>
              <a:latin typeface="JcvnkkCfvqxxCourierNewPSMT"/>
            </a:endParaRPr>
          </a:p>
          <a:p>
            <a:pPr eaLnBrk="1" hangingPunct="1">
              <a:buFontTx/>
              <a:buNone/>
              <a:defRPr/>
            </a:pPr>
            <a:endParaRPr lang="en-US" altLang="ja-JP" sz="18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File paths terms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BEC320FE-4BE8-8ECE-08F9-4E700940BB23}"/>
              </a:ext>
            </a:extLst>
          </p:cNvPr>
          <p:cNvSpPr/>
          <p:nvPr/>
        </p:nvSpPr>
        <p:spPr bwMode="auto">
          <a:xfrm rot="5400000">
            <a:off x="4610099" y="-121053"/>
            <a:ext cx="381000" cy="48768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4F0BC4-2D80-9D5E-3D6A-81F50A1043E6}"/>
              </a:ext>
            </a:extLst>
          </p:cNvPr>
          <p:cNvSpPr txBox="1"/>
          <p:nvPr/>
        </p:nvSpPr>
        <p:spPr>
          <a:xfrm>
            <a:off x="2832251" y="1752600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f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ull path file name (absolute path)</a:t>
            </a:r>
            <a:br>
              <a:rPr lang="en-US" altLang="ja-JP" sz="18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34BF9F-DF8F-043C-1A46-7871F35122C0}"/>
              </a:ext>
            </a:extLst>
          </p:cNvPr>
          <p:cNvSpPr txBox="1"/>
          <p:nvPr/>
        </p:nvSpPr>
        <p:spPr>
          <a:xfrm>
            <a:off x="3127603" y="344066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ＭＳ Ｐゴシック" pitchFamily="34" charset="-128"/>
                <a:cs typeface="Courier New" panose="02070309020205020404" pitchFamily="49" charset="0"/>
              </a:rPr>
              <a:t>directory name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C2F4-315C-CCCA-0110-0F114509F15C}"/>
              </a:ext>
            </a:extLst>
          </p:cNvPr>
          <p:cNvSpPr txBox="1"/>
          <p:nvPr/>
        </p:nvSpPr>
        <p:spPr>
          <a:xfrm>
            <a:off x="6096000" y="3377971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b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ase name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94DF7007-596B-79F9-C1E0-54B1608DFF46}"/>
              </a:ext>
            </a:extLst>
          </p:cNvPr>
          <p:cNvSpPr/>
          <p:nvPr/>
        </p:nvSpPr>
        <p:spPr bwMode="auto">
          <a:xfrm rot="16200000">
            <a:off x="6591301" y="2705102"/>
            <a:ext cx="381000" cy="1066798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882F5F6-FC6B-62A8-14AE-6D7B1F38BE3F}"/>
              </a:ext>
            </a:extLst>
          </p:cNvPr>
          <p:cNvSpPr/>
          <p:nvPr/>
        </p:nvSpPr>
        <p:spPr bwMode="auto">
          <a:xfrm rot="16200000">
            <a:off x="3924055" y="1333746"/>
            <a:ext cx="381000" cy="3809510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9F7705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6B56B0-FB7B-D4BA-E513-35EB93A9B06E}"/>
              </a:ext>
            </a:extLst>
          </p:cNvPr>
          <p:cNvCxnSpPr/>
          <p:nvPr/>
        </p:nvCxnSpPr>
        <p:spPr bwMode="auto">
          <a:xfrm>
            <a:off x="6781800" y="3810000"/>
            <a:ext cx="0" cy="762000"/>
          </a:xfrm>
          <a:prstGeom prst="straightConnector1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64C8CB0-46E9-5F65-2B24-0ECB82883314}"/>
              </a:ext>
            </a:extLst>
          </p:cNvPr>
          <p:cNvSpPr txBox="1"/>
          <p:nvPr/>
        </p:nvSpPr>
        <p:spPr>
          <a:xfrm>
            <a:off x="5867024" y="4648200"/>
            <a:ext cx="19470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chemeClr val="accent2">
                    <a:lumMod val="60000"/>
                    <a:lumOff val="40000"/>
                  </a:schemeClr>
                </a:solidFill>
                <a:latin typeface="JcvnkkCfvqxxCourierNewPSMT"/>
              </a:rPr>
              <a:t>2020</a:t>
            </a:r>
            <a:r>
              <a:rPr lang="en-US" altLang="en-US" sz="4400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.tif</a:t>
            </a:r>
            <a:endParaRPr lang="en-US" sz="4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5AD21C5-0615-2736-6D5D-0EFEE4CCAE0F}"/>
              </a:ext>
            </a:extLst>
          </p:cNvPr>
          <p:cNvSpPr/>
          <p:nvPr/>
        </p:nvSpPr>
        <p:spPr bwMode="auto">
          <a:xfrm rot="16200000">
            <a:off x="6305395" y="4998418"/>
            <a:ext cx="381000" cy="1029015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rgbClr val="F9D6BD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rgbClr val="9F770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36C107-2020-4D8B-B31F-541A9DCDA811}"/>
              </a:ext>
            </a:extLst>
          </p:cNvPr>
          <p:cNvSpPr txBox="1"/>
          <p:nvPr/>
        </p:nvSpPr>
        <p:spPr>
          <a:xfrm>
            <a:off x="6134725" y="5721850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ea typeface="ＭＳ Ｐゴシック" pitchFamily="34" charset="-128"/>
                <a:cs typeface="Courier New" panose="02070309020205020404" pitchFamily="49" charset="0"/>
              </a:rPr>
              <a:t>s</a:t>
            </a:r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tem</a:t>
            </a:r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D329AFB2-3F95-D810-E9A7-0F173D711705}"/>
              </a:ext>
            </a:extLst>
          </p:cNvPr>
          <p:cNvSpPr/>
          <p:nvPr/>
        </p:nvSpPr>
        <p:spPr bwMode="auto">
          <a:xfrm rot="16200000">
            <a:off x="7257152" y="5228079"/>
            <a:ext cx="381000" cy="573001"/>
          </a:xfrm>
          <a:prstGeom prst="leftBrace">
            <a:avLst/>
          </a:prstGeom>
          <a:solidFill>
            <a:schemeClr val="bg1"/>
          </a:solidFill>
          <a:ln w="3810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en-US">
              <a:solidFill>
                <a:srgbClr val="9F7705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B7933D-32D0-C0A1-4036-892C0CBF3188}"/>
              </a:ext>
            </a:extLst>
          </p:cNvPr>
          <p:cNvSpPr txBox="1"/>
          <p:nvPr/>
        </p:nvSpPr>
        <p:spPr>
          <a:xfrm>
            <a:off x="6913146" y="5726668"/>
            <a:ext cx="2052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800" dirty="0">
                <a:ea typeface="ＭＳ Ｐゴシック" pitchFamily="34" charset="-128"/>
                <a:cs typeface="Courier New" panose="02070309020205020404" pitchFamily="49" charset="0"/>
              </a:rPr>
              <a:t>  extension (suffix)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20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8F153-F9C4-A313-D597-2F9D1848C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it down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F9FF6C-F751-576A-7A84-719EAF39C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6146" y="76200"/>
            <a:ext cx="3586163" cy="21926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984C7-D62E-B488-9A9F-D348912CC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2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eaLnBrk="1" hangingPunct="1">
              <a:buFontTx/>
              <a:buNone/>
              <a:defRPr/>
            </a:pPr>
            <a:endParaRPr lang="en-US" altLang="ja-JP" sz="2400" dirty="0"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Specify the following: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a) The full path file name of p</a:t>
            </a:r>
          </a:p>
          <a:p>
            <a:pPr eaLnBrk="1" hangingPunct="1">
              <a:buFontTx/>
              <a:buNone/>
              <a:defRPr/>
            </a:pPr>
            <a:endParaRPr lang="en-US" altLang="ja-JP" sz="2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b) The directory name of p</a:t>
            </a:r>
          </a:p>
          <a:p>
            <a:pPr eaLnBrk="1" hangingPunct="1">
              <a:buFontTx/>
              <a:buNone/>
              <a:defRPr/>
            </a:pPr>
            <a:endParaRPr lang="en-US" altLang="ja-JP" sz="2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c) The base name of p</a:t>
            </a:r>
          </a:p>
          <a:p>
            <a:pPr eaLnBrk="1" hangingPunct="1">
              <a:buFontTx/>
              <a:buNone/>
              <a:defRPr/>
            </a:pPr>
            <a:endParaRPr lang="en-US" altLang="ja-JP" sz="2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d) The stem of p</a:t>
            </a:r>
          </a:p>
          <a:p>
            <a:pPr eaLnBrk="1" hangingPunct="1">
              <a:buFontTx/>
              <a:buNone/>
              <a:defRPr/>
            </a:pPr>
            <a:endParaRPr lang="en-US" altLang="ja-JP" sz="2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altLang="ja-JP" sz="2400" dirty="0">
                <a:ea typeface="ＭＳ Ｐゴシック" pitchFamily="34" charset="-128"/>
                <a:cs typeface="Courier New" panose="02070309020205020404" pitchFamily="49" charset="0"/>
              </a:rPr>
              <a:t>e) The extension of p</a:t>
            </a:r>
          </a:p>
        </p:txBody>
      </p:sp>
    </p:spTree>
    <p:extLst>
      <p:ext uri="{BB962C8B-B14F-4D97-AF65-F5344CB8AC3E}">
        <p14:creationId xmlns:p14="http://schemas.microsoft.com/office/powerpoint/2010/main" val="864659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B2F-7D93-DB50-0A72-A97017F3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Returning to our questions…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8731-D7DE-2214-00BE-F1A174AF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200" dirty="0" err="1">
                <a:latin typeface="JcvnkkCfvqxxCourierNewPSMT"/>
              </a:rPr>
              <a:t>myRast</a:t>
            </a:r>
            <a:r>
              <a:rPr lang="en-US" altLang="en-US" sz="3200" dirty="0">
                <a:latin typeface="JcvnkkCfvqxxCourierNewPSMT"/>
              </a:rPr>
              <a:t> = sys.argv[1]</a:t>
            </a:r>
          </a:p>
          <a:p>
            <a:pPr marL="0" indent="0">
              <a:buNone/>
            </a:pPr>
            <a:r>
              <a:rPr lang="en-US" altLang="en-US" dirty="0">
                <a:latin typeface="JcvnkkCfvqxxCourierNewPSMT"/>
              </a:rPr>
              <a:t>print(</a:t>
            </a:r>
            <a:r>
              <a:rPr lang="en-US" altLang="en-US" dirty="0" err="1">
                <a:latin typeface="JcvnkkCfvqxxCourierNewPSMT"/>
              </a:rPr>
              <a:t>myRast</a:t>
            </a:r>
            <a:r>
              <a:rPr lang="en-US" altLang="en-US" dirty="0">
                <a:latin typeface="JcvnkkCfvqxxCourierNewPSMT"/>
              </a:rPr>
              <a:t>)</a:t>
            </a:r>
          </a:p>
          <a:p>
            <a:pPr marL="0" indent="0">
              <a:buNone/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32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1) Suppose you want to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find out</a:t>
            </a:r>
            <a:r>
              <a:rPr lang="en-US" dirty="0">
                <a:latin typeface="JcvnkkCfvqxxCourierNewPSMT"/>
              </a:rPr>
              <a:t> if the 2019 is also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in this directory</a:t>
            </a:r>
            <a:r>
              <a:rPr lang="en-US" dirty="0">
                <a:latin typeface="JcvnkkCfvqxxCourierNewPSMT"/>
              </a:rPr>
              <a:t>.</a:t>
            </a: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2) Suppose you want to get the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name of the file without the ".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tif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" extension</a:t>
            </a:r>
            <a:r>
              <a:rPr lang="en-US" dirty="0">
                <a:latin typeface="JcvnkkCfvqxxCourierNewPSMT"/>
              </a:rPr>
              <a:t>, to use as your map name.</a:t>
            </a:r>
          </a:p>
        </p:txBody>
      </p:sp>
    </p:spTree>
    <p:extLst>
      <p:ext uri="{BB962C8B-B14F-4D97-AF65-F5344CB8AC3E}">
        <p14:creationId xmlns:p14="http://schemas.microsoft.com/office/powerpoint/2010/main" val="639798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Getting a directory's contents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934398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files = </a:t>
            </a:r>
            <a:r>
              <a:rPr lang="en-US" sz="24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os.listdir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"C:\gispy\data\ch02"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print(files)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['fires.dbf',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fires.prj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fires.sbn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fires.sbx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fires.shp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'fires.shp.xml',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fires.shx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park.dbf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park.prj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park.sbn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park.sbx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'park.shp.xml', 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park.shx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']</a:t>
            </a:r>
          </a:p>
          <a:p>
            <a:pPr eaLnBrk="1" hangingPunct="1">
              <a:buNone/>
              <a:defRPr/>
            </a:pPr>
            <a:endParaRPr lang="en-US" sz="16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os.listdir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(p) returns a list of the files in p.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C63C85-4C46-715A-0282-1ED979DBA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2286000"/>
            <a:ext cx="4953000" cy="142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935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Getting the base name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theBaseName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os.path.basename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theBaseName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DelWaterGap.shp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os.path.basename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(p) returns the portion of p after the last slash.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73456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Getting the directory name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os.path.dirname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'D:/data'</a:t>
            </a: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os.path.dirname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(p) returns the portion of p up to, not including, the last slash. </a:t>
            </a: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4081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B2F-7D93-DB50-0A72-A97017F3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Answering question 1…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8731-D7DE-2214-00BE-F1A174AF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200" dirty="0" err="1">
                <a:latin typeface="JcvnkkCfvqxxCourierNewPSMT"/>
              </a:rPr>
              <a:t>myRast</a:t>
            </a:r>
            <a:r>
              <a:rPr lang="en-US" altLang="en-US" sz="3200" dirty="0">
                <a:latin typeface="JcvnkkCfvqxxCourierNewPSMT"/>
              </a:rPr>
              <a:t> = sys.argv[1]</a:t>
            </a:r>
          </a:p>
          <a:p>
            <a:pPr marL="0" indent="0">
              <a:buNone/>
            </a:pPr>
            <a:r>
              <a:rPr lang="en-US" altLang="en-US" dirty="0">
                <a:latin typeface="JcvnkkCfvqxxCourierNewPSMT"/>
              </a:rPr>
              <a:t>print(</a:t>
            </a:r>
            <a:r>
              <a:rPr lang="en-US" altLang="en-US" dirty="0" err="1">
                <a:latin typeface="JcvnkkCfvqxxCourierNewPSMT"/>
              </a:rPr>
              <a:t>myRast</a:t>
            </a:r>
            <a:r>
              <a:rPr lang="en-US" altLang="en-US" dirty="0">
                <a:latin typeface="JcvnkkCfvqxxCourierNewPSMT"/>
              </a:rPr>
              <a:t>)</a:t>
            </a:r>
          </a:p>
          <a:p>
            <a:pPr marL="0" indent="0">
              <a:buNone/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32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1) Suppose you want to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find out</a:t>
            </a:r>
            <a:r>
              <a:rPr lang="en-US" dirty="0">
                <a:latin typeface="JcvnkkCfvqxxCourierNewPSMT"/>
              </a:rPr>
              <a:t> if the 2019 data is also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in this directory</a:t>
            </a:r>
            <a:r>
              <a:rPr lang="en-US" dirty="0">
                <a:latin typeface="JcvnkkCfvqxxCourierNewPSMT"/>
              </a:rPr>
              <a:t>.</a:t>
            </a:r>
          </a:p>
          <a:p>
            <a:pPr eaLnBrk="1" hangingPunct="1">
              <a:buFontTx/>
              <a:buNone/>
              <a:defRPr/>
            </a:pPr>
            <a:r>
              <a:rPr lang="en-US" sz="18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18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  <a:r>
              <a:rPr lang="en-US" altLang="en-US" sz="1800" dirty="0">
                <a:latin typeface="JcvnkkCfvqxxCourierNewPSMT"/>
              </a:rPr>
              <a:t>C:/African Elephant/</a:t>
            </a:r>
            <a:r>
              <a:rPr lang="en-US" altLang="en-US" sz="1800" dirty="0" err="1">
                <a:latin typeface="JcvnkkCfvqxxCourierNewPSMT"/>
              </a:rPr>
              <a:t>rasters</a:t>
            </a:r>
            <a:r>
              <a:rPr lang="en-US" altLang="en-US" sz="1800" dirty="0">
                <a:latin typeface="JcvnkkCfvqxxCourierNewPSMT"/>
              </a:rPr>
              <a:t>/2020.tif</a:t>
            </a:r>
            <a:r>
              <a:rPr lang="en-US" altLang="ja-JP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</a:p>
          <a:p>
            <a:pPr eaLnBrk="1" hangingPunct="1">
              <a:buFontTx/>
              <a:buNone/>
              <a:defRPr/>
            </a:pP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os.path.dirname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files = 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os.listdir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theDir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print("2019.tif" in files)</a:t>
            </a: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</p:txBody>
      </p:sp>
    </p:spTree>
    <p:extLst>
      <p:ext uri="{BB962C8B-B14F-4D97-AF65-F5344CB8AC3E}">
        <p14:creationId xmlns:p14="http://schemas.microsoft.com/office/powerpoint/2010/main" val="42869300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B2F-7D93-DB50-0A72-A97017F3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for question 2…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8731-D7DE-2214-00BE-F1A174AF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200" dirty="0" err="1">
                <a:latin typeface="JcvnkkCfvqxxCourierNewPSMT"/>
              </a:rPr>
              <a:t>myRast</a:t>
            </a:r>
            <a:r>
              <a:rPr lang="en-US" altLang="en-US" sz="3200" dirty="0">
                <a:latin typeface="JcvnkkCfvqxxCourierNewPSMT"/>
              </a:rPr>
              <a:t> = sys.argv[1]</a:t>
            </a:r>
          </a:p>
          <a:p>
            <a:pPr marL="0" indent="0">
              <a:buNone/>
            </a:pPr>
            <a:r>
              <a:rPr lang="en-US" altLang="en-US" dirty="0">
                <a:latin typeface="JcvnkkCfvqxxCourierNewPSMT"/>
              </a:rPr>
              <a:t>print(</a:t>
            </a:r>
            <a:r>
              <a:rPr lang="en-US" altLang="en-US" dirty="0" err="1">
                <a:latin typeface="JcvnkkCfvqxxCourierNewPSMT"/>
              </a:rPr>
              <a:t>myRast</a:t>
            </a:r>
            <a:r>
              <a:rPr lang="en-US" altLang="en-US" dirty="0">
                <a:latin typeface="JcvnkkCfvqxxCourierNewPSMT"/>
              </a:rPr>
              <a:t>)</a:t>
            </a:r>
          </a:p>
          <a:p>
            <a:pPr marL="0" indent="0">
              <a:buNone/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32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50000"/>
                </a:schemeClr>
              </a:solidFill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1) Suppose you want to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find out</a:t>
            </a:r>
            <a:r>
              <a:rPr lang="en-US" dirty="0">
                <a:latin typeface="JcvnkkCfvqxxCourierNewPSMT"/>
              </a:rPr>
              <a:t> if the 2019 is also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in this directory</a:t>
            </a:r>
            <a:r>
              <a:rPr lang="en-US" dirty="0">
                <a:latin typeface="JcvnkkCfvqxxCourierNewPSMT"/>
              </a:rPr>
              <a:t>.</a:t>
            </a: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2) Suppose you want to get the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name of the file without the ".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tif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" extension</a:t>
            </a:r>
            <a:r>
              <a:rPr lang="en-US" dirty="0">
                <a:latin typeface="JcvnkkCfvqxxCourierNewPSMT"/>
              </a:rPr>
              <a:t>, to use as your map name. </a:t>
            </a:r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61EE1ECE-5BBF-0337-DA5D-0F90683C32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8000" y="3429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2446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4EE50FFF-ACB1-C481-9065-26997CB34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Get the stem and the </a:t>
            </a:r>
            <a:r>
              <a:rPr lang="en-US" altLang="en-US" dirty="0" err="1"/>
              <a:t>extention</a:t>
            </a:r>
            <a:endParaRPr lang="en-US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41759-A8FD-D480-DB4D-49C9987BE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0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0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0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20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marL="0" indent="0">
              <a:buFontTx/>
              <a:buNone/>
              <a:defRPr/>
            </a:pP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split_output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os.path.splitext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(p)</a:t>
            </a:r>
          </a:p>
          <a:p>
            <a:pPr eaLnBrk="1" hangingPunct="1">
              <a:buFontTx/>
              <a:buNone/>
              <a:defRPr/>
            </a:pPr>
            <a:r>
              <a:rPr lang="en-US" sz="20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split_output</a:t>
            </a:r>
            <a:r>
              <a:rPr lang="en-US" sz="20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  <a:endParaRPr lang="en-US" sz="20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0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0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('D:/data/</a:t>
            </a:r>
            <a:r>
              <a:rPr lang="en-US" sz="20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</a:t>
            </a:r>
            <a:r>
              <a:rPr lang="en-US" sz="20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', '.</a:t>
            </a:r>
            <a:r>
              <a:rPr lang="en-US" sz="20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shp</a:t>
            </a:r>
            <a:r>
              <a:rPr lang="en-US" sz="20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')</a:t>
            </a:r>
            <a:endParaRPr lang="en-US" sz="16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ea typeface="ＭＳ Ｐゴシック" pitchFamily="34" charset="-128"/>
            </a:endParaRPr>
          </a:p>
          <a:p>
            <a:pPr eaLnBrk="1" hangingPunct="1">
              <a:buNone/>
              <a:defRPr/>
            </a:pPr>
            <a:r>
              <a:rPr lang="en-US" sz="1800" dirty="0" err="1">
                <a:ea typeface="ＭＳ Ｐゴシック" pitchFamily="34" charset="-128"/>
                <a:cs typeface="Courier New" panose="02070309020205020404" pitchFamily="49" charset="0"/>
              </a:rPr>
              <a:t>os.path.splitext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(p) splits the stem and extension apart and returns them in a tuple.</a:t>
            </a:r>
          </a:p>
          <a:p>
            <a:pPr eaLnBrk="1" hangingPunct="1">
              <a:buNone/>
              <a:defRPr/>
            </a:pPr>
            <a:endParaRPr lang="en-US" sz="18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To get the stem, use index 0</a:t>
            </a:r>
          </a:p>
          <a:p>
            <a:pPr eaLnBrk="1" hangingPunct="1">
              <a:buNone/>
              <a:defRPr/>
            </a:pP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&gt;&gt;&gt;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split_output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[0]</a:t>
            </a:r>
          </a:p>
          <a:p>
            <a:pPr eaLnBrk="1" hangingPunct="1">
              <a:buNone/>
              <a:defRPr/>
            </a:pP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'D:/data/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DelWaterGap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</a:p>
          <a:p>
            <a:pPr eaLnBrk="1" hangingPunct="1">
              <a:buNone/>
              <a:defRPr/>
            </a:pPr>
            <a:endParaRPr lang="en-US" sz="1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To get the extension, use index 1</a:t>
            </a:r>
            <a:r>
              <a:rPr lang="en-US" sz="14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marL="0" indent="0">
              <a:buFontTx/>
              <a:buNone/>
              <a:defRPr/>
            </a:pP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&gt;&gt;&gt;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split_output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[1]</a:t>
            </a:r>
          </a:p>
          <a:p>
            <a:pPr marL="0" indent="0">
              <a:buFontTx/>
              <a:buNone/>
              <a:defRPr/>
            </a:pP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'.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shp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buFontTx/>
              <a:buNone/>
              <a:defRPr/>
            </a:pPr>
            <a:endParaRPr lang="en-US" sz="2000" i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B2F-7D93-DB50-0A72-A97017F3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Answering question 2…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8731-D7DE-2214-00BE-F1A174AF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200" dirty="0" err="1">
                <a:latin typeface="JcvnkkCfvqxxCourierNewPSMT"/>
              </a:rPr>
              <a:t>myRast</a:t>
            </a:r>
            <a:r>
              <a:rPr lang="en-US" altLang="en-US" sz="3200" dirty="0">
                <a:latin typeface="JcvnkkCfvqxxCourierNewPSMT"/>
              </a:rPr>
              <a:t> = sys.argv[1]</a:t>
            </a:r>
          </a:p>
          <a:p>
            <a:pPr marL="0" indent="0">
              <a:buNone/>
            </a:pPr>
            <a:r>
              <a:rPr lang="en-US" altLang="en-US" dirty="0">
                <a:latin typeface="JcvnkkCfvqxxCourierNewPSMT"/>
              </a:rPr>
              <a:t>print(</a:t>
            </a:r>
            <a:r>
              <a:rPr lang="en-US" altLang="en-US" dirty="0" err="1">
                <a:latin typeface="JcvnkkCfvqxxCourierNewPSMT"/>
              </a:rPr>
              <a:t>myRast</a:t>
            </a:r>
            <a:r>
              <a:rPr lang="en-US" altLang="en-US" dirty="0">
                <a:latin typeface="JcvnkkCfvqxxCourierNewPSMT"/>
              </a:rPr>
              <a:t>)</a:t>
            </a:r>
          </a:p>
          <a:p>
            <a:pPr marL="0" indent="0">
              <a:buNone/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C:/African Elephant/</a:t>
            </a:r>
            <a:r>
              <a:rPr lang="en-US" altLang="en-US" sz="3200" dirty="0" err="1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rasters</a:t>
            </a: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latin typeface="JcvnkkCfvqxxCourierNewPSMT"/>
              </a:rPr>
              <a:t>/2020.tif</a:t>
            </a: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  <a:p>
            <a:pPr marL="0" indent="0">
              <a:buNone/>
            </a:pPr>
            <a:r>
              <a:rPr lang="en-US" dirty="0">
                <a:latin typeface="JcvnkkCfvqxxCourierNewPSMT"/>
              </a:rPr>
              <a:t>2) Suppose you want to get the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name of the file without the ".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tif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JcvnkkCfvqxxCourierNewPSMT"/>
              </a:rPr>
              <a:t>" extension</a:t>
            </a:r>
            <a:r>
              <a:rPr lang="en-US" dirty="0">
                <a:latin typeface="JcvnkkCfvqxxCourierNewPSMT"/>
              </a:rPr>
              <a:t>, to use as your map name.</a:t>
            </a:r>
          </a:p>
          <a:p>
            <a:pPr eaLnBrk="1" hangingPunct="1">
              <a:buFontTx/>
              <a:buNone/>
              <a:defRPr/>
            </a:pPr>
            <a:r>
              <a:rPr lang="en-US" sz="18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18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</a:t>
            </a:r>
            <a:r>
              <a:rPr lang="en-US" altLang="ja-JP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  <a:r>
              <a:rPr lang="en-US" altLang="en-US" sz="1800" dirty="0">
                <a:latin typeface="JcvnkkCfvqxxCourierNewPSMT"/>
              </a:rPr>
              <a:t>C:/African Elephant/</a:t>
            </a:r>
            <a:r>
              <a:rPr lang="en-US" altLang="en-US" sz="1800" dirty="0" err="1">
                <a:latin typeface="JcvnkkCfvqxxCourierNewPSMT"/>
              </a:rPr>
              <a:t>rasters</a:t>
            </a:r>
            <a:r>
              <a:rPr lang="en-US" altLang="en-US" sz="1800" dirty="0">
                <a:latin typeface="JcvnkkCfvqxxCourierNewPSMT"/>
              </a:rPr>
              <a:t>/2020.tif</a:t>
            </a:r>
            <a:r>
              <a:rPr lang="en-US" altLang="ja-JP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</a:p>
          <a:p>
            <a:pPr eaLnBrk="1" hangingPunct="1">
              <a:buFontTx/>
              <a:buNone/>
              <a:defRPr/>
            </a:pP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os.path.basename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base_stem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os.path.splitext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the_basename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)[0]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mapName</a:t>
            </a:r>
            <a:r>
              <a:rPr lang="en-US" sz="18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base_stem</a:t>
            </a:r>
            <a:endParaRPr lang="en-US" sz="18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JcvnkkCfvqxxCourierNewPSMT"/>
            </a:endParaRPr>
          </a:p>
        </p:txBody>
      </p:sp>
    </p:spTree>
    <p:extLst>
      <p:ext uri="{BB962C8B-B14F-4D97-AF65-F5344CB8AC3E}">
        <p14:creationId xmlns:p14="http://schemas.microsoft.com/office/powerpoint/2010/main" val="4577356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Checking if a file or path exists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 = "C:\gispy\data\ch02\park.shp"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response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os.path.exists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print(response)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True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os.path.exists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(p) returns a Boolean (True or False) depending on the existence of p.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364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Joining path parts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p = </a:t>
            </a:r>
            <a:r>
              <a:rPr lang="en-US" altLang="ja-JP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"D:/data/DelWaterGap.shp"</a:t>
            </a:r>
          </a:p>
          <a:p>
            <a:pPr eaLnBrk="1" hangingPunct="1">
              <a:buFontTx/>
              <a:buNone/>
              <a:defRPr/>
            </a:pPr>
            <a:r>
              <a:rPr lang="en-US" altLang="ja-JP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os.path.exists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</a:t>
            </a:r>
          </a:p>
          <a:p>
            <a:pPr eaLnBrk="1" hangingPunct="1"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True</a:t>
            </a:r>
            <a:endParaRPr lang="en-US" altLang="ja-JP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os.path.dirname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 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'D:/data'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os.path.basename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(p)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DelWaterGap.shp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os.path.exists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 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False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'D:/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dataDelWaterGap.shp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  <a:b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fullPathFileName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os.path.join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the_basename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fullPathFileName</a:t>
            </a:r>
            <a:endParaRPr lang="en-US" sz="16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'D:/data\\</a:t>
            </a:r>
            <a:r>
              <a:rPr lang="en-US" sz="16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DelWaterGap.shp</a:t>
            </a: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</a:p>
          <a:p>
            <a:pPr eaLnBrk="1" hangingPunct="1">
              <a:buFontTx/>
              <a:buNone/>
              <a:defRPr/>
            </a:pP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os.path.exists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fullPathFileName</a:t>
            </a:r>
            <a:r>
              <a:rPr lang="en-US" sz="16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  <a:endParaRPr lang="en-US" sz="1600" dirty="0">
              <a:ea typeface="ＭＳ Ｐゴシック" pitchFamily="34" charset="-128"/>
            </a:endParaRPr>
          </a:p>
          <a:p>
            <a:pPr eaLnBrk="1" hangingPunct="1">
              <a:buNone/>
              <a:defRPr/>
            </a:pPr>
            <a:r>
              <a:rPr lang="en-US" sz="16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True</a:t>
            </a: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6681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Joining path parts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"C:\gispy\data\ch02"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fullPath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os.path.join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theDir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fullPath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'C:\\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gispy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\\data\\ch02\\</a:t>
            </a:r>
            <a:r>
              <a:rPr lang="en-US" sz="2400" dirty="0" err="1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</a:p>
          <a:p>
            <a:pPr eaLnBrk="1" hangingPunct="1">
              <a:buNone/>
              <a:defRPr/>
            </a:pPr>
            <a:endParaRPr lang="en-US" sz="24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os.path.join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(part1, part2, part3, part4) creates a file path with part1 through part4 delimited by slashes)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None/>
              <a:defRPr/>
            </a:pPr>
            <a:endParaRPr lang="en-US" sz="1800" dirty="0"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Does not allow multiple drives in the path.  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43593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How large is the file?</a:t>
            </a:r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"C:\gispy\data\ch02\park.shp"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response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os.path.getsize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print(response)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solidFill>
                  <a:srgbClr val="009999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218808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ea typeface="ＭＳ Ｐゴシック" pitchFamily="34" charset="-128"/>
                <a:cs typeface="Courier New" panose="02070309020205020404" pitchFamily="49" charset="0"/>
              </a:rPr>
              <a:t>os.path.getsize</a:t>
            </a:r>
            <a:r>
              <a:rPr lang="en-US" sz="2400" dirty="0">
                <a:ea typeface="ＭＳ Ｐゴシック" pitchFamily="34" charset="-128"/>
                <a:cs typeface="Courier New" panose="02070309020205020404" pitchFamily="49" charset="0"/>
              </a:rPr>
              <a:t>(p) returns the file size in bytes.</a:t>
            </a:r>
            <a:r>
              <a:rPr lang="en-US" sz="18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9960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B9B54-F178-441E-9018-933443142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os.path.basename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os.path.dirname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os.path.splitext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os.path.join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os.listdir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os.path.exists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os.path.getsize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os.path.getmtime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281D4-8EE7-6CE5-BE0F-55D2378ED120}"/>
              </a:ext>
            </a:extLst>
          </p:cNvPr>
          <p:cNvSpPr/>
          <p:nvPr/>
        </p:nvSpPr>
        <p:spPr bwMode="auto">
          <a:xfrm>
            <a:off x="152400" y="914400"/>
            <a:ext cx="3810000" cy="243840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D83686-D327-5594-0FDD-75C478F6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methods look at files?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63D65-A7FB-3802-4210-25CAB8D81F88}"/>
              </a:ext>
            </a:extLst>
          </p:cNvPr>
          <p:cNvSpPr txBox="1"/>
          <p:nvPr/>
        </p:nvSpPr>
        <p:spPr>
          <a:xfrm>
            <a:off x="4038600" y="1600200"/>
            <a:ext cx="32752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string operations.</a:t>
            </a:r>
          </a:p>
          <a:p>
            <a:endParaRPr lang="en-US" dirty="0"/>
          </a:p>
          <a:p>
            <a:r>
              <a:rPr lang="en-US" dirty="0"/>
              <a:t>These do </a:t>
            </a:r>
            <a:r>
              <a:rPr lang="en-US" b="1" dirty="0"/>
              <a:t>not</a:t>
            </a:r>
            <a:r>
              <a:rPr lang="en-US" dirty="0"/>
              <a:t> look at the data.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8C0B7-7A3E-02EE-BA5C-A005A3201240}"/>
              </a:ext>
            </a:extLst>
          </p:cNvPr>
          <p:cNvSpPr/>
          <p:nvPr/>
        </p:nvSpPr>
        <p:spPr bwMode="auto">
          <a:xfrm>
            <a:off x="152400" y="3886200"/>
            <a:ext cx="3810000" cy="24384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54CFA-29D0-F6A0-1DDE-7A3CA61C6ED5}"/>
              </a:ext>
            </a:extLst>
          </p:cNvPr>
          <p:cNvSpPr txBox="1"/>
          <p:nvPr/>
        </p:nvSpPr>
        <p:spPr>
          <a:xfrm>
            <a:off x="4152900" y="4495800"/>
            <a:ext cx="30572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More than string operations.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US" b="1" dirty="0"/>
              <a:t>do</a:t>
            </a:r>
            <a:r>
              <a:rPr lang="en-US" dirty="0"/>
              <a:t> look at the data.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5A88CABC-97FA-ECA9-BC88-979FFF5B3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6412468"/>
            <a:ext cx="28007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hlinkClick r:id="rId2"/>
              </a:rPr>
              <a:t>Python Reference Library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43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6A0CC029-FEC9-AE8A-F6B3-DD9FE384F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 err="1"/>
              <a:t>os</a:t>
            </a:r>
            <a:r>
              <a:rPr lang="en-US" altLang="en-US" sz="3600" dirty="0"/>
              <a:t> does not use </a:t>
            </a:r>
            <a:r>
              <a:rPr lang="en-US" altLang="en-US" sz="3600" dirty="0" err="1"/>
              <a:t>arcpy.env.workspace</a:t>
            </a:r>
            <a:endParaRPr lang="en-US" altLang="en-US" sz="3600" dirty="0"/>
          </a:p>
        </p:txBody>
      </p:sp>
      <p:sp>
        <p:nvSpPr>
          <p:cNvPr id="248835" name="Rectangle 3">
            <a:extLst>
              <a:ext uri="{FF2B5EF4-FFF2-40B4-BE49-F238E27FC236}">
                <a16:creationId xmlns:a16="http://schemas.microsoft.com/office/drawing/2014/main" id="{4B647ACB-0F8C-37CF-09F8-B429939A75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534400" cy="5410200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import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arcpy,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endParaRPr lang="en-US" sz="2400" i="1" dirty="0">
              <a:solidFill>
                <a:srgbClr val="0099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arcpy.env.workspace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"C:/gispy/data/ch02/"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= "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"</a:t>
            </a:r>
            <a:r>
              <a:rPr lang="en-US" sz="2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response = 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os.path.getsize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theFile</a:t>
            </a: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) </a:t>
            </a:r>
          </a:p>
          <a:p>
            <a:pPr eaLnBrk="1" hangingPunct="1">
              <a:buFontTx/>
              <a:buNone/>
              <a:defRPr/>
            </a:pPr>
            <a:r>
              <a:rPr lang="en-US" sz="2400" dirty="0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print(response)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000" dirty="0">
                <a:ea typeface="ＭＳ Ｐゴシック" pitchFamily="34" charset="-128"/>
                <a:cs typeface="Courier New" panose="02070309020205020404" pitchFamily="49" charset="0"/>
              </a:rPr>
              <a:t>What will it print?</a:t>
            </a:r>
          </a:p>
          <a:p>
            <a:pPr eaLnBrk="1" hangingPunct="1">
              <a:buFontTx/>
              <a:buNone/>
              <a:defRPr/>
            </a:pP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FileNotFoundError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: [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WinError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 2] </a:t>
            </a:r>
          </a:p>
          <a:p>
            <a:pPr eaLnBrk="1" hangingPunct="1">
              <a:buFontTx/>
              <a:buNone/>
              <a:defRPr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The system cannot find the file specified: '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park.shp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'</a:t>
            </a:r>
          </a:p>
          <a:p>
            <a:pPr eaLnBrk="1" hangingPunct="1">
              <a:buFontTx/>
              <a:buNone/>
              <a:defRPr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r>
              <a:rPr lang="en-US" sz="2000" dirty="0" err="1">
                <a:ea typeface="ＭＳ Ｐゴシック" pitchFamily="34" charset="-128"/>
                <a:cs typeface="Courier New" panose="02070309020205020404" pitchFamily="49" charset="0"/>
              </a:rPr>
              <a:t>os</a:t>
            </a:r>
            <a:r>
              <a:rPr lang="en-US" sz="2000" dirty="0">
                <a:ea typeface="ＭＳ Ｐゴシック" pitchFamily="34" charset="-128"/>
                <a:cs typeface="Courier New" panose="02070309020205020404" pitchFamily="49" charset="0"/>
              </a:rPr>
              <a:t> methods do not use </a:t>
            </a:r>
            <a:r>
              <a:rPr lang="en-US" sz="2000" dirty="0" err="1">
                <a:ea typeface="ＭＳ Ｐゴシック" pitchFamily="34" charset="-128"/>
                <a:cs typeface="Courier New" panose="02070309020205020404" pitchFamily="49" charset="0"/>
              </a:rPr>
              <a:t>arcpy's</a:t>
            </a:r>
            <a:r>
              <a:rPr lang="en-US" sz="2000" dirty="0">
                <a:ea typeface="ＭＳ Ｐゴシック" pitchFamily="34" charset="-128"/>
                <a:cs typeface="Courier New" panose="02070309020205020404" pitchFamily="49" charset="0"/>
              </a:rPr>
              <a:t> workspace environment.</a:t>
            </a:r>
          </a:p>
          <a:p>
            <a:pPr eaLnBrk="1" hangingPunct="1">
              <a:buFontTx/>
              <a:buNone/>
              <a:defRPr/>
            </a:pPr>
            <a:r>
              <a:rPr lang="en-US" sz="2000" dirty="0">
                <a:ea typeface="ＭＳ Ｐゴシック" pitchFamily="34" charset="-128"/>
                <a:cs typeface="Courier New" panose="02070309020205020404" pitchFamily="49" charset="0"/>
              </a:rPr>
              <a:t>Provide the full path.</a:t>
            </a:r>
            <a:r>
              <a:rPr lang="en-US" sz="1600" dirty="0">
                <a:ea typeface="ＭＳ Ｐゴシック" pitchFamily="34" charset="-128"/>
                <a:cs typeface="Courier New" panose="02070309020205020404" pitchFamily="49" charset="0"/>
              </a:rPr>
              <a:t> </a:t>
            </a:r>
          </a:p>
          <a:p>
            <a:pPr eaLnBrk="1" hangingPunct="1">
              <a:buFontTx/>
              <a:buNone/>
              <a:defRPr/>
            </a:pPr>
            <a:endParaRPr lang="en-US" sz="2400" dirty="0"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1800" dirty="0">
              <a:solidFill>
                <a:srgbClr val="009999"/>
              </a:solidFill>
              <a:latin typeface="Consolas" panose="020B06090202040302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  <a:p>
            <a:pPr eaLnBrk="1" hangingPunct="1">
              <a:buFontTx/>
              <a:buNone/>
              <a:defRPr/>
            </a:pPr>
            <a:endParaRPr lang="en-US" sz="2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5827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>
            <a:extLst>
              <a:ext uri="{FF2B5EF4-FFF2-40B4-BE49-F238E27FC236}">
                <a16:creationId xmlns:a16="http://schemas.microsoft.com/office/drawing/2014/main" id="{8B236FC9-AC66-1961-93FD-570D5635D9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200"/>
              <a:t>In class – List the files in my dir</a:t>
            </a:r>
          </a:p>
        </p:txBody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DA03FDD2-2ED2-1A64-C481-665156BFC9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914400"/>
            <a:ext cx="8534400" cy="5943600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  <a:defRPr/>
            </a:pPr>
            <a:r>
              <a:rPr lang="en-US" sz="2800" dirty="0">
                <a:ea typeface="ＭＳ Ｐゴシック" pitchFamily="34" charset="-128"/>
              </a:rPr>
              <a:t>Goal: Print a list of the files in the same directory as the script (wherever you place it).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>
              <a:ea typeface="ＭＳ Ｐゴシック" pitchFamily="34" charset="-128"/>
            </a:endParaRPr>
          </a:p>
          <a:p>
            <a:pPr marL="0" indent="0" eaLnBrk="1" hangingPunct="1">
              <a:lnSpc>
                <a:spcPct val="90000"/>
              </a:lnSpc>
              <a:buNone/>
              <a:defRPr/>
            </a:pPr>
            <a:r>
              <a:rPr lang="en-US" sz="2800" dirty="0">
                <a:ea typeface="ＭＳ Ｐゴシック" pitchFamily="34" charset="-128"/>
              </a:rPr>
              <a:t>Suggest steps:</a:t>
            </a:r>
          </a:p>
          <a:p>
            <a:pPr marL="514350" indent="-514350" eaLnBrk="1" hangingPunct="1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>
                <a:ea typeface="ＭＳ Ｐゴシック" pitchFamily="34" charset="-128"/>
              </a:rPr>
              <a:t>Use </a:t>
            </a:r>
            <a:r>
              <a:rPr lang="en-US" sz="2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sys.argv</a:t>
            </a:r>
            <a:r>
              <a:rPr lang="en-US" sz="2800" dirty="0">
                <a:latin typeface="Consolas" panose="020B0609020204030204" pitchFamily="49" charset="0"/>
                <a:ea typeface="ＭＳ Ｐゴシック" pitchFamily="34" charset="-128"/>
              </a:rPr>
              <a:t> </a:t>
            </a:r>
            <a:r>
              <a:rPr lang="en-US" sz="2800" dirty="0">
                <a:ea typeface="ＭＳ Ｐゴシック" pitchFamily="34" charset="-128"/>
              </a:rPr>
              <a:t>to get the full script path.</a:t>
            </a:r>
          </a:p>
          <a:p>
            <a:pPr marL="514350" indent="-514350" eaLnBrk="1" hangingPunct="1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>
                <a:ea typeface="ＭＳ Ｐゴシック" pitchFamily="34" charset="-128"/>
              </a:rPr>
              <a:t>Use </a:t>
            </a:r>
            <a:r>
              <a:rPr lang="en-US" sz="2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os.path.dirname</a:t>
            </a:r>
            <a:r>
              <a:rPr lang="en-US" sz="2800" dirty="0">
                <a:latin typeface="Consolas" panose="020B0609020204030204" pitchFamily="49" charset="0"/>
                <a:ea typeface="ＭＳ Ｐゴシック" pitchFamily="34" charset="-128"/>
              </a:rPr>
              <a:t> </a:t>
            </a:r>
            <a:r>
              <a:rPr lang="en-US" sz="2800" dirty="0">
                <a:ea typeface="ＭＳ Ｐゴシック" pitchFamily="34" charset="-128"/>
              </a:rPr>
              <a:t>to get the directory where the script resides.</a:t>
            </a:r>
          </a:p>
          <a:p>
            <a:pPr marL="514350" indent="-514350" eaLnBrk="1" hangingPunct="1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>
                <a:ea typeface="ＭＳ Ｐゴシック" pitchFamily="34" charset="-128"/>
              </a:rPr>
              <a:t>Use </a:t>
            </a:r>
            <a:r>
              <a:rPr lang="en-US" sz="2800" dirty="0" err="1">
                <a:latin typeface="Consolas" panose="020B0609020204030204" pitchFamily="49" charset="0"/>
                <a:ea typeface="ＭＳ Ｐゴシック" pitchFamily="34" charset="-128"/>
                <a:cs typeface="Courier New" panose="02070309020205020404" pitchFamily="49" charset="0"/>
              </a:rPr>
              <a:t>os.listdir</a:t>
            </a:r>
            <a:r>
              <a:rPr lang="en-US" sz="2800" dirty="0">
                <a:latin typeface="Consolas" panose="020B0609020204030204" pitchFamily="49" charset="0"/>
                <a:ea typeface="ＭＳ Ｐゴシック" pitchFamily="34" charset="-128"/>
              </a:rPr>
              <a:t> </a:t>
            </a:r>
            <a:r>
              <a:rPr lang="en-US" sz="2800" dirty="0">
                <a:ea typeface="ＭＳ Ｐゴシック" pitchFamily="34" charset="-128"/>
              </a:rPr>
              <a:t>to get a list of the files in the directory.</a:t>
            </a:r>
            <a:endParaRPr lang="en-US" sz="2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AF960D14-2B31-9676-D6B4-45638A7AC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Summing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79747-F46B-7B2C-7432-DDB213E7A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US" sz="2800" dirty="0">
                <a:ea typeface="ＭＳ Ｐゴシック" charset="0"/>
              </a:rPr>
              <a:t>Topics discussed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User input for flexibility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Hard vs. soft-coding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sys.argv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sys.argv[0] and script path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Avoid single quotes for </a:t>
            </a:r>
            <a:r>
              <a:rPr lang="en-US" sz="2000" dirty="0" err="1">
                <a:ea typeface="ＭＳ Ｐゴシック" charset="0"/>
              </a:rPr>
              <a:t>args</a:t>
            </a:r>
            <a:endParaRPr lang="en-US" sz="2000" dirty="0">
              <a:ea typeface="ＭＳ Ｐゴシック" charset="0"/>
            </a:endParaRPr>
          </a:p>
          <a:p>
            <a:pPr marL="857250" lvl="2" indent="0" eaLnBrk="1" hangingPunct="1">
              <a:buNone/>
              <a:defRPr/>
            </a:pPr>
            <a:r>
              <a:rPr lang="en-US" sz="2000" dirty="0" err="1">
                <a:ea typeface="ＭＳ Ｐゴシック" charset="0"/>
              </a:rPr>
              <a:t>os.path</a:t>
            </a:r>
            <a:r>
              <a:rPr lang="en-US" sz="2000" dirty="0">
                <a:ea typeface="ＭＳ Ｐゴシック" charset="0"/>
              </a:rPr>
              <a:t> –string operations vs. file-dependent operations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Use the full path when working with the file-dependent ones</a:t>
            </a:r>
          </a:p>
          <a:p>
            <a:pPr marL="857250" lvl="2" indent="0" eaLnBrk="1" hangingPunct="1">
              <a:buNone/>
              <a:defRPr/>
            </a:pPr>
            <a:r>
              <a:rPr lang="en-US" sz="2000" dirty="0">
                <a:ea typeface="ＭＳ Ｐゴシック" charset="0"/>
              </a:rPr>
              <a:t>E.g. </a:t>
            </a:r>
            <a:r>
              <a:rPr lang="en-US" sz="2000" dirty="0" err="1">
                <a:ea typeface="ＭＳ Ｐゴシック" charset="0"/>
              </a:rPr>
              <a:t>os.listdir</a:t>
            </a:r>
            <a:r>
              <a:rPr lang="en-US" sz="2000" dirty="0">
                <a:ea typeface="ＭＳ Ｐゴシック" charset="0"/>
              </a:rPr>
              <a:t> which is very useful </a:t>
            </a:r>
          </a:p>
          <a:p>
            <a:pPr marL="857250" lvl="2" indent="0" eaLnBrk="1" hangingPunct="1">
              <a:buNone/>
              <a:defRPr/>
            </a:pPr>
            <a:endParaRPr lang="en-US" sz="2000" dirty="0">
              <a:ea typeface="ＭＳ Ｐゴシック" charset="0"/>
            </a:endParaRPr>
          </a:p>
          <a:p>
            <a:pPr marL="857250" lvl="2" indent="0" eaLnBrk="1" hangingPunct="1">
              <a:buNone/>
              <a:defRPr/>
            </a:pPr>
            <a:endParaRPr lang="en-US" sz="2000" dirty="0">
              <a:ea typeface="ＭＳ Ｐゴシック" charset="0"/>
            </a:endParaRPr>
          </a:p>
          <a:p>
            <a:pPr marL="0" indent="0">
              <a:buFontTx/>
              <a:buNone/>
              <a:defRPr/>
            </a:pPr>
            <a:endParaRPr lang="en-US" sz="2800" dirty="0"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7">
            <a:extLst>
              <a:ext uri="{FF2B5EF4-FFF2-40B4-BE49-F238E27FC236}">
                <a16:creationId xmlns:a16="http://schemas.microsoft.com/office/drawing/2014/main" id="{317753B8-62E8-F467-E4F1-6258828B7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757238"/>
            <a:ext cx="3810000" cy="2514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rgbClr val="FF0066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4580" name="Rectangle 4">
            <a:extLst>
              <a:ext uri="{FF2B5EF4-FFF2-40B4-BE49-F238E27FC236}">
                <a16:creationId xmlns:a16="http://schemas.microsoft.com/office/drawing/2014/main" id="{F5FD24FE-E5CA-665C-DE99-A1A346158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066800"/>
            <a:ext cx="25908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rgbClr val="FF0066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11269" name="Rectangle 2">
            <a:extLst>
              <a:ext uri="{FF2B5EF4-FFF2-40B4-BE49-F238E27FC236}">
                <a16:creationId xmlns:a16="http://schemas.microsoft.com/office/drawing/2014/main" id="{C7E5B09A-0F6C-FBC7-A19C-54D1402AE2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Insufficient </a:t>
            </a:r>
            <a:r>
              <a:rPr lang="en-US" altLang="en-US" sz="3600" dirty="0" err="1"/>
              <a:t>args</a:t>
            </a:r>
            <a:r>
              <a:rPr lang="en-US" altLang="en-US" sz="3600" dirty="0"/>
              <a:t> yields </a:t>
            </a:r>
            <a:r>
              <a:rPr lang="en-US" altLang="en-US" sz="3600" dirty="0" err="1"/>
              <a:t>IndexError</a:t>
            </a:r>
            <a:endParaRPr lang="en-US" altLang="en-US" sz="3600" dirty="0"/>
          </a:p>
        </p:txBody>
      </p:sp>
      <p:sp>
        <p:nvSpPr>
          <p:cNvPr id="24582" name="Rectangle 3">
            <a:extLst>
              <a:ext uri="{FF2B5EF4-FFF2-40B4-BE49-F238E27FC236}">
                <a16:creationId xmlns:a16="http://schemas.microsoft.com/office/drawing/2014/main" id="{65075D2B-41FE-483B-6EF2-E7052F7C5A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14400"/>
            <a:ext cx="8686800" cy="5943600"/>
          </a:xfrm>
        </p:spPr>
        <p:txBody>
          <a:bodyPr/>
          <a:lstStyle/>
          <a:p>
            <a:pPr marL="0" lvl="0" indent="0">
              <a:buNone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import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import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sys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arcpy.env.overwriteOutput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True</a:t>
            </a: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arcpy.env.workspace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1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</a:p>
          <a:p>
            <a:pPr marL="0" indent="0">
              <a:buNone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outDir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2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# Set input values.</a:t>
            </a:r>
            <a:b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fireDamage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3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</a:b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bufferDist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 = sys.argv[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4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</a:t>
            </a:r>
          </a:p>
          <a:p>
            <a:pPr marL="0" indent="0"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park = sys.argv[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5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MS PGothic" panose="020B0600070205080204" pitchFamily="34" charset="-128"/>
              </a:rPr>
              <a:t>] </a:t>
            </a:r>
            <a:r>
              <a:rPr lang="en-US" sz="2000" dirty="0">
                <a:ea typeface="ＭＳ Ｐゴシック" pitchFamily="34" charset="-128"/>
              </a:rPr>
              <a:t>…</a:t>
            </a:r>
          </a:p>
          <a:p>
            <a:pPr eaLnBrk="1" hangingPunct="1">
              <a:lnSpc>
                <a:spcPct val="80000"/>
              </a:lnSpc>
              <a:defRPr/>
            </a:pPr>
            <a:endParaRPr lang="en-US" sz="2000" dirty="0">
              <a:ea typeface="ＭＳ Ｐゴシック" pitchFamily="34" charset="-128"/>
            </a:endParaRPr>
          </a:p>
          <a:p>
            <a:pPr marL="0" indent="0" eaLnBrk="1" hangingPunct="1">
              <a:lnSpc>
                <a:spcPct val="80000"/>
              </a:lnSpc>
              <a:buNone/>
              <a:defRPr/>
            </a:pPr>
            <a:r>
              <a:rPr lang="en-US" sz="2000" dirty="0">
                <a:ea typeface="ＭＳ Ｐゴシック" pitchFamily="34" charset="-128"/>
              </a:rPr>
              <a:t>If user does not enter enough arguments, an </a:t>
            </a:r>
            <a:r>
              <a:rPr lang="en-US" sz="2000" i="1" dirty="0" err="1">
                <a:ea typeface="ＭＳ Ｐゴシック" pitchFamily="34" charset="-128"/>
              </a:rPr>
              <a:t>IndexError</a:t>
            </a:r>
            <a:r>
              <a:rPr lang="en-US" sz="2000" i="1" dirty="0">
                <a:ea typeface="ＭＳ Ｐゴシック" pitchFamily="34" charset="-128"/>
              </a:rPr>
              <a:t> exception</a:t>
            </a:r>
            <a:r>
              <a:rPr lang="en-US" sz="2000" dirty="0">
                <a:ea typeface="ＭＳ Ｐゴシック" pitchFamily="34" charset="-128"/>
              </a:rPr>
              <a:t> is thrown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Traceback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(most recent call last):  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…  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File "C:\Documents\buffer_clip.py", line 5, in ?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arcpy.env.workspace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 = sys.argv[1]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IndexError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: list index out of range</a:t>
            </a:r>
            <a:b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endParaRPr lang="en-US" sz="1600" dirty="0">
              <a:solidFill>
                <a:srgbClr val="FF0000"/>
              </a:solidFill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print(sys.argv)</a:t>
            </a:r>
            <a:br>
              <a:rPr lang="en-US" sz="1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r>
              <a:rPr lang="en-US" sz="1400" dirty="0">
                <a:solidFill>
                  <a:srgbClr val="009999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['C:\\My Documents\\buffer_clip.py']</a:t>
            </a: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endParaRPr lang="en-US" sz="1400" dirty="0">
              <a:solidFill>
                <a:srgbClr val="009999"/>
              </a:solidFill>
              <a:latin typeface="Courier New" panose="02070309020205020404" pitchFamily="49" charset="0"/>
              <a:ea typeface="ＭＳ Ｐゴシック" pitchFamily="34" charset="-128"/>
              <a:cs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  <a:buFontTx/>
              <a:buNone/>
              <a:defRPr/>
            </a:pPr>
            <a:r>
              <a:rPr lang="en-US" sz="1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&gt;&gt;&gt; print(sys.argv[0])</a:t>
            </a:r>
            <a:br>
              <a:rPr lang="en-US" sz="1400" dirty="0"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</a:br>
            <a:r>
              <a:rPr lang="en-US" sz="1400" dirty="0">
                <a:solidFill>
                  <a:srgbClr val="009999"/>
                </a:solidFill>
                <a:latin typeface="Courier New" panose="02070309020205020404" pitchFamily="49" charset="0"/>
                <a:ea typeface="ＭＳ Ｐゴシック" pitchFamily="34" charset="-128"/>
                <a:cs typeface="Courier New" panose="02070309020205020404" pitchFamily="49" charset="0"/>
              </a:rPr>
              <a:t>'C:\\My Documents\\buffer_clip.py'</a:t>
            </a:r>
          </a:p>
          <a:p>
            <a:pPr eaLnBrk="1" hangingPunct="1">
              <a:lnSpc>
                <a:spcPct val="80000"/>
              </a:lnSpc>
              <a:defRPr/>
            </a:pPr>
            <a:endParaRPr lang="en-US" sz="1800" dirty="0">
              <a:solidFill>
                <a:srgbClr val="009999"/>
              </a:solidFill>
              <a:ea typeface="ＭＳ Ｐゴシック" pitchFamily="34" charset="-128"/>
            </a:endParaRP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endParaRPr lang="en-US" sz="1800" i="1" dirty="0">
              <a:solidFill>
                <a:srgbClr val="009900"/>
              </a:solidFill>
              <a:ea typeface="ＭＳ Ｐゴシック" pitchFamily="34" charset="-128"/>
            </a:endParaRPr>
          </a:p>
        </p:txBody>
      </p:sp>
      <p:pic>
        <p:nvPicPr>
          <p:cNvPr id="24583" name="Picture 6">
            <a:extLst>
              <a:ext uri="{FF2B5EF4-FFF2-40B4-BE49-F238E27FC236}">
                <a16:creationId xmlns:a16="http://schemas.microsoft.com/office/drawing/2014/main" id="{EBD2E49A-04F4-1C3A-13F6-5F7C7CACF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19600" y="990600"/>
            <a:ext cx="364807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FF0066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AB3AF9D6-B59D-D792-9797-BD69A1291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52400"/>
            <a:ext cx="8458200" cy="457200"/>
          </a:xfrm>
        </p:spPr>
        <p:txBody>
          <a:bodyPr/>
          <a:lstStyle/>
          <a:p>
            <a:r>
              <a:rPr lang="en-US" altLang="en-US" sz="2800" dirty="0"/>
              <a:t>Get script arguments with </a:t>
            </a:r>
            <a:r>
              <a:rPr lang="en-US" altLang="en-US" sz="2800" dirty="0" err="1"/>
              <a:t>GetParameterAsText</a:t>
            </a:r>
            <a:endParaRPr lang="en-US" alt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144EF-6CDB-677A-311A-86B18D4C5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boundingGeomV2.py (soft-coded using </a:t>
            </a:r>
            <a:r>
              <a:rPr lang="en-US" sz="1800" i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</a:t>
            </a: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</a:t>
            </a:r>
            <a:b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Purpose: Find the minimum bounding geometry </a:t>
            </a:r>
          </a:p>
          <a:p>
            <a:pPr marL="0" indent="0">
              <a:buFontTx/>
              <a:buNone/>
              <a:defRPr/>
            </a:pP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         of a set of features.</a:t>
            </a:r>
            <a:b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Usage: workspace, </a:t>
            </a:r>
            <a:r>
              <a:rPr lang="en-US" sz="1800" i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input_features</a:t>
            </a: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, </a:t>
            </a:r>
            <a:r>
              <a:rPr lang="en-US" sz="1800" i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output_features</a:t>
            </a:r>
            <a:b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Example: C:/gispy/data/07 </a:t>
            </a:r>
            <a:r>
              <a:rPr lang="en-US" sz="1800" i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park.shp</a:t>
            </a:r>
            <a:r>
              <a:rPr lang="en-US" sz="1800" i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</a:t>
            </a:r>
            <a:r>
              <a:rPr lang="en-US" sz="1800" i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boundingBoxes.shp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import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</a:t>
            </a:r>
            <a:endParaRPr lang="en-US" sz="1800" dirty="0">
              <a:latin typeface="Courier New" panose="02070309020205020404" pitchFamily="49" charset="0"/>
              <a:ea typeface="ＭＳ Ｐゴシック" charset="0"/>
              <a:cs typeface="Courier New" panose="02070309020205020404" pitchFamily="49" charset="0"/>
            </a:endParaRPr>
          </a:p>
          <a:p>
            <a:pPr marL="0" indent="0">
              <a:buFontTx/>
              <a:buNone/>
              <a:defRPr/>
            </a:pP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arcpy.env.overwriteOutput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True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arcpy.env.workspace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</a:t>
            </a:r>
            <a:r>
              <a:rPr lang="en-US" sz="1800" b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arcpy.GetParameterAsText</a:t>
            </a:r>
            <a:r>
              <a:rPr lang="en-US" sz="1800" b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(0)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</a:t>
            </a:r>
            <a:r>
              <a:rPr lang="en-US" sz="1800" b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arcpy.GetParameterAsText</a:t>
            </a:r>
            <a:r>
              <a:rPr lang="en-US" sz="1800" b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(1)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</a:t>
            </a:r>
            <a:r>
              <a:rPr lang="en-US" sz="1800" b="1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arcpy.GetParameterAsText</a:t>
            </a:r>
            <a:r>
              <a:rPr lang="en-US" sz="1800" b="1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(2)</a:t>
            </a:r>
          </a:p>
          <a:p>
            <a:pPr marL="0" indent="0">
              <a:buFontTx/>
              <a:buNone/>
              <a:defRPr/>
            </a:pP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arcpy.MinimumBoundingGeometry_management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, \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 </a:t>
            </a:r>
          </a:p>
          <a:p>
            <a:pPr marL="0" indent="0">
              <a:buFontTx/>
              <a:buNone/>
              <a:defRPr/>
            </a:pPr>
            <a:endParaRPr lang="en-US" sz="2000" dirty="0">
              <a:ea typeface="ＭＳ Ｐゴシック" charset="0"/>
            </a:endParaRPr>
          </a:p>
        </p:txBody>
      </p:sp>
      <p:sp>
        <p:nvSpPr>
          <p:cNvPr id="15365" name="TextBox 4">
            <a:extLst>
              <a:ext uri="{FF2B5EF4-FFF2-40B4-BE49-F238E27FC236}">
                <a16:creationId xmlns:a16="http://schemas.microsoft.com/office/drawing/2014/main" id="{EF5493F7-7769-4BAD-8CB6-9AF18512A2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6172200"/>
            <a:ext cx="56943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1"/>
              <a:t>Can not be used in scripts that don’t import arcpy.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5D183993-792E-AA25-59D3-C2D753F19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Same example using sys.argv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1803B-FBED-2F05-9639-270C2E55E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boundingGeomV3.py (soft-coded using sys)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Purpose: Find the minimum bounding geometry of a set of features.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Usage: workspace,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input_features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,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output_features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# Example: C:/Temp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park.shp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boundingBoxes.shp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import arcpy, sys </a:t>
            </a:r>
          </a:p>
          <a:p>
            <a:pPr marL="0" indent="0">
              <a:buFontTx/>
              <a:buNone/>
              <a:defRPr/>
            </a:pP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arcpy.env.overwriteOutput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True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arcpy.env.workspace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sys.argv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[1]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sys.argv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[2]</a:t>
            </a:r>
            <a:b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</a:b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sys.argv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[3]</a:t>
            </a:r>
          </a:p>
          <a:p>
            <a:pPr marL="0" indent="0">
              <a:buFontTx/>
              <a:buNone/>
              <a:defRPr/>
            </a:pP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arcpy.MinimumBoundingGeometry_management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inputFeatures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, \ </a:t>
            </a:r>
            <a:r>
              <a:rPr lang="en-US" sz="1800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outputFeatures</a:t>
            </a:r>
            <a:r>
              <a:rPr lang="en-US" sz="18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 </a:t>
            </a:r>
          </a:p>
          <a:p>
            <a:pPr marL="0" indent="0">
              <a:buFontTx/>
              <a:buNone/>
              <a:defRPr/>
            </a:pPr>
            <a:endParaRPr lang="en-US" sz="2000" dirty="0">
              <a:ea typeface="ＭＳ Ｐゴシック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22E8F-31FB-5FD9-C522-EDBB7E6CC9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715000"/>
            <a:ext cx="7832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FF0000"/>
                </a:solidFill>
              </a:rPr>
              <a:t>What are the differences in this script from the arcpy.GetParam. approach?</a:t>
            </a:r>
          </a:p>
        </p:txBody>
      </p:sp>
      <p:sp>
        <p:nvSpPr>
          <p:cNvPr id="17414" name="TextBox 5">
            <a:extLst>
              <a:ext uri="{FF2B5EF4-FFF2-40B4-BE49-F238E27FC236}">
                <a16:creationId xmlns:a16="http://schemas.microsoft.com/office/drawing/2014/main" id="{2D2647F3-D582-0422-48AA-0C85F6E5B4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6172200"/>
            <a:ext cx="89011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1"/>
              <a:t>Can be used:  Good for stand-alone scripts and scripts that don’t require arcpy.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Default Design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38100" cap="flat" cmpd="sng" algn="ctr">
              <a:solidFill>
                <a:srgbClr val="FF0066"/>
              </a:solidFill>
              <a:prstDash val="solid"/>
              <a:round/>
              <a:headEnd type="none" w="med" len="med"/>
              <a:tailEnd type="triangl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rgbClr val="FF0066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45008</TotalTime>
  <Words>3526</Words>
  <Application>Microsoft Office PowerPoint</Application>
  <PresentationFormat>On-screen Show (4:3)</PresentationFormat>
  <Paragraphs>586</Paragraphs>
  <Slides>41</Slides>
  <Notes>34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ＭＳ Ｐゴシック</vt:lpstr>
      <vt:lpstr>Arial</vt:lpstr>
      <vt:lpstr>Consolas</vt:lpstr>
      <vt:lpstr>Courier New</vt:lpstr>
      <vt:lpstr>Garamond</vt:lpstr>
      <vt:lpstr>GkhjstVlqjcwCourierNewPSMT</vt:lpstr>
      <vt:lpstr>JcvnkkCfvqxxCourierNewPSMT</vt:lpstr>
      <vt:lpstr>Default Design</vt:lpstr>
      <vt:lpstr>Getting user input</vt:lpstr>
      <vt:lpstr>Hard-coding versus soft-coding</vt:lpstr>
      <vt:lpstr>Hard-coded script uses literals</vt:lpstr>
      <vt:lpstr>Remove hard-coding script</vt:lpstr>
      <vt:lpstr>Soft-coded script uses arguments</vt:lpstr>
      <vt:lpstr>sys.argv automatically populated</vt:lpstr>
      <vt:lpstr>sys.argv automatically populated</vt:lpstr>
      <vt:lpstr>Script name, first item</vt:lpstr>
      <vt:lpstr>Spacing in arguments</vt:lpstr>
      <vt:lpstr>Handling spaces in arguments</vt:lpstr>
      <vt:lpstr>Handling spaces in arguments</vt:lpstr>
      <vt:lpstr>Handling spaces in arguments</vt:lpstr>
      <vt:lpstr>Take home?</vt:lpstr>
      <vt:lpstr>You got the path, now what?</vt:lpstr>
      <vt:lpstr>PowerPoint Presentation</vt:lpstr>
      <vt:lpstr>File paths terms</vt:lpstr>
      <vt:lpstr>File paths terms</vt:lpstr>
      <vt:lpstr>File paths terms</vt:lpstr>
      <vt:lpstr>File paths terms</vt:lpstr>
      <vt:lpstr>File paths terms</vt:lpstr>
      <vt:lpstr>File paths terms</vt:lpstr>
      <vt:lpstr>Break it down</vt:lpstr>
      <vt:lpstr>Returning to our questions…</vt:lpstr>
      <vt:lpstr>Getting a directory's contents</vt:lpstr>
      <vt:lpstr>Getting the base name</vt:lpstr>
      <vt:lpstr>Getting the directory name</vt:lpstr>
      <vt:lpstr>Answering question 1…</vt:lpstr>
      <vt:lpstr>Now for question 2…</vt:lpstr>
      <vt:lpstr>Get the stem and the extention</vt:lpstr>
      <vt:lpstr>Answering question 2…</vt:lpstr>
      <vt:lpstr>Checking if a file or path exists</vt:lpstr>
      <vt:lpstr>Joining path parts</vt:lpstr>
      <vt:lpstr>Joining path parts</vt:lpstr>
      <vt:lpstr>How large is the file?</vt:lpstr>
      <vt:lpstr>Which methods look at files?</vt:lpstr>
      <vt:lpstr>os does not use arcpy.env.workspace</vt:lpstr>
      <vt:lpstr>In class – List the files in my dir</vt:lpstr>
      <vt:lpstr>Summing up</vt:lpstr>
      <vt:lpstr>Insufficient args yields IndexError</vt:lpstr>
      <vt:lpstr>Get script arguments with GetParameterAsText</vt:lpstr>
      <vt:lpstr>Same example using sys.argv</vt:lpstr>
    </vt:vector>
  </TitlesOfParts>
  <Company>San Diego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Geoprocessing using Python</dc:title>
  <dc:creator>piotr</dc:creator>
  <cp:lastModifiedBy>Laura Gray Tateosian</cp:lastModifiedBy>
  <cp:revision>327</cp:revision>
  <dcterms:created xsi:type="dcterms:W3CDTF">2004-10-22T02:24:14Z</dcterms:created>
  <dcterms:modified xsi:type="dcterms:W3CDTF">2026-02-02T17:57:20Z</dcterms:modified>
</cp:coreProperties>
</file>