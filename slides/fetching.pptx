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559" r:id="rId2"/>
    <p:sldId id="558" r:id="rId3"/>
    <p:sldId id="560" r:id="rId4"/>
    <p:sldId id="561" r:id="rId5"/>
    <p:sldId id="555" r:id="rId6"/>
    <p:sldId id="471" r:id="rId7"/>
    <p:sldId id="473" r:id="rId8"/>
    <p:sldId id="553" r:id="rId9"/>
    <p:sldId id="554" r:id="rId10"/>
    <p:sldId id="562" r:id="rId11"/>
    <p:sldId id="564" r:id="rId12"/>
    <p:sldId id="467" r:id="rId1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BFBE0"/>
    <a:srgbClr val="FAFADF"/>
    <a:srgbClr val="FF0066"/>
    <a:srgbClr val="0000FF"/>
    <a:srgbClr val="FFFFFF"/>
    <a:srgbClr val="FFF9AF"/>
    <a:srgbClr val="6699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84" autoAdjust="0"/>
    <p:restoredTop sz="94980" autoAdjust="0"/>
  </p:normalViewPr>
  <p:slideViewPr>
    <p:cSldViewPr>
      <p:cViewPr varScale="1">
        <p:scale>
          <a:sx n="84" d="100"/>
          <a:sy n="84" d="100"/>
        </p:scale>
        <p:origin x="1411" y="31"/>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20" d="100"/>
        <a:sy n="120" d="100"/>
      </p:scale>
      <p:origin x="0" y="151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Rectangle 1026">
            <a:extLst>
              <a:ext uri="{FF2B5EF4-FFF2-40B4-BE49-F238E27FC236}">
                <a16:creationId xmlns:a16="http://schemas.microsoft.com/office/drawing/2014/main" id="{8BCC640C-CA37-1846-0DDF-11F9FD7AA5B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11619" name="Rectangle 1027">
            <a:extLst>
              <a:ext uri="{FF2B5EF4-FFF2-40B4-BE49-F238E27FC236}">
                <a16:creationId xmlns:a16="http://schemas.microsoft.com/office/drawing/2014/main" id="{BB435B7D-0702-4C2A-A216-6A944D71927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1028">
            <a:extLst>
              <a:ext uri="{FF2B5EF4-FFF2-40B4-BE49-F238E27FC236}">
                <a16:creationId xmlns:a16="http://schemas.microsoft.com/office/drawing/2014/main" id="{3A62C240-5000-3F9A-6A4E-8AFBE2C817D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1" name="Rectangle 1029">
            <a:extLst>
              <a:ext uri="{FF2B5EF4-FFF2-40B4-BE49-F238E27FC236}">
                <a16:creationId xmlns:a16="http://schemas.microsoft.com/office/drawing/2014/main" id="{6B07F791-C9C2-E5A2-189A-8A81AB94739B}"/>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22" name="Rectangle 1030">
            <a:extLst>
              <a:ext uri="{FF2B5EF4-FFF2-40B4-BE49-F238E27FC236}">
                <a16:creationId xmlns:a16="http://schemas.microsoft.com/office/drawing/2014/main" id="{AFA254BB-6AD2-86F9-8EF2-DDECC63F1A5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11623" name="Rectangle 1031">
            <a:extLst>
              <a:ext uri="{FF2B5EF4-FFF2-40B4-BE49-F238E27FC236}">
                <a16:creationId xmlns:a16="http://schemas.microsoft.com/office/drawing/2014/main" id="{297F0221-EBD3-89A8-6E2B-3DE7AE13B41F}"/>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EB0E405-A977-4700-8D41-3AC481D0463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214A5-9595-1A29-ADDF-224C45A8FC8A}"/>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28BD509B-DF39-B656-794C-9D1AB970CDE6}"/>
              </a:ext>
            </a:extLst>
          </p:cNvPr>
          <p:cNvSpPr>
            <a:spLocks noGrp="1" noRot="1" noChangeAspect="1" noTextEdit="1"/>
          </p:cNvSpPr>
          <p:nvPr>
            <p:ph type="sldImg"/>
          </p:nvPr>
        </p:nvSpPr>
        <p:spPr>
          <a:ln/>
        </p:spPr>
      </p:sp>
      <p:sp>
        <p:nvSpPr>
          <p:cNvPr id="6147" name="Notes Placeholder 2">
            <a:extLst>
              <a:ext uri="{FF2B5EF4-FFF2-40B4-BE49-F238E27FC236}">
                <a16:creationId xmlns:a16="http://schemas.microsoft.com/office/drawing/2014/main" id="{C68B002B-4887-1570-01BD-867A0A0EC5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i="1" dirty="0">
                <a:latin typeface="Arial" panose="020B0604020202020204" pitchFamily="34" charset="0"/>
              </a:rPr>
              <a:t>Python 3 (better for quick and easy fetches)</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import requests</a:t>
            </a:r>
          </a:p>
          <a:p>
            <a:r>
              <a:rPr lang="en-US" altLang="en-US" i="1" dirty="0" err="1">
                <a:latin typeface="Arial" panose="020B0604020202020204" pitchFamily="34" charset="0"/>
              </a:rPr>
              <a:t>url</a:t>
            </a:r>
            <a:r>
              <a:rPr lang="en-US" altLang="en-US" i="1" dirty="0">
                <a:latin typeface="Arial" panose="020B0604020202020204" pitchFamily="34" charset="0"/>
              </a:rPr>
              <a:t> = "https://lgtateos.github.io/gis540/</a:t>
            </a:r>
            <a:r>
              <a:rPr lang="en-US" altLang="en-US" i="1" dirty="0" err="1">
                <a:latin typeface="Arial" panose="020B0604020202020204" pitchFamily="34" charset="0"/>
              </a:rPr>
              <a:t>supMaterials</a:t>
            </a:r>
            <a:r>
              <a:rPr lang="en-US" altLang="en-US" i="1" dirty="0">
                <a:latin typeface="Arial" panose="020B0604020202020204" pitchFamily="34" charset="0"/>
              </a:rPr>
              <a:t>/example.html"</a:t>
            </a:r>
          </a:p>
          <a:p>
            <a:r>
              <a:rPr lang="en-US" altLang="en-US" i="1" dirty="0">
                <a:latin typeface="Arial" panose="020B0604020202020204" pitchFamily="34" charset="0"/>
              </a:rPr>
              <a:t>response = </a:t>
            </a:r>
            <a:r>
              <a:rPr lang="en-US" altLang="en-US" i="1" dirty="0" err="1">
                <a:latin typeface="Arial" panose="020B0604020202020204" pitchFamily="34" charset="0"/>
              </a:rPr>
              <a:t>requests.get</a:t>
            </a:r>
            <a:r>
              <a:rPr lang="en-US" altLang="en-US" i="1" dirty="0">
                <a:latin typeface="Arial" panose="020B0604020202020204" pitchFamily="34" charset="0"/>
              </a:rPr>
              <a:t>(</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for line in </a:t>
            </a:r>
            <a:r>
              <a:rPr lang="en-US" altLang="en-US" i="1" dirty="0" err="1">
                <a:latin typeface="Arial" panose="020B0604020202020204" pitchFamily="34" charset="0"/>
              </a:rPr>
              <a:t>response.text.splitlines</a:t>
            </a:r>
            <a:r>
              <a:rPr lang="en-US" altLang="en-US" i="1" dirty="0">
                <a:latin typeface="Arial" panose="020B0604020202020204" pitchFamily="34" charset="0"/>
              </a:rPr>
              <a:t>():</a:t>
            </a:r>
          </a:p>
          <a:p>
            <a:r>
              <a:rPr lang="en-US" altLang="en-US" i="1" dirty="0">
                <a:latin typeface="Arial" panose="020B0604020202020204" pitchFamily="34" charset="0"/>
              </a:rPr>
              <a:t>    print(line)</a:t>
            </a:r>
          </a:p>
          <a:p>
            <a:r>
              <a:rPr lang="en-US" altLang="en-US" i="1" dirty="0" err="1">
                <a:latin typeface="Arial" panose="020B0604020202020204" pitchFamily="34" charset="0"/>
              </a:rPr>
              <a:t>response.close</a:t>
            </a:r>
            <a:r>
              <a:rPr lang="en-US" altLang="en-US" i="1" dirty="0">
                <a:latin typeface="Arial" panose="020B0604020202020204" pitchFamily="34" charset="0"/>
              </a:rPr>
              <a:t>()</a:t>
            </a:r>
          </a:p>
          <a:p>
            <a:endParaRPr lang="en-US" altLang="en-US" i="1" dirty="0">
              <a:latin typeface="Arial" panose="020B0604020202020204" pitchFamily="34" charset="0"/>
            </a:endParaRPr>
          </a:p>
          <a:p>
            <a:r>
              <a:rPr lang="en-US" altLang="en-US" i="1" dirty="0">
                <a:latin typeface="Arial" panose="020B0604020202020204" pitchFamily="34" charset="0"/>
              </a:rPr>
              <a:t>Python 3 (better for very large files)</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import </a:t>
            </a:r>
            <a:r>
              <a:rPr lang="en-US" altLang="en-US" i="1" dirty="0" err="1">
                <a:latin typeface="Arial" panose="020B0604020202020204" pitchFamily="34" charset="0"/>
              </a:rPr>
              <a:t>urllib</a:t>
            </a:r>
            <a:endParaRPr lang="en-US" altLang="en-US" i="1" dirty="0">
              <a:latin typeface="Arial" panose="020B0604020202020204" pitchFamily="34" charset="0"/>
            </a:endParaRPr>
          </a:p>
          <a:p>
            <a:r>
              <a:rPr lang="en-US" altLang="en-US" i="1" dirty="0" err="1">
                <a:latin typeface="Arial" panose="020B0604020202020204" pitchFamily="34" charset="0"/>
              </a:rPr>
              <a:t>url</a:t>
            </a:r>
            <a:r>
              <a:rPr lang="en-US" altLang="en-US" i="1" dirty="0">
                <a:latin typeface="Arial" panose="020B0604020202020204" pitchFamily="34" charset="0"/>
              </a:rPr>
              <a:t> = "https://lgtateos.github.io/gis540/</a:t>
            </a:r>
            <a:r>
              <a:rPr lang="en-US" altLang="en-US" i="1" dirty="0" err="1">
                <a:latin typeface="Arial" panose="020B0604020202020204" pitchFamily="34" charset="0"/>
              </a:rPr>
              <a:t>supMaterials</a:t>
            </a:r>
            <a:r>
              <a:rPr lang="en-US" altLang="en-US" i="1" dirty="0">
                <a:latin typeface="Arial" panose="020B0604020202020204" pitchFamily="34" charset="0"/>
              </a:rPr>
              <a:t>/example.html"</a:t>
            </a:r>
          </a:p>
          <a:p>
            <a:r>
              <a:rPr lang="en-US" altLang="en-US" i="1" dirty="0">
                <a:latin typeface="Arial" panose="020B0604020202020204" pitchFamily="34" charset="0"/>
              </a:rPr>
              <a:t>response = </a:t>
            </a:r>
            <a:r>
              <a:rPr lang="en-US" altLang="en-US" i="1" dirty="0" err="1">
                <a:latin typeface="Arial" panose="020B0604020202020204" pitchFamily="34" charset="0"/>
              </a:rPr>
              <a:t>urllib.request.urlopen</a:t>
            </a:r>
            <a:r>
              <a:rPr lang="en-US" altLang="en-US" i="1" dirty="0">
                <a:latin typeface="Arial" panose="020B0604020202020204" pitchFamily="34" charset="0"/>
              </a:rPr>
              <a:t>(</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for line in </a:t>
            </a:r>
            <a:r>
              <a:rPr lang="en-US" altLang="en-US" i="1" dirty="0" err="1">
                <a:latin typeface="Arial" panose="020B0604020202020204" pitchFamily="34" charset="0"/>
              </a:rPr>
              <a:t>response.readlines</a:t>
            </a:r>
            <a:r>
              <a:rPr lang="en-US" altLang="en-US" i="1" dirty="0">
                <a:latin typeface="Arial" panose="020B0604020202020204" pitchFamily="34" charset="0"/>
              </a:rPr>
              <a:t>():</a:t>
            </a:r>
          </a:p>
          <a:p>
            <a:r>
              <a:rPr lang="en-US" altLang="en-US" i="1" dirty="0">
                <a:latin typeface="Arial" panose="020B0604020202020204" pitchFamily="34" charset="0"/>
              </a:rPr>
              <a:t>    print(line)</a:t>
            </a:r>
          </a:p>
          <a:p>
            <a:r>
              <a:rPr lang="en-US" altLang="en-US" i="1" dirty="0" err="1">
                <a:latin typeface="Arial" panose="020B0604020202020204" pitchFamily="34" charset="0"/>
              </a:rPr>
              <a:t>response.close</a:t>
            </a:r>
            <a:r>
              <a:rPr lang="en-US" altLang="en-US" i="1" dirty="0">
                <a:latin typeface="Arial" panose="020B0604020202020204" pitchFamily="34" charset="0"/>
              </a:rPr>
              <a:t>()</a:t>
            </a:r>
          </a:p>
          <a:p>
            <a:endParaRPr lang="en-US" altLang="en-US" i="1" dirty="0">
              <a:latin typeface="Arial" panose="020B0604020202020204" pitchFamily="34" charset="0"/>
            </a:endParaRPr>
          </a:p>
          <a:p>
            <a:r>
              <a:rPr lang="en-US" altLang="en-US" i="1" dirty="0">
                <a:latin typeface="Arial" panose="020B0604020202020204" pitchFamily="34" charset="0"/>
              </a:rPr>
              <a:t>Python 2</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dirty="0">
                <a:latin typeface="Arial" panose="020B0604020202020204" pitchFamily="34" charset="0"/>
              </a:rPr>
              <a:t>import urllib2</a:t>
            </a:r>
          </a:p>
          <a:p>
            <a:r>
              <a:rPr lang="en-US" altLang="en-US" dirty="0" err="1">
                <a:latin typeface="Arial" panose="020B0604020202020204" pitchFamily="34" charset="0"/>
              </a:rPr>
              <a:t>url</a:t>
            </a:r>
            <a:r>
              <a:rPr lang="en-US" altLang="en-US" dirty="0">
                <a:latin typeface="Arial" panose="020B0604020202020204" pitchFamily="34" charset="0"/>
              </a:rPr>
              <a:t> = "https://lgtateos.github.io/gis540/</a:t>
            </a:r>
            <a:r>
              <a:rPr lang="en-US" altLang="en-US" dirty="0" err="1">
                <a:latin typeface="Arial" panose="020B0604020202020204" pitchFamily="34" charset="0"/>
              </a:rPr>
              <a:t>supMaterials</a:t>
            </a:r>
            <a:r>
              <a:rPr lang="en-US" altLang="en-US" dirty="0">
                <a:latin typeface="Arial" panose="020B0604020202020204" pitchFamily="34" charset="0"/>
              </a:rPr>
              <a:t>/example.html"</a:t>
            </a:r>
          </a:p>
          <a:p>
            <a:r>
              <a:rPr lang="en-US" altLang="en-US" dirty="0">
                <a:latin typeface="Arial" panose="020B0604020202020204" pitchFamily="34" charset="0"/>
              </a:rPr>
              <a:t>response = urllib2.urlopen(</a:t>
            </a:r>
            <a:r>
              <a:rPr lang="en-US" altLang="en-US" dirty="0" err="1">
                <a:latin typeface="Arial" panose="020B0604020202020204" pitchFamily="34" charset="0"/>
              </a:rPr>
              <a:t>url</a:t>
            </a:r>
            <a:r>
              <a:rPr lang="en-US" altLang="en-US" dirty="0">
                <a:latin typeface="Arial" panose="020B0604020202020204" pitchFamily="34" charset="0"/>
              </a:rPr>
              <a:t>)</a:t>
            </a:r>
          </a:p>
          <a:p>
            <a:r>
              <a:rPr lang="en-US" altLang="en-US" dirty="0">
                <a:latin typeface="Arial" panose="020B0604020202020204" pitchFamily="34" charset="0"/>
              </a:rPr>
              <a:t>for line in </a:t>
            </a:r>
            <a:r>
              <a:rPr lang="en-US" altLang="en-US" dirty="0" err="1">
                <a:latin typeface="Arial" panose="020B0604020202020204" pitchFamily="34" charset="0"/>
              </a:rPr>
              <a:t>response.readlines</a:t>
            </a:r>
            <a:r>
              <a:rPr lang="en-US" altLang="en-US" dirty="0">
                <a:latin typeface="Arial" panose="020B0604020202020204" pitchFamily="34" charset="0"/>
              </a:rPr>
              <a:t>():</a:t>
            </a:r>
          </a:p>
          <a:p>
            <a:r>
              <a:rPr lang="en-US" altLang="en-US" dirty="0">
                <a:latin typeface="Arial" panose="020B0604020202020204" pitchFamily="34" charset="0"/>
              </a:rPr>
              <a:t>    print(line)</a:t>
            </a:r>
          </a:p>
          <a:p>
            <a:r>
              <a:rPr lang="en-US" altLang="en-US" dirty="0" err="1">
                <a:latin typeface="Arial" panose="020B0604020202020204" pitchFamily="34" charset="0"/>
              </a:rPr>
              <a:t>response.close</a:t>
            </a:r>
            <a:r>
              <a:rPr lang="en-US" altLang="en-US" dirty="0">
                <a:latin typeface="Arial" panose="020B0604020202020204" pitchFamily="34" charset="0"/>
              </a:rPr>
              <a:t>()</a:t>
            </a:r>
          </a:p>
          <a:p>
            <a:endParaRPr lang="en-US" altLang="en-US" dirty="0">
              <a:latin typeface="Arial" panose="020B0604020202020204" pitchFamily="34" charset="0"/>
            </a:endParaRPr>
          </a:p>
        </p:txBody>
      </p:sp>
      <p:sp>
        <p:nvSpPr>
          <p:cNvPr id="6148" name="Slide Number Placeholder 3">
            <a:extLst>
              <a:ext uri="{FF2B5EF4-FFF2-40B4-BE49-F238E27FC236}">
                <a16:creationId xmlns:a16="http://schemas.microsoft.com/office/drawing/2014/main" id="{8473682B-AE38-263D-DCD5-F0FB03D1DF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6CD5D82-AD86-42E9-8AD2-FA467496FE25}" type="slidenum">
              <a:rPr lang="en-US" altLang="en-US"/>
              <a:pPr>
                <a:spcBef>
                  <a:spcPct val="0"/>
                </a:spcBef>
              </a:pPr>
              <a:t>2</a:t>
            </a:fld>
            <a:endParaRPr lang="en-US" altLang="en-US"/>
          </a:p>
        </p:txBody>
      </p:sp>
    </p:spTree>
    <p:extLst>
      <p:ext uri="{BB962C8B-B14F-4D97-AF65-F5344CB8AC3E}">
        <p14:creationId xmlns:p14="http://schemas.microsoft.com/office/powerpoint/2010/main" val="2594946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https://fawn.ifas.ufl.edu/data/</a:t>
            </a:r>
          </a:p>
          <a:p>
            <a:endParaRPr lang="en-US" dirty="0"/>
          </a:p>
          <a:p>
            <a:r>
              <a:rPr lang="en-US" dirty="0"/>
              <a:t>import requests, </a:t>
            </a:r>
            <a:r>
              <a:rPr lang="en-US" dirty="0" err="1"/>
              <a:t>os</a:t>
            </a:r>
            <a:endParaRPr lang="en-US" dirty="0"/>
          </a:p>
          <a:p>
            <a:endParaRPr lang="en-US" dirty="0"/>
          </a:p>
          <a:p>
            <a:r>
              <a:rPr lang="en-US" dirty="0"/>
              <a:t># Hard-coded URL for the 2026 CSV</a:t>
            </a:r>
          </a:p>
          <a:p>
            <a:r>
              <a:rPr lang="en-US" dirty="0" err="1"/>
              <a:t>csv_url</a:t>
            </a:r>
            <a:r>
              <a:rPr lang="en-US" dirty="0"/>
              <a:t> = "https://fawn.ifas.ufl.edu/data/</a:t>
            </a:r>
            <a:r>
              <a:rPr lang="en-US" dirty="0" err="1"/>
              <a:t>fawnpub</a:t>
            </a:r>
            <a:r>
              <a:rPr lang="en-US" dirty="0"/>
              <a:t>/</a:t>
            </a:r>
            <a:r>
              <a:rPr lang="en-US" dirty="0" err="1"/>
              <a:t>daily_summaries</a:t>
            </a:r>
            <a:r>
              <a:rPr lang="en-US" dirty="0"/>
              <a:t>/BY_YEAR/2025_daily.csv"</a:t>
            </a:r>
          </a:p>
          <a:p>
            <a:r>
              <a:rPr lang="en-US" dirty="0" err="1"/>
              <a:t>csv_url</a:t>
            </a:r>
            <a:r>
              <a:rPr lang="en-US" dirty="0"/>
              <a:t> = "https://lulctimeseries.blob.core.windows.net/lulctimeseriesv003/lc2024/53U_20240101-20241231.tif"</a:t>
            </a:r>
          </a:p>
          <a:p>
            <a:r>
              <a:rPr lang="en-US" dirty="0" err="1"/>
              <a:t>outputDir</a:t>
            </a:r>
            <a:r>
              <a:rPr lang="en-US" dirty="0"/>
              <a:t> = "C:/gispy/scratch/"</a:t>
            </a:r>
          </a:p>
          <a:p>
            <a:r>
              <a:rPr lang="en-US" dirty="0" err="1"/>
              <a:t>outputName</a:t>
            </a:r>
            <a:r>
              <a:rPr lang="en-US" dirty="0"/>
              <a:t> = </a:t>
            </a:r>
            <a:r>
              <a:rPr lang="en-US" dirty="0" err="1"/>
              <a:t>outputDir</a:t>
            </a:r>
            <a:r>
              <a:rPr lang="en-US" dirty="0"/>
              <a:t> + </a:t>
            </a:r>
            <a:r>
              <a:rPr lang="en-US" dirty="0" err="1"/>
              <a:t>os.path.basename</a:t>
            </a:r>
            <a:r>
              <a:rPr lang="en-US" dirty="0"/>
              <a:t>(</a:t>
            </a:r>
            <a:r>
              <a:rPr lang="en-US" dirty="0" err="1"/>
              <a:t>csv_url</a:t>
            </a:r>
            <a:r>
              <a:rPr lang="en-US" dirty="0"/>
              <a:t>)</a:t>
            </a:r>
          </a:p>
          <a:p>
            <a:r>
              <a:rPr lang="en-US" dirty="0" err="1"/>
              <a:t>outputName</a:t>
            </a:r>
            <a:r>
              <a:rPr lang="en-US" dirty="0"/>
              <a:t> = </a:t>
            </a:r>
            <a:r>
              <a:rPr lang="en-US" dirty="0" err="1"/>
              <a:t>os.path.join</a:t>
            </a:r>
            <a:r>
              <a:rPr lang="en-US" dirty="0"/>
              <a:t>(</a:t>
            </a:r>
            <a:r>
              <a:rPr lang="en-US" dirty="0" err="1"/>
              <a:t>outputDir</a:t>
            </a:r>
            <a:r>
              <a:rPr lang="en-US" dirty="0"/>
              <a:t>, </a:t>
            </a:r>
            <a:r>
              <a:rPr lang="en-US" dirty="0" err="1"/>
              <a:t>os.path.basename</a:t>
            </a:r>
            <a:r>
              <a:rPr lang="en-US" dirty="0"/>
              <a:t>(</a:t>
            </a:r>
            <a:r>
              <a:rPr lang="en-US" dirty="0" err="1"/>
              <a:t>csv_url</a:t>
            </a:r>
            <a:r>
              <a:rPr lang="en-US" dirty="0"/>
              <a:t>))</a:t>
            </a:r>
          </a:p>
          <a:p>
            <a:r>
              <a:rPr lang="en-US" dirty="0"/>
              <a:t># Fetch and write</a:t>
            </a:r>
          </a:p>
          <a:p>
            <a:r>
              <a:rPr lang="en-US" dirty="0"/>
              <a:t>response = </a:t>
            </a:r>
            <a:r>
              <a:rPr lang="en-US" dirty="0" err="1"/>
              <a:t>requests.get</a:t>
            </a:r>
            <a:r>
              <a:rPr lang="en-US" dirty="0"/>
              <a:t>(</a:t>
            </a:r>
            <a:r>
              <a:rPr lang="en-US" dirty="0" err="1"/>
              <a:t>csv_url</a:t>
            </a:r>
            <a:r>
              <a:rPr lang="en-US" dirty="0"/>
              <a:t>)</a:t>
            </a:r>
          </a:p>
          <a:p>
            <a:r>
              <a:rPr lang="en-US" dirty="0"/>
              <a:t>with open(</a:t>
            </a:r>
            <a:r>
              <a:rPr lang="en-US" dirty="0" err="1"/>
              <a:t>outputName</a:t>
            </a:r>
            <a:r>
              <a:rPr lang="en-US" dirty="0"/>
              <a:t>, "</a:t>
            </a:r>
            <a:r>
              <a:rPr lang="en-US" dirty="0" err="1"/>
              <a:t>wb</a:t>
            </a:r>
            <a:r>
              <a:rPr lang="en-US" dirty="0"/>
              <a:t>") as f:</a:t>
            </a:r>
          </a:p>
          <a:p>
            <a:r>
              <a:rPr lang="en-US" dirty="0"/>
              <a:t>    </a:t>
            </a:r>
            <a:r>
              <a:rPr lang="en-US" dirty="0" err="1"/>
              <a:t>f.write</a:t>
            </a:r>
            <a:r>
              <a:rPr lang="en-US" dirty="0"/>
              <a:t>(</a:t>
            </a:r>
            <a:r>
              <a:rPr lang="en-US" dirty="0" err="1"/>
              <a:t>response.content</a:t>
            </a:r>
            <a:r>
              <a:rPr lang="en-US" dirty="0"/>
              <a:t>)</a:t>
            </a:r>
          </a:p>
          <a:p>
            <a:endParaRPr lang="en-US" dirty="0"/>
          </a:p>
          <a:p>
            <a:r>
              <a:rPr lang="en-US" dirty="0"/>
              <a:t>print(f"{</a:t>
            </a:r>
            <a:r>
              <a:rPr lang="en-US" dirty="0" err="1"/>
              <a:t>os.path.basename</a:t>
            </a:r>
            <a:r>
              <a:rPr lang="en-US" dirty="0"/>
              <a:t>(</a:t>
            </a:r>
            <a:r>
              <a:rPr lang="en-US" dirty="0" err="1"/>
              <a:t>csv_url</a:t>
            </a:r>
            <a:r>
              <a:rPr lang="en-US" dirty="0"/>
              <a:t>)} downloaded successfully to {</a:t>
            </a:r>
            <a:r>
              <a:rPr lang="en-US" dirty="0" err="1"/>
              <a:t>outputDir</a:t>
            </a:r>
            <a:r>
              <a:rPr lang="en-US" dirty="0"/>
              <a:t>}.")</a:t>
            </a:r>
          </a:p>
        </p:txBody>
      </p:sp>
      <p:sp>
        <p:nvSpPr>
          <p:cNvPr id="4" name="Slide Number Placeholder 3"/>
          <p:cNvSpPr>
            <a:spLocks noGrp="1"/>
          </p:cNvSpPr>
          <p:nvPr>
            <p:ph type="sldNum" sz="quarter" idx="5"/>
          </p:nvPr>
        </p:nvSpPr>
        <p:spPr/>
        <p:txBody>
          <a:bodyPr/>
          <a:lstStyle/>
          <a:p>
            <a:fld id="{9EB0E405-A977-4700-8D41-3AC481D0463A}" type="slidenum">
              <a:rPr lang="en-US" altLang="en-US" smtClean="0"/>
              <a:pPr/>
              <a:t>3</a:t>
            </a:fld>
            <a:endParaRPr lang="en-US" altLang="en-US"/>
          </a:p>
        </p:txBody>
      </p:sp>
    </p:spTree>
    <p:extLst>
      <p:ext uri="{BB962C8B-B14F-4D97-AF65-F5344CB8AC3E}">
        <p14:creationId xmlns:p14="http://schemas.microsoft.com/office/powerpoint/2010/main" val="341030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1C57A-5AC8-D99F-0B0C-2B1DC9748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FFE10-5549-ECCA-041D-09A7A6408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C7A23-8A80-166A-12D9-C78D1F628A5C}"/>
              </a:ext>
            </a:extLst>
          </p:cNvPr>
          <p:cNvSpPr>
            <a:spLocks noGrp="1"/>
          </p:cNvSpPr>
          <p:nvPr>
            <p:ph type="body" idx="1"/>
          </p:nvPr>
        </p:nvSpPr>
        <p:spPr/>
        <p:txBody>
          <a:bodyPr/>
          <a:lstStyle/>
          <a:p>
            <a:r>
              <a:rPr lang="en-US" dirty="0"/>
              <a:t>https://livingatlas.arcgis.com/landcoverexplorer/#mapCenter=-147.06500%2C61.16000%2C11.00&amp;mode=step&amp;timeExtent=2017%2C2022&amp;year=2022&amp;downloadMode=true</a:t>
            </a:r>
          </a:p>
          <a:p>
            <a:endParaRPr lang="en-US" dirty="0"/>
          </a:p>
          <a:p>
            <a:endParaRPr lang="en-US" dirty="0"/>
          </a:p>
          <a:p>
            <a:r>
              <a:rPr lang="en-US" dirty="0"/>
              <a:t>import requests, </a:t>
            </a:r>
            <a:r>
              <a:rPr lang="en-US" dirty="0" err="1"/>
              <a:t>os</a:t>
            </a:r>
            <a:endParaRPr lang="en-US" dirty="0"/>
          </a:p>
          <a:p>
            <a:endParaRPr lang="en-US" dirty="0"/>
          </a:p>
          <a:p>
            <a:r>
              <a:rPr lang="en-US" dirty="0"/>
              <a:t># Hard-coded URL for the 2026 CSV</a:t>
            </a:r>
          </a:p>
          <a:p>
            <a:r>
              <a:rPr lang="en-US" dirty="0" err="1"/>
              <a:t>csv_url</a:t>
            </a:r>
            <a:r>
              <a:rPr lang="en-US" dirty="0"/>
              <a:t> = "https://fawn.ifas.ufl.edu/data/</a:t>
            </a:r>
            <a:r>
              <a:rPr lang="en-US" dirty="0" err="1"/>
              <a:t>fawnpub</a:t>
            </a:r>
            <a:r>
              <a:rPr lang="en-US" dirty="0"/>
              <a:t>/</a:t>
            </a:r>
            <a:r>
              <a:rPr lang="en-US" dirty="0" err="1"/>
              <a:t>daily_summaries</a:t>
            </a:r>
            <a:r>
              <a:rPr lang="en-US" dirty="0"/>
              <a:t>/BY_YEAR/2025_daily.csv"</a:t>
            </a:r>
          </a:p>
          <a:p>
            <a:r>
              <a:rPr lang="en-US" dirty="0" err="1"/>
              <a:t>csv_url</a:t>
            </a:r>
            <a:r>
              <a:rPr lang="en-US" dirty="0"/>
              <a:t> = "https://lulctimeseries.blob.core.windows.net/lulctimeseriesv003/lc2024/53U_20240101-20241231.tif"</a:t>
            </a:r>
          </a:p>
          <a:p>
            <a:r>
              <a:rPr lang="en-US" dirty="0" err="1"/>
              <a:t>outputDir</a:t>
            </a:r>
            <a:r>
              <a:rPr lang="en-US" dirty="0"/>
              <a:t> = "C:/gispy/scratch/"</a:t>
            </a:r>
          </a:p>
          <a:p>
            <a:r>
              <a:rPr lang="en-US" dirty="0" err="1"/>
              <a:t>outputName</a:t>
            </a:r>
            <a:r>
              <a:rPr lang="en-US" dirty="0"/>
              <a:t> = </a:t>
            </a:r>
            <a:r>
              <a:rPr lang="en-US" dirty="0" err="1"/>
              <a:t>outputDir</a:t>
            </a:r>
            <a:r>
              <a:rPr lang="en-US" dirty="0"/>
              <a:t> + </a:t>
            </a:r>
            <a:r>
              <a:rPr lang="en-US" dirty="0" err="1"/>
              <a:t>os.path.basename</a:t>
            </a:r>
            <a:r>
              <a:rPr lang="en-US" dirty="0"/>
              <a:t>(</a:t>
            </a:r>
            <a:r>
              <a:rPr lang="en-US" dirty="0" err="1"/>
              <a:t>csv_url</a:t>
            </a:r>
            <a:r>
              <a:rPr lang="en-US" dirty="0"/>
              <a:t>)</a:t>
            </a:r>
          </a:p>
          <a:p>
            <a:r>
              <a:rPr lang="en-US" dirty="0" err="1"/>
              <a:t>outputName</a:t>
            </a:r>
            <a:r>
              <a:rPr lang="en-US" dirty="0"/>
              <a:t> = </a:t>
            </a:r>
            <a:r>
              <a:rPr lang="en-US" dirty="0" err="1"/>
              <a:t>os.path.join</a:t>
            </a:r>
            <a:r>
              <a:rPr lang="en-US" dirty="0"/>
              <a:t>(</a:t>
            </a:r>
            <a:r>
              <a:rPr lang="en-US" dirty="0" err="1"/>
              <a:t>outputDir</a:t>
            </a:r>
            <a:r>
              <a:rPr lang="en-US" dirty="0"/>
              <a:t>, </a:t>
            </a:r>
            <a:r>
              <a:rPr lang="en-US" dirty="0" err="1"/>
              <a:t>os.path.basename</a:t>
            </a:r>
            <a:r>
              <a:rPr lang="en-US" dirty="0"/>
              <a:t>(</a:t>
            </a:r>
            <a:r>
              <a:rPr lang="en-US" dirty="0" err="1"/>
              <a:t>csv_url</a:t>
            </a:r>
            <a:r>
              <a:rPr lang="en-US" dirty="0"/>
              <a:t>))</a:t>
            </a:r>
          </a:p>
          <a:p>
            <a:r>
              <a:rPr lang="en-US" dirty="0"/>
              <a:t># Fetch and write</a:t>
            </a:r>
          </a:p>
          <a:p>
            <a:r>
              <a:rPr lang="en-US" dirty="0"/>
              <a:t>response = </a:t>
            </a:r>
            <a:r>
              <a:rPr lang="en-US" dirty="0" err="1"/>
              <a:t>requests.get</a:t>
            </a:r>
            <a:r>
              <a:rPr lang="en-US" dirty="0"/>
              <a:t>(</a:t>
            </a:r>
            <a:r>
              <a:rPr lang="en-US" dirty="0" err="1"/>
              <a:t>csv_url</a:t>
            </a:r>
            <a:r>
              <a:rPr lang="en-US" dirty="0"/>
              <a:t>)</a:t>
            </a:r>
          </a:p>
          <a:p>
            <a:r>
              <a:rPr lang="en-US" dirty="0"/>
              <a:t>with open(</a:t>
            </a:r>
            <a:r>
              <a:rPr lang="en-US" dirty="0" err="1"/>
              <a:t>outputName</a:t>
            </a:r>
            <a:r>
              <a:rPr lang="en-US" dirty="0"/>
              <a:t>, "</a:t>
            </a:r>
            <a:r>
              <a:rPr lang="en-US" dirty="0" err="1"/>
              <a:t>wb</a:t>
            </a:r>
            <a:r>
              <a:rPr lang="en-US" dirty="0"/>
              <a:t>") as f:</a:t>
            </a:r>
          </a:p>
          <a:p>
            <a:r>
              <a:rPr lang="en-US" dirty="0"/>
              <a:t>    </a:t>
            </a:r>
            <a:r>
              <a:rPr lang="en-US" dirty="0" err="1"/>
              <a:t>f.write</a:t>
            </a:r>
            <a:r>
              <a:rPr lang="en-US" dirty="0"/>
              <a:t>(</a:t>
            </a:r>
            <a:r>
              <a:rPr lang="en-US" dirty="0" err="1"/>
              <a:t>response.content</a:t>
            </a:r>
            <a:r>
              <a:rPr lang="en-US" dirty="0"/>
              <a:t>)</a:t>
            </a:r>
          </a:p>
          <a:p>
            <a:endParaRPr lang="en-US" dirty="0"/>
          </a:p>
          <a:p>
            <a:r>
              <a:rPr lang="en-US" dirty="0"/>
              <a:t>print(f"{</a:t>
            </a:r>
            <a:r>
              <a:rPr lang="en-US" dirty="0" err="1"/>
              <a:t>os.path.basename</a:t>
            </a:r>
            <a:r>
              <a:rPr lang="en-US" dirty="0"/>
              <a:t>(</a:t>
            </a:r>
            <a:r>
              <a:rPr lang="en-US" dirty="0" err="1"/>
              <a:t>csv_url</a:t>
            </a:r>
            <a:r>
              <a:rPr lang="en-US" dirty="0"/>
              <a:t>)} downloaded successfully to {</a:t>
            </a:r>
            <a:r>
              <a:rPr lang="en-US" dirty="0" err="1"/>
              <a:t>outputDir</a:t>
            </a:r>
            <a:r>
              <a:rPr lang="en-US" dirty="0"/>
              <a:t>}.")</a:t>
            </a:r>
          </a:p>
        </p:txBody>
      </p:sp>
      <p:sp>
        <p:nvSpPr>
          <p:cNvPr id="4" name="Slide Number Placeholder 3">
            <a:extLst>
              <a:ext uri="{FF2B5EF4-FFF2-40B4-BE49-F238E27FC236}">
                <a16:creationId xmlns:a16="http://schemas.microsoft.com/office/drawing/2014/main" id="{50A44322-62F5-62D7-EE2B-68CF06FDD664}"/>
              </a:ext>
            </a:extLst>
          </p:cNvPr>
          <p:cNvSpPr>
            <a:spLocks noGrp="1"/>
          </p:cNvSpPr>
          <p:nvPr>
            <p:ph type="sldNum" sz="quarter" idx="5"/>
          </p:nvPr>
        </p:nvSpPr>
        <p:spPr/>
        <p:txBody>
          <a:bodyPr/>
          <a:lstStyle/>
          <a:p>
            <a:fld id="{9EB0E405-A977-4700-8D41-3AC481D0463A}" type="slidenum">
              <a:rPr lang="en-US" altLang="en-US" smtClean="0"/>
              <a:pPr/>
              <a:t>4</a:t>
            </a:fld>
            <a:endParaRPr lang="en-US" altLang="en-US"/>
          </a:p>
        </p:txBody>
      </p:sp>
    </p:spTree>
    <p:extLst>
      <p:ext uri="{BB962C8B-B14F-4D97-AF65-F5344CB8AC3E}">
        <p14:creationId xmlns:p14="http://schemas.microsoft.com/office/powerpoint/2010/main" val="3104217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import requests, </a:t>
            </a:r>
            <a:r>
              <a:rPr lang="en-US" dirty="0" err="1"/>
              <a:t>os</a:t>
            </a:r>
            <a:endParaRPr lang="en-US" dirty="0"/>
          </a:p>
          <a:p>
            <a:pPr marL="158750" indent="0">
              <a:buNone/>
            </a:pPr>
            <a:endParaRPr lang="en-US" dirty="0"/>
          </a:p>
          <a:p>
            <a:pPr marL="158750" indent="0">
              <a:buNone/>
            </a:pPr>
            <a:r>
              <a:rPr lang="en-US" dirty="0"/>
              <a:t># Hard-coded URL for the 2026 CSV</a:t>
            </a:r>
          </a:p>
          <a:p>
            <a:pPr marL="158750" indent="0">
              <a:buNone/>
            </a:pPr>
            <a:r>
              <a:rPr lang="en-US" dirty="0" err="1"/>
              <a:t>csv_url</a:t>
            </a:r>
            <a:r>
              <a:rPr lang="en-US" dirty="0"/>
              <a:t> = "https://fawn.ifas.ufl.edu/data/</a:t>
            </a:r>
            <a:r>
              <a:rPr lang="en-US" dirty="0" err="1"/>
              <a:t>fawnpub</a:t>
            </a:r>
            <a:r>
              <a:rPr lang="en-US" dirty="0"/>
              <a:t>/</a:t>
            </a:r>
            <a:r>
              <a:rPr lang="en-US" dirty="0" err="1"/>
              <a:t>daily_summaries</a:t>
            </a:r>
            <a:r>
              <a:rPr lang="en-US" dirty="0"/>
              <a:t>/BY_YEAR/2026_daily.csv"</a:t>
            </a:r>
          </a:p>
          <a:p>
            <a:pPr marL="158750" marR="0" lvl="0" indent="0" algn="l" defTabSz="914400" rtl="0" eaLnBrk="0" fontAlgn="base" latinLnBrk="0" hangingPunct="0">
              <a:lnSpc>
                <a:spcPct val="100000"/>
              </a:lnSpc>
              <a:spcBef>
                <a:spcPct val="30000"/>
              </a:spcBef>
              <a:spcAft>
                <a:spcPct val="0"/>
              </a:spcAft>
              <a:buClrTx/>
              <a:buSzTx/>
              <a:buFontTx/>
              <a:buNone/>
              <a:tabLst/>
              <a:defRPr/>
            </a:pPr>
            <a:r>
              <a:rPr lang="en-US" sz="1200" dirty="0" err="1"/>
              <a:t>outputDir</a:t>
            </a:r>
            <a:r>
              <a:rPr lang="en-US" sz="1200" dirty="0"/>
              <a:t> = "C:/gispy/scratch/ "</a:t>
            </a:r>
          </a:p>
          <a:p>
            <a:pPr marL="158750" indent="0">
              <a:buNone/>
            </a:pPr>
            <a:r>
              <a:rPr lang="en-US" dirty="0" err="1"/>
              <a:t>outputName</a:t>
            </a:r>
            <a:r>
              <a:rPr lang="en-US" dirty="0"/>
              <a:t> = </a:t>
            </a:r>
            <a:r>
              <a:rPr lang="en-US" dirty="0" err="1"/>
              <a:t>os.path.join</a:t>
            </a:r>
            <a:r>
              <a:rPr lang="en-US" dirty="0"/>
              <a:t>(</a:t>
            </a:r>
            <a:r>
              <a:rPr lang="en-US" dirty="0" err="1"/>
              <a:t>outputDir</a:t>
            </a:r>
            <a:r>
              <a:rPr lang="en-US" dirty="0"/>
              <a:t>, </a:t>
            </a:r>
            <a:r>
              <a:rPr lang="en-US" dirty="0" err="1"/>
              <a:t>os.path.basename</a:t>
            </a:r>
            <a:r>
              <a:rPr lang="en-US" dirty="0"/>
              <a:t>(</a:t>
            </a:r>
            <a:r>
              <a:rPr lang="en-US" dirty="0" err="1"/>
              <a:t>csv_url</a:t>
            </a:r>
            <a:r>
              <a:rPr lang="en-US" dirty="0"/>
              <a:t>))</a:t>
            </a:r>
          </a:p>
          <a:p>
            <a:pPr marL="158750" indent="0">
              <a:buNone/>
            </a:pPr>
            <a:r>
              <a:rPr lang="en-US" dirty="0"/>
              <a:t># Fetch and write</a:t>
            </a:r>
          </a:p>
          <a:p>
            <a:pPr marL="158750" indent="0">
              <a:buNone/>
            </a:pPr>
            <a:r>
              <a:rPr lang="en-US" dirty="0"/>
              <a:t>response = </a:t>
            </a:r>
            <a:r>
              <a:rPr lang="en-US" dirty="0" err="1"/>
              <a:t>requests.get</a:t>
            </a:r>
            <a:r>
              <a:rPr lang="en-US" dirty="0"/>
              <a:t>(</a:t>
            </a:r>
            <a:r>
              <a:rPr lang="en-US" dirty="0" err="1"/>
              <a:t>csv_url</a:t>
            </a:r>
            <a:r>
              <a:rPr lang="en-US" dirty="0"/>
              <a:t>)</a:t>
            </a:r>
          </a:p>
          <a:p>
            <a:pPr marL="158750" indent="0">
              <a:buNone/>
            </a:pPr>
            <a:r>
              <a:rPr lang="en-US" dirty="0"/>
              <a:t>with open(</a:t>
            </a:r>
            <a:r>
              <a:rPr lang="en-US" dirty="0" err="1"/>
              <a:t>outputName</a:t>
            </a:r>
            <a:r>
              <a:rPr lang="en-US" dirty="0"/>
              <a:t>, "</a:t>
            </a:r>
            <a:r>
              <a:rPr lang="en-US" dirty="0" err="1"/>
              <a:t>wb</a:t>
            </a:r>
            <a:r>
              <a:rPr lang="en-US" dirty="0"/>
              <a:t>") as f:</a:t>
            </a:r>
          </a:p>
          <a:p>
            <a:pPr marL="158750" indent="0">
              <a:buNone/>
            </a:pPr>
            <a:r>
              <a:rPr lang="en-US" dirty="0"/>
              <a:t>    </a:t>
            </a:r>
            <a:r>
              <a:rPr lang="en-US" dirty="0" err="1"/>
              <a:t>f.write</a:t>
            </a:r>
            <a:r>
              <a:rPr lang="en-US" dirty="0"/>
              <a:t>(</a:t>
            </a:r>
            <a:r>
              <a:rPr lang="en-US" dirty="0" err="1"/>
              <a:t>response.content</a:t>
            </a:r>
            <a:r>
              <a:rPr lang="en-US" dirty="0"/>
              <a:t>)</a:t>
            </a:r>
          </a:p>
          <a:p>
            <a:pPr marL="158750" indent="0">
              <a:buNone/>
            </a:pPr>
            <a:endParaRPr lang="en-US" dirty="0"/>
          </a:p>
          <a:p>
            <a:pPr marL="158750" indent="0">
              <a:buNone/>
            </a:pPr>
            <a:r>
              <a:rPr lang="en-US" dirty="0"/>
              <a:t>print(f"{</a:t>
            </a:r>
            <a:r>
              <a:rPr lang="en-US" dirty="0" err="1"/>
              <a:t>os.path.basename</a:t>
            </a:r>
            <a:r>
              <a:rPr lang="en-US" dirty="0"/>
              <a:t>(</a:t>
            </a:r>
            <a:r>
              <a:rPr lang="en-US" dirty="0" err="1"/>
              <a:t>csv_url</a:t>
            </a:r>
            <a:r>
              <a:rPr lang="en-US" dirty="0"/>
              <a:t>)} downloaded successfully to {</a:t>
            </a:r>
            <a:r>
              <a:rPr lang="en-US" dirty="0" err="1"/>
              <a:t>outputDir</a:t>
            </a:r>
            <a:r>
              <a:rPr lang="en-US" dirty="0"/>
              <a:t>}.")</a:t>
            </a:r>
          </a:p>
        </p:txBody>
      </p:sp>
    </p:spTree>
    <p:extLst>
      <p:ext uri="{BB962C8B-B14F-4D97-AF65-F5344CB8AC3E}">
        <p14:creationId xmlns:p14="http://schemas.microsoft.com/office/powerpoint/2010/main" val="558732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126ED4F0-0809-D0AF-6F0B-C311DDFA8A11}"/>
              </a:ext>
            </a:extLst>
          </p:cNvPr>
          <p:cNvSpPr>
            <a:spLocks noGrp="1" noRot="1" noChangeAspect="1" noTextEdit="1"/>
          </p:cNvSpPr>
          <p:nvPr>
            <p:ph type="sldImg"/>
          </p:nvPr>
        </p:nvSpPr>
        <p:spPr>
          <a:ln/>
        </p:spPr>
      </p:sp>
      <p:sp>
        <p:nvSpPr>
          <p:cNvPr id="6147" name="Notes Placeholder 2">
            <a:extLst>
              <a:ext uri="{FF2B5EF4-FFF2-40B4-BE49-F238E27FC236}">
                <a16:creationId xmlns:a16="http://schemas.microsoft.com/office/drawing/2014/main" id="{0B1736CD-16AA-683B-BA3C-491AC90DAA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i="1" dirty="0">
                <a:latin typeface="Arial" panose="020B0604020202020204" pitchFamily="34" charset="0"/>
              </a:rPr>
              <a:t>Python 3 (better for quick and easy fetches)</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import requests</a:t>
            </a:r>
          </a:p>
          <a:p>
            <a:r>
              <a:rPr lang="en-US" altLang="en-US" i="1" dirty="0" err="1">
                <a:latin typeface="Arial" panose="020B0604020202020204" pitchFamily="34" charset="0"/>
              </a:rPr>
              <a:t>url</a:t>
            </a:r>
            <a:r>
              <a:rPr lang="en-US" altLang="en-US" i="1" dirty="0">
                <a:latin typeface="Arial" panose="020B0604020202020204" pitchFamily="34" charset="0"/>
              </a:rPr>
              <a:t> = "https://lgtateos.github.io/gis540/</a:t>
            </a:r>
            <a:r>
              <a:rPr lang="en-US" altLang="en-US" i="1" dirty="0" err="1">
                <a:latin typeface="Arial" panose="020B0604020202020204" pitchFamily="34" charset="0"/>
              </a:rPr>
              <a:t>supMaterials</a:t>
            </a:r>
            <a:r>
              <a:rPr lang="en-US" altLang="en-US" i="1" dirty="0">
                <a:latin typeface="Arial" panose="020B0604020202020204" pitchFamily="34" charset="0"/>
              </a:rPr>
              <a:t>/example.html"</a:t>
            </a:r>
          </a:p>
          <a:p>
            <a:r>
              <a:rPr lang="en-US" altLang="en-US" i="1" dirty="0">
                <a:latin typeface="Arial" panose="020B0604020202020204" pitchFamily="34" charset="0"/>
              </a:rPr>
              <a:t>response = </a:t>
            </a:r>
            <a:r>
              <a:rPr lang="en-US" altLang="en-US" i="1" dirty="0" err="1">
                <a:latin typeface="Arial" panose="020B0604020202020204" pitchFamily="34" charset="0"/>
              </a:rPr>
              <a:t>requests.get</a:t>
            </a:r>
            <a:r>
              <a:rPr lang="en-US" altLang="en-US" i="1" dirty="0">
                <a:latin typeface="Arial" panose="020B0604020202020204" pitchFamily="34" charset="0"/>
              </a:rPr>
              <a:t>(</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for line in </a:t>
            </a:r>
            <a:r>
              <a:rPr lang="en-US" altLang="en-US" i="1" dirty="0" err="1">
                <a:latin typeface="Arial" panose="020B0604020202020204" pitchFamily="34" charset="0"/>
              </a:rPr>
              <a:t>response.text.splitlines</a:t>
            </a:r>
            <a:r>
              <a:rPr lang="en-US" altLang="en-US" i="1" dirty="0">
                <a:latin typeface="Arial" panose="020B0604020202020204" pitchFamily="34" charset="0"/>
              </a:rPr>
              <a:t>():</a:t>
            </a:r>
          </a:p>
          <a:p>
            <a:r>
              <a:rPr lang="en-US" altLang="en-US" i="1" dirty="0">
                <a:latin typeface="Arial" panose="020B0604020202020204" pitchFamily="34" charset="0"/>
              </a:rPr>
              <a:t>    print(line)</a:t>
            </a:r>
          </a:p>
          <a:p>
            <a:r>
              <a:rPr lang="en-US" altLang="en-US" i="1" dirty="0" err="1">
                <a:latin typeface="Arial" panose="020B0604020202020204" pitchFamily="34" charset="0"/>
              </a:rPr>
              <a:t>response.close</a:t>
            </a:r>
            <a:r>
              <a:rPr lang="en-US" altLang="en-US" i="1" dirty="0">
                <a:latin typeface="Arial" panose="020B0604020202020204" pitchFamily="34" charset="0"/>
              </a:rPr>
              <a:t>()</a:t>
            </a:r>
          </a:p>
          <a:p>
            <a:endParaRPr lang="en-US" altLang="en-US" i="1" dirty="0">
              <a:latin typeface="Arial" panose="020B0604020202020204" pitchFamily="34" charset="0"/>
            </a:endParaRPr>
          </a:p>
          <a:p>
            <a:r>
              <a:rPr lang="en-US" altLang="en-US" i="1" dirty="0">
                <a:latin typeface="Arial" panose="020B0604020202020204" pitchFamily="34" charset="0"/>
              </a:rPr>
              <a:t>Python 3 (better for very large files)</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import </a:t>
            </a:r>
            <a:r>
              <a:rPr lang="en-US" altLang="en-US" i="1" dirty="0" err="1">
                <a:latin typeface="Arial" panose="020B0604020202020204" pitchFamily="34" charset="0"/>
              </a:rPr>
              <a:t>urllib</a:t>
            </a:r>
            <a:endParaRPr lang="en-US" altLang="en-US" i="1" dirty="0">
              <a:latin typeface="Arial" panose="020B0604020202020204" pitchFamily="34" charset="0"/>
            </a:endParaRPr>
          </a:p>
          <a:p>
            <a:r>
              <a:rPr lang="en-US" altLang="en-US" i="1" dirty="0" err="1">
                <a:latin typeface="Arial" panose="020B0604020202020204" pitchFamily="34" charset="0"/>
              </a:rPr>
              <a:t>url</a:t>
            </a:r>
            <a:r>
              <a:rPr lang="en-US" altLang="en-US" i="1" dirty="0">
                <a:latin typeface="Arial" panose="020B0604020202020204" pitchFamily="34" charset="0"/>
              </a:rPr>
              <a:t> = "https://lgtateos.github.io/gis540/</a:t>
            </a:r>
            <a:r>
              <a:rPr lang="en-US" altLang="en-US" i="1" dirty="0" err="1">
                <a:latin typeface="Arial" panose="020B0604020202020204" pitchFamily="34" charset="0"/>
              </a:rPr>
              <a:t>supMaterials</a:t>
            </a:r>
            <a:r>
              <a:rPr lang="en-US" altLang="en-US" i="1" dirty="0">
                <a:latin typeface="Arial" panose="020B0604020202020204" pitchFamily="34" charset="0"/>
              </a:rPr>
              <a:t>/example.html"</a:t>
            </a:r>
          </a:p>
          <a:p>
            <a:r>
              <a:rPr lang="en-US" altLang="en-US" i="1" dirty="0">
                <a:latin typeface="Arial" panose="020B0604020202020204" pitchFamily="34" charset="0"/>
              </a:rPr>
              <a:t>response = </a:t>
            </a:r>
            <a:r>
              <a:rPr lang="en-US" altLang="en-US" i="1" dirty="0" err="1">
                <a:latin typeface="Arial" panose="020B0604020202020204" pitchFamily="34" charset="0"/>
              </a:rPr>
              <a:t>urllib.request.urlopen</a:t>
            </a:r>
            <a:r>
              <a:rPr lang="en-US" altLang="en-US" i="1" dirty="0">
                <a:latin typeface="Arial" panose="020B0604020202020204" pitchFamily="34" charset="0"/>
              </a:rPr>
              <a:t>(</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i="1" dirty="0">
                <a:latin typeface="Arial" panose="020B0604020202020204" pitchFamily="34" charset="0"/>
              </a:rPr>
              <a:t>for line in </a:t>
            </a:r>
            <a:r>
              <a:rPr lang="en-US" altLang="en-US" i="1" dirty="0" err="1">
                <a:latin typeface="Arial" panose="020B0604020202020204" pitchFamily="34" charset="0"/>
              </a:rPr>
              <a:t>response.readlines</a:t>
            </a:r>
            <a:r>
              <a:rPr lang="en-US" altLang="en-US" i="1" dirty="0">
                <a:latin typeface="Arial" panose="020B0604020202020204" pitchFamily="34" charset="0"/>
              </a:rPr>
              <a:t>():</a:t>
            </a:r>
          </a:p>
          <a:p>
            <a:r>
              <a:rPr lang="en-US" altLang="en-US" i="1" dirty="0">
                <a:latin typeface="Arial" panose="020B0604020202020204" pitchFamily="34" charset="0"/>
              </a:rPr>
              <a:t>    print(line)</a:t>
            </a:r>
          </a:p>
          <a:p>
            <a:r>
              <a:rPr lang="en-US" altLang="en-US" i="1" dirty="0" err="1">
                <a:latin typeface="Arial" panose="020B0604020202020204" pitchFamily="34" charset="0"/>
              </a:rPr>
              <a:t>response.close</a:t>
            </a:r>
            <a:r>
              <a:rPr lang="en-US" altLang="en-US" i="1" dirty="0">
                <a:latin typeface="Arial" panose="020B0604020202020204" pitchFamily="34" charset="0"/>
              </a:rPr>
              <a:t>()</a:t>
            </a:r>
          </a:p>
          <a:p>
            <a:endParaRPr lang="en-US" altLang="en-US" i="1" dirty="0">
              <a:latin typeface="Arial" panose="020B0604020202020204" pitchFamily="34" charset="0"/>
            </a:endParaRPr>
          </a:p>
          <a:p>
            <a:r>
              <a:rPr lang="en-US" altLang="en-US" i="1" dirty="0">
                <a:latin typeface="Arial" panose="020B0604020202020204" pitchFamily="34" charset="0"/>
              </a:rPr>
              <a:t>Python 2</a:t>
            </a:r>
          </a:p>
          <a:p>
            <a:r>
              <a:rPr lang="en-US" altLang="en-US" i="1" dirty="0">
                <a:latin typeface="Arial" panose="020B0604020202020204" pitchFamily="34" charset="0"/>
              </a:rPr>
              <a:t># urlFetcher.py</a:t>
            </a:r>
          </a:p>
          <a:p>
            <a:r>
              <a:rPr lang="en-US" altLang="en-US" i="1" dirty="0">
                <a:latin typeface="Arial" panose="020B0604020202020204" pitchFamily="34" charset="0"/>
              </a:rPr>
              <a:t># Fetch and print the HTML contents of a </a:t>
            </a:r>
            <a:r>
              <a:rPr lang="en-US" altLang="en-US" i="1" dirty="0" err="1">
                <a:latin typeface="Arial" panose="020B0604020202020204" pitchFamily="34" charset="0"/>
              </a:rPr>
              <a:t>url</a:t>
            </a:r>
            <a:r>
              <a:rPr lang="en-US" altLang="en-US" i="1" dirty="0">
                <a:latin typeface="Arial" panose="020B0604020202020204" pitchFamily="34" charset="0"/>
              </a:rPr>
              <a:t>.</a:t>
            </a:r>
          </a:p>
          <a:p>
            <a:r>
              <a:rPr lang="en-US" altLang="en-US" dirty="0">
                <a:latin typeface="Arial" panose="020B0604020202020204" pitchFamily="34" charset="0"/>
              </a:rPr>
              <a:t>import urllib2</a:t>
            </a:r>
          </a:p>
          <a:p>
            <a:r>
              <a:rPr lang="en-US" altLang="en-US" dirty="0" err="1">
                <a:latin typeface="Arial" panose="020B0604020202020204" pitchFamily="34" charset="0"/>
              </a:rPr>
              <a:t>url</a:t>
            </a:r>
            <a:r>
              <a:rPr lang="en-US" altLang="en-US" dirty="0">
                <a:latin typeface="Arial" panose="020B0604020202020204" pitchFamily="34" charset="0"/>
              </a:rPr>
              <a:t> = "https://lgtateos.github.io/gis540/</a:t>
            </a:r>
            <a:r>
              <a:rPr lang="en-US" altLang="en-US" dirty="0" err="1">
                <a:latin typeface="Arial" panose="020B0604020202020204" pitchFamily="34" charset="0"/>
              </a:rPr>
              <a:t>supMaterials</a:t>
            </a:r>
            <a:r>
              <a:rPr lang="en-US" altLang="en-US" dirty="0">
                <a:latin typeface="Arial" panose="020B0604020202020204" pitchFamily="34" charset="0"/>
              </a:rPr>
              <a:t>/example.html"</a:t>
            </a:r>
          </a:p>
          <a:p>
            <a:r>
              <a:rPr lang="en-US" altLang="en-US" dirty="0">
                <a:latin typeface="Arial" panose="020B0604020202020204" pitchFamily="34" charset="0"/>
              </a:rPr>
              <a:t>response = urllib2.urlopen(</a:t>
            </a:r>
            <a:r>
              <a:rPr lang="en-US" altLang="en-US" dirty="0" err="1">
                <a:latin typeface="Arial" panose="020B0604020202020204" pitchFamily="34" charset="0"/>
              </a:rPr>
              <a:t>url</a:t>
            </a:r>
            <a:r>
              <a:rPr lang="en-US" altLang="en-US" dirty="0">
                <a:latin typeface="Arial" panose="020B0604020202020204" pitchFamily="34" charset="0"/>
              </a:rPr>
              <a:t>)</a:t>
            </a:r>
          </a:p>
          <a:p>
            <a:r>
              <a:rPr lang="en-US" altLang="en-US" dirty="0">
                <a:latin typeface="Arial" panose="020B0604020202020204" pitchFamily="34" charset="0"/>
              </a:rPr>
              <a:t>for line in </a:t>
            </a:r>
            <a:r>
              <a:rPr lang="en-US" altLang="en-US" dirty="0" err="1">
                <a:latin typeface="Arial" panose="020B0604020202020204" pitchFamily="34" charset="0"/>
              </a:rPr>
              <a:t>response.readlines</a:t>
            </a:r>
            <a:r>
              <a:rPr lang="en-US" altLang="en-US" dirty="0">
                <a:latin typeface="Arial" panose="020B0604020202020204" pitchFamily="34" charset="0"/>
              </a:rPr>
              <a:t>():</a:t>
            </a:r>
          </a:p>
          <a:p>
            <a:r>
              <a:rPr lang="en-US" altLang="en-US" dirty="0">
                <a:latin typeface="Arial" panose="020B0604020202020204" pitchFamily="34" charset="0"/>
              </a:rPr>
              <a:t>    print(line)</a:t>
            </a:r>
          </a:p>
          <a:p>
            <a:r>
              <a:rPr lang="en-US" altLang="en-US" dirty="0" err="1">
                <a:latin typeface="Arial" panose="020B0604020202020204" pitchFamily="34" charset="0"/>
              </a:rPr>
              <a:t>response.close</a:t>
            </a:r>
            <a:r>
              <a:rPr lang="en-US" altLang="en-US" dirty="0">
                <a:latin typeface="Arial" panose="020B0604020202020204" pitchFamily="34" charset="0"/>
              </a:rPr>
              <a:t>()</a:t>
            </a:r>
          </a:p>
          <a:p>
            <a:endParaRPr lang="en-US" altLang="en-US" dirty="0">
              <a:latin typeface="Arial" panose="020B0604020202020204" pitchFamily="34" charset="0"/>
            </a:endParaRPr>
          </a:p>
        </p:txBody>
      </p:sp>
      <p:sp>
        <p:nvSpPr>
          <p:cNvPr id="6148" name="Slide Number Placeholder 3">
            <a:extLst>
              <a:ext uri="{FF2B5EF4-FFF2-40B4-BE49-F238E27FC236}">
                <a16:creationId xmlns:a16="http://schemas.microsoft.com/office/drawing/2014/main" id="{29BE6EAF-9988-DF81-84FD-23B485E24C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6CD5D82-AD86-42E9-8AD2-FA467496FE25}" type="slidenum">
              <a:rPr lang="en-US" altLang="en-US"/>
              <a:pPr>
                <a:spcBef>
                  <a:spcPct val="0"/>
                </a:spcBef>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100" i="1" dirty="0">
                <a:solidFill>
                  <a:schemeClr val="accent6">
                    <a:lumMod val="75000"/>
                  </a:schemeClr>
                </a:solidFill>
              </a:rPr>
              <a:t># listWeatherData.py</a:t>
            </a:r>
          </a:p>
          <a:p>
            <a:pPr marL="158750" indent="0">
              <a:buNone/>
            </a:pPr>
            <a:r>
              <a:rPr lang="en-US" sz="1100" i="1" dirty="0">
                <a:solidFill>
                  <a:schemeClr val="accent6">
                    <a:lumMod val="75000"/>
                  </a:schemeClr>
                </a:solidFill>
              </a:rPr>
              <a:t># Purpose: Read and print the links in an HTML data page.</a:t>
            </a:r>
          </a:p>
          <a:p>
            <a:pPr marL="158750" indent="0">
              <a:buNone/>
            </a:pPr>
            <a:r>
              <a:rPr lang="en-US" sz="1100" dirty="0"/>
              <a:t>import bs4</a:t>
            </a:r>
          </a:p>
          <a:p>
            <a:pPr marL="158750" indent="0">
              <a:buNone/>
            </a:pPr>
            <a:r>
              <a:rPr lang="en-US" sz="1100" dirty="0"/>
              <a:t>import requests</a:t>
            </a:r>
          </a:p>
          <a:p>
            <a:pPr marL="158750" indent="0">
              <a:buNone/>
            </a:pPr>
            <a:r>
              <a:rPr lang="en-US" sz="1100" dirty="0"/>
              <a:t>import sys</a:t>
            </a:r>
          </a:p>
          <a:p>
            <a:pPr marL="158750" indent="0">
              <a:buNone/>
            </a:pPr>
            <a:endParaRPr lang="en-US" sz="1100" dirty="0"/>
          </a:p>
          <a:p>
            <a:pPr marL="158750" indent="0">
              <a:buNone/>
            </a:pPr>
            <a:r>
              <a:rPr lang="en-US" sz="1100" i="1" dirty="0">
                <a:solidFill>
                  <a:schemeClr val="accent6">
                    <a:lumMod val="75000"/>
                  </a:schemeClr>
                </a:solidFill>
              </a:rPr>
              <a:t># Fetch the HTML file contents.</a:t>
            </a:r>
            <a:endParaRPr lang="en-US" sz="1100" dirty="0">
              <a:solidFill>
                <a:schemeClr val="accent6">
                  <a:lumMod val="75000"/>
                </a:schemeClr>
              </a:solidFill>
            </a:endParaRPr>
          </a:p>
          <a:p>
            <a:pPr marL="158750" indent="0">
              <a:buNone/>
            </a:pPr>
            <a:r>
              <a:rPr lang="en-US" sz="1100" dirty="0" err="1"/>
              <a:t>url</a:t>
            </a:r>
            <a:r>
              <a:rPr lang="en-US" sz="1100" dirty="0"/>
              <a:t> = "https://fawn.ifas.ufl.edu/data/</a:t>
            </a:r>
            <a:r>
              <a:rPr lang="en-US" sz="1100" dirty="0" err="1"/>
              <a:t>fawnpub</a:t>
            </a:r>
            <a:r>
              <a:rPr lang="en-US" sz="1100" dirty="0"/>
              <a:t>/</a:t>
            </a:r>
            <a:r>
              <a:rPr lang="en-US" sz="1100" dirty="0" err="1"/>
              <a:t>daily_summaries</a:t>
            </a:r>
            <a:r>
              <a:rPr lang="en-US" sz="1100" dirty="0"/>
              <a:t>/BY_YEAR/"</a:t>
            </a:r>
          </a:p>
          <a:p>
            <a:pPr marL="158750" indent="0">
              <a:buNone/>
            </a:pPr>
            <a:r>
              <a:rPr lang="en-US" sz="1100" dirty="0"/>
              <a:t>response = </a:t>
            </a:r>
            <a:r>
              <a:rPr lang="en-US" sz="1100" dirty="0" err="1"/>
              <a:t>requests.get</a:t>
            </a:r>
            <a:r>
              <a:rPr lang="en-US" sz="1100" dirty="0"/>
              <a:t>(</a:t>
            </a:r>
            <a:r>
              <a:rPr lang="en-US" sz="1100" dirty="0" err="1"/>
              <a:t>url</a:t>
            </a:r>
            <a:r>
              <a:rPr lang="en-US" sz="1100" dirty="0"/>
              <a:t>)</a:t>
            </a:r>
          </a:p>
          <a:p>
            <a:pPr marL="158750" indent="0">
              <a:buNone/>
            </a:pPr>
            <a:r>
              <a:rPr lang="en-US" sz="1100" dirty="0"/>
              <a:t>contents = </a:t>
            </a:r>
            <a:r>
              <a:rPr lang="en-US" sz="1100" dirty="0" err="1"/>
              <a:t>response.text</a:t>
            </a:r>
            <a:endParaRPr lang="en-US" sz="1100" dirty="0"/>
          </a:p>
          <a:p>
            <a:pPr marL="158750" indent="0">
              <a:buNone/>
            </a:pPr>
            <a:r>
              <a:rPr lang="en-US" sz="1100" dirty="0" err="1"/>
              <a:t>response.close</a:t>
            </a:r>
            <a:r>
              <a:rPr lang="en-US" sz="1100" dirty="0"/>
              <a:t>()</a:t>
            </a:r>
          </a:p>
          <a:p>
            <a:pPr marL="158750" indent="0">
              <a:buNone/>
            </a:pPr>
            <a:endParaRPr lang="en-US" sz="1100" dirty="0"/>
          </a:p>
          <a:p>
            <a:pPr marL="158750" indent="0">
              <a:buNone/>
            </a:pPr>
            <a:r>
              <a:rPr lang="en-US" sz="1100" i="1" dirty="0">
                <a:solidFill>
                  <a:schemeClr val="accent6">
                    <a:lumMod val="75000"/>
                  </a:schemeClr>
                </a:solidFill>
              </a:rPr>
              <a:t># Create a soup object from the HTML contents.</a:t>
            </a:r>
          </a:p>
          <a:p>
            <a:pPr marL="158750" indent="0">
              <a:buNone/>
            </a:pPr>
            <a:r>
              <a:rPr lang="en-US" sz="1100" dirty="0"/>
              <a:t>soup = bs4.BeautifulSoup(contents)</a:t>
            </a:r>
          </a:p>
          <a:p>
            <a:pPr marL="158750" indent="0">
              <a:buNone/>
            </a:pPr>
            <a:endParaRPr lang="en-US" sz="1100" i="1" dirty="0"/>
          </a:p>
          <a:p>
            <a:pPr marL="158750" indent="0">
              <a:buNone/>
            </a:pPr>
            <a:r>
              <a:rPr lang="en-US" sz="1100" i="1" dirty="0">
                <a:solidFill>
                  <a:schemeClr val="accent6">
                    <a:lumMod val="75000"/>
                  </a:schemeClr>
                </a:solidFill>
              </a:rPr>
              <a:t># Find all the hyperlinks in the page.</a:t>
            </a:r>
            <a:endParaRPr lang="en-US" sz="1100" dirty="0">
              <a:solidFill>
                <a:schemeClr val="accent6">
                  <a:lumMod val="75000"/>
                </a:schemeClr>
              </a:solidFill>
            </a:endParaRPr>
          </a:p>
          <a:p>
            <a:pPr marL="158750" indent="0">
              <a:buNone/>
            </a:pPr>
            <a:r>
              <a:rPr lang="en-US" sz="1100" dirty="0" err="1"/>
              <a:t>linkTags</a:t>
            </a:r>
            <a:r>
              <a:rPr lang="en-US" sz="1100" dirty="0"/>
              <a:t> = </a:t>
            </a:r>
            <a:r>
              <a:rPr lang="en-US" sz="1100" dirty="0" err="1"/>
              <a:t>soup.findAll</a:t>
            </a:r>
            <a:r>
              <a:rPr lang="en-US" sz="1100" dirty="0"/>
              <a:t>("a")</a:t>
            </a:r>
          </a:p>
          <a:p>
            <a:pPr marL="158750" indent="0">
              <a:buNone/>
            </a:pPr>
            <a:endParaRPr lang="en-US" sz="1100" dirty="0"/>
          </a:p>
          <a:p>
            <a:pPr marL="158750" indent="0">
              <a:buNone/>
            </a:pPr>
            <a:r>
              <a:rPr lang="en-US" sz="1100" i="1" dirty="0">
                <a:solidFill>
                  <a:schemeClr val="accent6">
                    <a:lumMod val="75000"/>
                  </a:schemeClr>
                </a:solidFill>
              </a:rPr>
              <a:t># Print each hyperlink reference.</a:t>
            </a:r>
          </a:p>
          <a:p>
            <a:pPr marL="158750" indent="0">
              <a:buNone/>
            </a:pPr>
            <a:r>
              <a:rPr lang="en-US" sz="1100" b="1" dirty="0"/>
              <a:t>for</a:t>
            </a:r>
            <a:r>
              <a:rPr lang="en-US" sz="1100" dirty="0"/>
              <a:t> </a:t>
            </a:r>
            <a:r>
              <a:rPr lang="en-US" sz="1100" dirty="0" err="1"/>
              <a:t>linkTag</a:t>
            </a:r>
            <a:r>
              <a:rPr lang="en-US" sz="1100" dirty="0"/>
              <a:t> </a:t>
            </a:r>
            <a:r>
              <a:rPr lang="en-US" sz="1100" b="1" dirty="0"/>
              <a:t>in</a:t>
            </a:r>
            <a:r>
              <a:rPr lang="en-US" sz="1100" dirty="0"/>
              <a:t> </a:t>
            </a:r>
            <a:r>
              <a:rPr lang="en-US" sz="1100" dirty="0" err="1"/>
              <a:t>linkTags</a:t>
            </a:r>
            <a:r>
              <a:rPr lang="en-US" sz="1100" dirty="0"/>
              <a:t>:</a:t>
            </a:r>
          </a:p>
          <a:p>
            <a:pPr marL="158750" indent="0">
              <a:buNone/>
            </a:pPr>
            <a:r>
              <a:rPr lang="en-US" sz="1100" dirty="0"/>
              <a:t>     print(</a:t>
            </a:r>
            <a:r>
              <a:rPr lang="en-US" sz="1100" dirty="0" err="1"/>
              <a:t>f"Link</a:t>
            </a:r>
            <a:r>
              <a:rPr lang="en-US" sz="1100" dirty="0"/>
              <a:t>: {</a:t>
            </a:r>
            <a:r>
              <a:rPr lang="en-US" sz="1100" dirty="0" err="1"/>
              <a:t>linkTag</a:t>
            </a:r>
            <a:r>
              <a:rPr lang="en-US" sz="1100" dirty="0"/>
              <a:t>['</a:t>
            </a:r>
            <a:r>
              <a:rPr lang="en-US" sz="1100" dirty="0" err="1"/>
              <a:t>href</a:t>
            </a:r>
            <a:r>
              <a:rPr lang="en-US" sz="1100" dirty="0"/>
              <a:t>']}")</a:t>
            </a:r>
          </a:p>
          <a:p>
            <a:pPr marL="158750" indent="0">
              <a:buNone/>
            </a:pPr>
            <a:endParaRPr lang="en-US" dirty="0"/>
          </a:p>
        </p:txBody>
      </p:sp>
    </p:spTree>
    <p:extLst>
      <p:ext uri="{BB962C8B-B14F-4D97-AF65-F5344CB8AC3E}">
        <p14:creationId xmlns:p14="http://schemas.microsoft.com/office/powerpoint/2010/main" val="3975161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0D4F1-0C31-D7B9-B006-93BA1A37A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7AF9E-C8A5-124A-F647-194B47942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5967B-07F0-82EF-FB55-385ABF6DD78F}"/>
              </a:ext>
            </a:extLst>
          </p:cNvPr>
          <p:cNvSpPr>
            <a:spLocks noGrp="1"/>
          </p:cNvSpPr>
          <p:nvPr>
            <p:ph type="body" idx="1"/>
          </p:nvPr>
        </p:nvSpPr>
        <p:spPr/>
        <p:txBody>
          <a:bodyPr/>
          <a:lstStyle/>
          <a:p>
            <a:pPr marL="158750" indent="0">
              <a:buNone/>
            </a:pPr>
            <a:r>
              <a:rPr lang="en-US" sz="1100" i="1" dirty="0">
                <a:solidFill>
                  <a:schemeClr val="accent6">
                    <a:lumMod val="75000"/>
                  </a:schemeClr>
                </a:solidFill>
              </a:rPr>
              <a:t># listWeatherData.py</a:t>
            </a:r>
          </a:p>
          <a:p>
            <a:pPr marL="158750" indent="0">
              <a:buNone/>
            </a:pPr>
            <a:r>
              <a:rPr lang="en-US" sz="1100" i="1" dirty="0">
                <a:solidFill>
                  <a:schemeClr val="accent6">
                    <a:lumMod val="75000"/>
                  </a:schemeClr>
                </a:solidFill>
              </a:rPr>
              <a:t># Purpose: Read links in an HTML data page and download the CSV datasets.</a:t>
            </a:r>
          </a:p>
          <a:p>
            <a:pPr marL="158750" indent="0">
              <a:buNone/>
            </a:pPr>
            <a:r>
              <a:rPr lang="en-US" sz="1100" i="1" dirty="0">
                <a:solidFill>
                  <a:schemeClr val="accent6">
                    <a:lumMod val="75000"/>
                  </a:schemeClr>
                </a:solidFill>
              </a:rPr>
              <a:t>import bs4</a:t>
            </a:r>
          </a:p>
          <a:p>
            <a:pPr marL="158750" indent="0">
              <a:buNone/>
            </a:pPr>
            <a:r>
              <a:rPr lang="en-US" sz="1100" i="1" dirty="0">
                <a:solidFill>
                  <a:schemeClr val="accent6">
                    <a:lumMod val="75000"/>
                  </a:schemeClr>
                </a:solidFill>
              </a:rPr>
              <a:t>import requests</a:t>
            </a:r>
          </a:p>
          <a:p>
            <a:pPr marL="158750" indent="0">
              <a:buNone/>
            </a:pPr>
            <a:r>
              <a:rPr lang="en-US" sz="1100" i="1" dirty="0">
                <a:solidFill>
                  <a:schemeClr val="accent6">
                    <a:lumMod val="75000"/>
                  </a:schemeClr>
                </a:solidFill>
              </a:rPr>
              <a:t>import sys</a:t>
            </a:r>
          </a:p>
          <a:p>
            <a:pPr marL="158750" indent="0">
              <a:buNone/>
            </a:pPr>
            <a:r>
              <a:rPr lang="en-US" sz="1100" i="1" dirty="0">
                <a:solidFill>
                  <a:schemeClr val="accent6">
                    <a:lumMod val="75000"/>
                  </a:schemeClr>
                </a:solidFill>
              </a:rPr>
              <a:t>import </a:t>
            </a:r>
            <a:r>
              <a:rPr lang="en-US" sz="1100" i="1" dirty="0" err="1">
                <a:solidFill>
                  <a:schemeClr val="accent6">
                    <a:lumMod val="75000"/>
                  </a:schemeClr>
                </a:solidFill>
              </a:rPr>
              <a:t>os</a:t>
            </a:r>
            <a:endParaRPr lang="en-US" sz="1100" i="1" dirty="0">
              <a:solidFill>
                <a:schemeClr val="accent6">
                  <a:lumMod val="75000"/>
                </a:schemeClr>
              </a:solidFill>
            </a:endParaRPr>
          </a:p>
          <a:p>
            <a:pPr marL="158750" indent="0">
              <a:buNone/>
            </a:pPr>
            <a:endParaRPr lang="en-US" sz="1100" i="1" dirty="0">
              <a:solidFill>
                <a:schemeClr val="accent6">
                  <a:lumMod val="75000"/>
                </a:schemeClr>
              </a:solidFill>
            </a:endParaRPr>
          </a:p>
          <a:p>
            <a:pPr marL="158750" indent="0">
              <a:buNone/>
            </a:pPr>
            <a:r>
              <a:rPr lang="en-US" sz="1100" i="1" dirty="0" err="1">
                <a:solidFill>
                  <a:schemeClr val="accent6">
                    <a:lumMod val="75000"/>
                  </a:schemeClr>
                </a:solidFill>
              </a:rPr>
              <a:t>outputDir</a:t>
            </a:r>
            <a:r>
              <a:rPr lang="en-US" sz="1100" i="1" dirty="0">
                <a:solidFill>
                  <a:schemeClr val="accent6">
                    <a:lumMod val="75000"/>
                  </a:schemeClr>
                </a:solidFill>
              </a:rPr>
              <a:t> = "C:/gispy/scratch/"</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Fetch the HTML file contents.</a:t>
            </a:r>
          </a:p>
          <a:p>
            <a:pPr marL="158750" indent="0">
              <a:buNone/>
            </a:pPr>
            <a:r>
              <a:rPr lang="en-US" sz="1100" i="1" dirty="0" err="1">
                <a:solidFill>
                  <a:schemeClr val="accent6">
                    <a:lumMod val="75000"/>
                  </a:schemeClr>
                </a:solidFill>
              </a:rPr>
              <a:t>url</a:t>
            </a:r>
            <a:r>
              <a:rPr lang="en-US" sz="1100" i="1" dirty="0">
                <a:solidFill>
                  <a:schemeClr val="accent6">
                    <a:lumMod val="75000"/>
                  </a:schemeClr>
                </a:solidFill>
              </a:rPr>
              <a:t> = "https://fawn.ifas.ufl.edu/data/</a:t>
            </a:r>
            <a:r>
              <a:rPr lang="en-US" sz="1100" i="1" dirty="0" err="1">
                <a:solidFill>
                  <a:schemeClr val="accent6">
                    <a:lumMod val="75000"/>
                  </a:schemeClr>
                </a:solidFill>
              </a:rPr>
              <a:t>fawnpub</a:t>
            </a:r>
            <a:r>
              <a:rPr lang="en-US" sz="1100" i="1" dirty="0">
                <a:solidFill>
                  <a:schemeClr val="accent6">
                    <a:lumMod val="75000"/>
                  </a:schemeClr>
                </a:solidFill>
              </a:rPr>
              <a:t>/</a:t>
            </a:r>
            <a:r>
              <a:rPr lang="en-US" sz="1100" i="1" dirty="0" err="1">
                <a:solidFill>
                  <a:schemeClr val="accent6">
                    <a:lumMod val="75000"/>
                  </a:schemeClr>
                </a:solidFill>
              </a:rPr>
              <a:t>daily_summaries</a:t>
            </a:r>
            <a:r>
              <a:rPr lang="en-US" sz="1100" i="1" dirty="0">
                <a:solidFill>
                  <a:schemeClr val="accent6">
                    <a:lumMod val="75000"/>
                  </a:schemeClr>
                </a:solidFill>
              </a:rPr>
              <a:t>/BY_YEAR/"</a:t>
            </a:r>
          </a:p>
          <a:p>
            <a:pPr marL="158750" indent="0">
              <a:buNone/>
            </a:pPr>
            <a:r>
              <a:rPr lang="en-US" sz="1100" i="1" dirty="0">
                <a:solidFill>
                  <a:schemeClr val="accent6">
                    <a:lumMod val="75000"/>
                  </a:schemeClr>
                </a:solidFill>
              </a:rPr>
              <a:t>response = </a:t>
            </a:r>
            <a:r>
              <a:rPr lang="en-US" sz="1100" i="1" dirty="0" err="1">
                <a:solidFill>
                  <a:schemeClr val="accent6">
                    <a:lumMod val="75000"/>
                  </a:schemeClr>
                </a:solidFill>
              </a:rPr>
              <a:t>requests.get</a:t>
            </a:r>
            <a:r>
              <a:rPr lang="en-US" sz="1100" i="1" dirty="0">
                <a:solidFill>
                  <a:schemeClr val="accent6">
                    <a:lumMod val="75000"/>
                  </a:schemeClr>
                </a:solidFill>
              </a:rPr>
              <a:t>(</a:t>
            </a:r>
            <a:r>
              <a:rPr lang="en-US" sz="1100" i="1" dirty="0" err="1">
                <a:solidFill>
                  <a:schemeClr val="accent6">
                    <a:lumMod val="75000"/>
                  </a:schemeClr>
                </a:solidFill>
              </a:rPr>
              <a:t>url</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contents = </a:t>
            </a:r>
            <a:r>
              <a:rPr lang="en-US" sz="1100" i="1" dirty="0" err="1">
                <a:solidFill>
                  <a:schemeClr val="accent6">
                    <a:lumMod val="75000"/>
                  </a:schemeClr>
                </a:solidFill>
              </a:rPr>
              <a:t>response.text</a:t>
            </a:r>
            <a:endParaRPr lang="en-US" sz="1100" i="1" dirty="0">
              <a:solidFill>
                <a:schemeClr val="accent6">
                  <a:lumMod val="75000"/>
                </a:schemeClr>
              </a:solidFill>
            </a:endParaRPr>
          </a:p>
          <a:p>
            <a:pPr marL="158750" indent="0">
              <a:buNone/>
            </a:pPr>
            <a:r>
              <a:rPr lang="en-US" sz="1100" i="1" dirty="0" err="1">
                <a:solidFill>
                  <a:schemeClr val="accent6">
                    <a:lumMod val="75000"/>
                  </a:schemeClr>
                </a:solidFill>
              </a:rPr>
              <a:t>response.close</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Create a soup object from the HTML contents.</a:t>
            </a:r>
          </a:p>
          <a:p>
            <a:pPr marL="158750" indent="0">
              <a:buNone/>
            </a:pPr>
            <a:r>
              <a:rPr lang="en-US" sz="1100" i="1" dirty="0">
                <a:solidFill>
                  <a:schemeClr val="accent6">
                    <a:lumMod val="75000"/>
                  </a:schemeClr>
                </a:solidFill>
              </a:rPr>
              <a:t>soup = bs4.BeautifulSoup(contents)</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Find all the hyperlinks in the page.</a:t>
            </a:r>
          </a:p>
          <a:p>
            <a:pPr marL="158750" indent="0">
              <a:buNone/>
            </a:pPr>
            <a:r>
              <a:rPr lang="en-US" sz="1100" i="1" dirty="0" err="1">
                <a:solidFill>
                  <a:schemeClr val="accent6">
                    <a:lumMod val="75000"/>
                  </a:schemeClr>
                </a:solidFill>
              </a:rPr>
              <a:t>linkTags</a:t>
            </a:r>
            <a:r>
              <a:rPr lang="en-US" sz="1100" i="1" dirty="0">
                <a:solidFill>
                  <a:schemeClr val="accent6">
                    <a:lumMod val="75000"/>
                  </a:schemeClr>
                </a:solidFill>
              </a:rPr>
              <a:t> = </a:t>
            </a:r>
            <a:r>
              <a:rPr lang="en-US" sz="1100" i="1" dirty="0" err="1">
                <a:solidFill>
                  <a:schemeClr val="accent6">
                    <a:lumMod val="75000"/>
                  </a:schemeClr>
                </a:solidFill>
              </a:rPr>
              <a:t>soup.findAll</a:t>
            </a:r>
            <a:r>
              <a:rPr lang="en-US" sz="1100" i="1" dirty="0">
                <a:solidFill>
                  <a:schemeClr val="accent6">
                    <a:lumMod val="75000"/>
                  </a:schemeClr>
                </a:solidFill>
              </a:rPr>
              <a:t>("a")</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Get each linked csv.</a:t>
            </a:r>
          </a:p>
          <a:p>
            <a:pPr marL="158750" indent="0">
              <a:buNone/>
            </a:pPr>
            <a:r>
              <a:rPr lang="en-US" sz="1100" i="1" dirty="0">
                <a:solidFill>
                  <a:schemeClr val="accent6">
                    <a:lumMod val="75000"/>
                  </a:schemeClr>
                </a:solidFill>
              </a:rPr>
              <a:t>for </a:t>
            </a:r>
            <a:r>
              <a:rPr lang="en-US" sz="1100" i="1" dirty="0" err="1">
                <a:solidFill>
                  <a:schemeClr val="accent6">
                    <a:lumMod val="75000"/>
                  </a:schemeClr>
                </a:solidFill>
              </a:rPr>
              <a:t>linkTag</a:t>
            </a:r>
            <a:r>
              <a:rPr lang="en-US" sz="1100" i="1" dirty="0">
                <a:solidFill>
                  <a:schemeClr val="accent6">
                    <a:lumMod val="75000"/>
                  </a:schemeClr>
                </a:solidFill>
              </a:rPr>
              <a:t> in </a:t>
            </a:r>
            <a:r>
              <a:rPr lang="en-US" sz="1100" i="1" dirty="0" err="1">
                <a:solidFill>
                  <a:schemeClr val="accent6">
                    <a:lumMod val="75000"/>
                  </a:schemeClr>
                </a:solidFill>
              </a:rPr>
              <a:t>linkTags</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theLink</a:t>
            </a:r>
            <a:r>
              <a:rPr lang="en-US" sz="1100" i="1" dirty="0">
                <a:solidFill>
                  <a:schemeClr val="accent6">
                    <a:lumMod val="75000"/>
                  </a:schemeClr>
                </a:solidFill>
              </a:rPr>
              <a:t> = </a:t>
            </a:r>
            <a:r>
              <a:rPr lang="en-US" sz="1100" i="1" dirty="0" err="1">
                <a:solidFill>
                  <a:schemeClr val="accent6">
                    <a:lumMod val="75000"/>
                  </a:schemeClr>
                </a:solidFill>
              </a:rPr>
              <a:t>linkTag</a:t>
            </a:r>
            <a:r>
              <a:rPr lang="en-US" sz="1100" i="1" dirty="0">
                <a:solidFill>
                  <a:schemeClr val="accent6">
                    <a:lumMod val="75000"/>
                  </a:schemeClr>
                </a:solidFill>
              </a:rPr>
              <a:t>['</a:t>
            </a:r>
            <a:r>
              <a:rPr lang="en-US" sz="1100" i="1" dirty="0" err="1">
                <a:solidFill>
                  <a:schemeClr val="accent6">
                    <a:lumMod val="75000"/>
                  </a:schemeClr>
                </a:solidFill>
              </a:rPr>
              <a:t>href</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if </a:t>
            </a:r>
            <a:r>
              <a:rPr lang="en-US" sz="1100" i="1" dirty="0" err="1">
                <a:solidFill>
                  <a:schemeClr val="accent6">
                    <a:lumMod val="75000"/>
                  </a:schemeClr>
                </a:solidFill>
              </a:rPr>
              <a:t>theLink.endswith</a:t>
            </a:r>
            <a:r>
              <a:rPr lang="en-US" sz="1100" i="1" dirty="0">
                <a:solidFill>
                  <a:schemeClr val="accent6">
                    <a:lumMod val="75000"/>
                  </a:schemeClr>
                </a:solidFill>
              </a:rPr>
              <a:t>(".csv"):</a:t>
            </a:r>
          </a:p>
          <a:p>
            <a:pPr marL="158750" indent="0">
              <a:buNone/>
            </a:pPr>
            <a:r>
              <a:rPr lang="en-US" sz="1100" i="1" dirty="0">
                <a:solidFill>
                  <a:schemeClr val="accent6">
                    <a:lumMod val="75000"/>
                  </a:schemeClr>
                </a:solidFill>
              </a:rPr>
              <a:t>        print(</a:t>
            </a:r>
            <a:r>
              <a:rPr lang="en-US" sz="1100" i="1" dirty="0" err="1">
                <a:solidFill>
                  <a:schemeClr val="accent6">
                    <a:lumMod val="75000"/>
                  </a:schemeClr>
                </a:solidFill>
              </a:rPr>
              <a:t>f"Link</a:t>
            </a:r>
            <a:r>
              <a:rPr lang="en-US" sz="1100" i="1" dirty="0">
                <a:solidFill>
                  <a:schemeClr val="accent6">
                    <a:lumMod val="75000"/>
                  </a:schemeClr>
                </a:solidFill>
              </a:rPr>
              <a:t>: {</a:t>
            </a:r>
            <a:r>
              <a:rPr lang="en-US" sz="1100" i="1" dirty="0" err="1">
                <a:solidFill>
                  <a:schemeClr val="accent6">
                    <a:lumMod val="75000"/>
                  </a:schemeClr>
                </a:solidFill>
              </a:rPr>
              <a:t>linkTag</a:t>
            </a:r>
            <a:r>
              <a:rPr lang="en-US" sz="1100" i="1" dirty="0">
                <a:solidFill>
                  <a:schemeClr val="accent6">
                    <a:lumMod val="75000"/>
                  </a:schemeClr>
                </a:solidFill>
              </a:rPr>
              <a:t>['</a:t>
            </a:r>
            <a:r>
              <a:rPr lang="en-US" sz="1100" i="1" dirty="0" err="1">
                <a:solidFill>
                  <a:schemeClr val="accent6">
                    <a:lumMod val="75000"/>
                  </a:schemeClr>
                </a:solidFill>
              </a:rPr>
              <a:t>href</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 Fetch and write</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full_link</a:t>
            </a:r>
            <a:r>
              <a:rPr lang="en-US" sz="1100" i="1" dirty="0">
                <a:solidFill>
                  <a:schemeClr val="accent6">
                    <a:lumMod val="75000"/>
                  </a:schemeClr>
                </a:solidFill>
              </a:rPr>
              <a:t> = </a:t>
            </a:r>
            <a:r>
              <a:rPr lang="en-US" sz="1100" i="1" dirty="0" err="1">
                <a:solidFill>
                  <a:schemeClr val="accent6">
                    <a:lumMod val="75000"/>
                  </a:schemeClr>
                </a:solidFill>
              </a:rPr>
              <a:t>url</a:t>
            </a:r>
            <a:r>
              <a:rPr lang="en-US" sz="1100" i="1" dirty="0">
                <a:solidFill>
                  <a:schemeClr val="accent6">
                    <a:lumMod val="75000"/>
                  </a:schemeClr>
                </a:solidFill>
              </a:rPr>
              <a:t> + </a:t>
            </a:r>
            <a:r>
              <a:rPr lang="en-US" sz="1100" i="1" dirty="0" err="1">
                <a:solidFill>
                  <a:schemeClr val="accent6">
                    <a:lumMod val="75000"/>
                  </a:schemeClr>
                </a:solidFill>
              </a:rPr>
              <a:t>theLink</a:t>
            </a: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outputName</a:t>
            </a:r>
            <a:r>
              <a:rPr lang="en-US" sz="1100" i="1" dirty="0">
                <a:solidFill>
                  <a:schemeClr val="accent6">
                    <a:lumMod val="75000"/>
                  </a:schemeClr>
                </a:solidFill>
              </a:rPr>
              <a:t> = </a:t>
            </a:r>
            <a:r>
              <a:rPr lang="en-US" sz="1100" i="1" dirty="0" err="1">
                <a:solidFill>
                  <a:schemeClr val="accent6">
                    <a:lumMod val="75000"/>
                  </a:schemeClr>
                </a:solidFill>
              </a:rPr>
              <a:t>os.path.join</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 </a:t>
            </a:r>
            <a:r>
              <a:rPr lang="en-US" sz="1100" i="1" dirty="0" err="1">
                <a:solidFill>
                  <a:schemeClr val="accent6">
                    <a:lumMod val="75000"/>
                  </a:schemeClr>
                </a:solidFill>
              </a:rPr>
              <a:t>os.path.basename</a:t>
            </a:r>
            <a:r>
              <a:rPr lang="en-US" sz="1100" i="1" dirty="0">
                <a:solidFill>
                  <a:schemeClr val="accent6">
                    <a:lumMod val="75000"/>
                  </a:schemeClr>
                </a:solidFill>
              </a:rPr>
              <a:t>(</a:t>
            </a:r>
            <a:r>
              <a:rPr lang="en-US" sz="1100" i="1" dirty="0" err="1">
                <a:solidFill>
                  <a:schemeClr val="accent6">
                    <a:lumMod val="75000"/>
                  </a:schemeClr>
                </a:solidFill>
              </a:rPr>
              <a:t>theLink</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response = </a:t>
            </a:r>
            <a:r>
              <a:rPr lang="en-US" sz="1100" i="1" dirty="0" err="1">
                <a:solidFill>
                  <a:schemeClr val="accent6">
                    <a:lumMod val="75000"/>
                  </a:schemeClr>
                </a:solidFill>
              </a:rPr>
              <a:t>requests.get</a:t>
            </a:r>
            <a:r>
              <a:rPr lang="en-US" sz="1100" i="1" dirty="0">
                <a:solidFill>
                  <a:schemeClr val="accent6">
                    <a:lumMod val="75000"/>
                  </a:schemeClr>
                </a:solidFill>
              </a:rPr>
              <a:t>(</a:t>
            </a:r>
            <a:r>
              <a:rPr lang="en-US" sz="1100" i="1" dirty="0" err="1">
                <a:solidFill>
                  <a:schemeClr val="accent6">
                    <a:lumMod val="75000"/>
                  </a:schemeClr>
                </a:solidFill>
              </a:rPr>
              <a:t>full_link</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with open(</a:t>
            </a:r>
            <a:r>
              <a:rPr lang="en-US" sz="1100" i="1" dirty="0" err="1">
                <a:solidFill>
                  <a:schemeClr val="accent6">
                    <a:lumMod val="75000"/>
                  </a:schemeClr>
                </a:solidFill>
              </a:rPr>
              <a:t>outputName</a:t>
            </a:r>
            <a:r>
              <a:rPr lang="en-US" sz="1100" i="1" dirty="0">
                <a:solidFill>
                  <a:schemeClr val="accent6">
                    <a:lumMod val="75000"/>
                  </a:schemeClr>
                </a:solidFill>
              </a:rPr>
              <a:t>, "</a:t>
            </a:r>
            <a:r>
              <a:rPr lang="en-US" sz="1100" i="1" dirty="0" err="1">
                <a:solidFill>
                  <a:schemeClr val="accent6">
                    <a:lumMod val="75000"/>
                  </a:schemeClr>
                </a:solidFill>
              </a:rPr>
              <a:t>wb</a:t>
            </a:r>
            <a:r>
              <a:rPr lang="en-US" sz="1100" i="1" dirty="0">
                <a:solidFill>
                  <a:schemeClr val="accent6">
                    <a:lumMod val="75000"/>
                  </a:schemeClr>
                </a:solidFill>
              </a:rPr>
              <a:t>") as f:</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f.write</a:t>
            </a:r>
            <a:r>
              <a:rPr lang="en-US" sz="1100" i="1" dirty="0">
                <a:solidFill>
                  <a:schemeClr val="accent6">
                    <a:lumMod val="75000"/>
                  </a:schemeClr>
                </a:solidFill>
              </a:rPr>
              <a:t>(</a:t>
            </a:r>
            <a:r>
              <a:rPr lang="en-US" sz="1100" i="1" dirty="0" err="1">
                <a:solidFill>
                  <a:schemeClr val="accent6">
                    <a:lumMod val="75000"/>
                  </a:schemeClr>
                </a:solidFill>
              </a:rPr>
              <a:t>response.content</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p>
          <a:p>
            <a:pPr marL="158750" indent="0">
              <a:buNone/>
            </a:pPr>
            <a:r>
              <a:rPr lang="en-US" sz="1100" i="1" dirty="0">
                <a:solidFill>
                  <a:schemeClr val="accent6">
                    <a:lumMod val="75000"/>
                  </a:schemeClr>
                </a:solidFill>
              </a:rPr>
              <a:t>        print(f"{</a:t>
            </a:r>
            <a:r>
              <a:rPr lang="en-US" sz="1100" i="1" dirty="0" err="1">
                <a:solidFill>
                  <a:schemeClr val="accent6">
                    <a:lumMod val="75000"/>
                  </a:schemeClr>
                </a:solidFill>
              </a:rPr>
              <a:t>os.path.basename</a:t>
            </a:r>
            <a:r>
              <a:rPr lang="en-US" sz="1100" i="1" dirty="0">
                <a:solidFill>
                  <a:schemeClr val="accent6">
                    <a:lumMod val="75000"/>
                  </a:schemeClr>
                </a:solidFill>
              </a:rPr>
              <a:t>(</a:t>
            </a:r>
            <a:r>
              <a:rPr lang="en-US" sz="1100" i="1" dirty="0" err="1">
                <a:solidFill>
                  <a:schemeClr val="accent6">
                    <a:lumMod val="75000"/>
                  </a:schemeClr>
                </a:solidFill>
              </a:rPr>
              <a:t>theLink</a:t>
            </a:r>
            <a:r>
              <a:rPr lang="en-US" sz="1100" i="1" dirty="0">
                <a:solidFill>
                  <a:schemeClr val="accent6">
                    <a:lumMod val="75000"/>
                  </a:schemeClr>
                </a:solidFill>
              </a:rPr>
              <a:t>)} downloaded successfully to {</a:t>
            </a:r>
            <a:r>
              <a:rPr lang="en-US" sz="1100" i="1" dirty="0" err="1">
                <a:solidFill>
                  <a:schemeClr val="accent6">
                    <a:lumMod val="75000"/>
                  </a:schemeClr>
                </a:solidFill>
              </a:rPr>
              <a:t>outputDir</a:t>
            </a:r>
            <a:r>
              <a:rPr lang="en-US" sz="1100" i="1" dirty="0">
                <a:solidFill>
                  <a:schemeClr val="accent6">
                    <a:lumMod val="75000"/>
                  </a:schemeClr>
                </a:solidFill>
              </a:rPr>
              <a:t>}.")</a:t>
            </a:r>
          </a:p>
        </p:txBody>
      </p:sp>
    </p:spTree>
    <p:extLst>
      <p:ext uri="{BB962C8B-B14F-4D97-AF65-F5344CB8AC3E}">
        <p14:creationId xmlns:p14="http://schemas.microsoft.com/office/powerpoint/2010/main" val="3853758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0D4F1-0C31-D7B9-B006-93BA1A37A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7AF9E-C8A5-124A-F647-194B47942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5967B-07F0-82EF-FB55-385ABF6DD78F}"/>
              </a:ext>
            </a:extLst>
          </p:cNvPr>
          <p:cNvSpPr>
            <a:spLocks noGrp="1"/>
          </p:cNvSpPr>
          <p:nvPr>
            <p:ph type="body" idx="1"/>
          </p:nvPr>
        </p:nvSpPr>
        <p:spPr/>
        <p:txBody>
          <a:bodyPr/>
          <a:lstStyle/>
          <a:p>
            <a:pPr marL="158750" indent="0">
              <a:buNone/>
            </a:pPr>
            <a:r>
              <a:rPr lang="en-US" sz="1100" i="1" dirty="0">
                <a:solidFill>
                  <a:schemeClr val="accent6">
                    <a:lumMod val="75000"/>
                  </a:schemeClr>
                </a:solidFill>
              </a:rPr>
              <a:t># listWeatherData.py</a:t>
            </a:r>
          </a:p>
          <a:p>
            <a:pPr marL="158750" indent="0">
              <a:buNone/>
            </a:pPr>
            <a:r>
              <a:rPr lang="en-US" sz="1100" i="1" dirty="0">
                <a:solidFill>
                  <a:schemeClr val="accent6">
                    <a:lumMod val="75000"/>
                  </a:schemeClr>
                </a:solidFill>
              </a:rPr>
              <a:t># Purpose: Read and print the links in an HTML data page.</a:t>
            </a:r>
          </a:p>
          <a:p>
            <a:pPr marL="158750" indent="0">
              <a:buNone/>
            </a:pPr>
            <a:r>
              <a:rPr lang="en-US" sz="1100" dirty="0"/>
              <a:t>import bs4</a:t>
            </a:r>
          </a:p>
          <a:p>
            <a:pPr marL="158750" indent="0">
              <a:buNone/>
            </a:pPr>
            <a:r>
              <a:rPr lang="en-US" sz="1100" dirty="0"/>
              <a:t>import requests</a:t>
            </a:r>
          </a:p>
          <a:p>
            <a:pPr marL="158750" indent="0">
              <a:buNone/>
            </a:pPr>
            <a:r>
              <a:rPr lang="en-US" sz="1100" dirty="0"/>
              <a:t>import sys</a:t>
            </a:r>
          </a:p>
          <a:p>
            <a:pPr marL="158750" indent="0">
              <a:buNone/>
            </a:pPr>
            <a:endParaRPr lang="en-US" sz="1100" dirty="0"/>
          </a:p>
          <a:p>
            <a:pPr marL="158750" indent="0">
              <a:buNone/>
            </a:pPr>
            <a:r>
              <a:rPr lang="en-US" sz="1100" i="1" dirty="0">
                <a:solidFill>
                  <a:schemeClr val="accent6">
                    <a:lumMod val="75000"/>
                  </a:schemeClr>
                </a:solidFill>
              </a:rPr>
              <a:t># Fetch the HTML file contents.</a:t>
            </a:r>
            <a:endParaRPr lang="en-US" sz="1100" dirty="0">
              <a:solidFill>
                <a:schemeClr val="accent6">
                  <a:lumMod val="75000"/>
                </a:schemeClr>
              </a:solidFill>
            </a:endParaRPr>
          </a:p>
          <a:p>
            <a:pPr marL="158750" indent="0">
              <a:buNone/>
            </a:pPr>
            <a:r>
              <a:rPr lang="en-US" sz="1100" dirty="0" err="1"/>
              <a:t>url</a:t>
            </a:r>
            <a:r>
              <a:rPr lang="en-US" sz="1100" dirty="0"/>
              <a:t> = "https://fawn.ifas.ufl.edu/data/</a:t>
            </a:r>
            <a:r>
              <a:rPr lang="en-US" sz="1100" dirty="0" err="1"/>
              <a:t>fawnpub</a:t>
            </a:r>
            <a:r>
              <a:rPr lang="en-US" sz="1100" dirty="0"/>
              <a:t>/</a:t>
            </a:r>
            <a:r>
              <a:rPr lang="en-US" sz="1100" dirty="0" err="1"/>
              <a:t>daily_summaries</a:t>
            </a:r>
            <a:r>
              <a:rPr lang="en-US" sz="1100" dirty="0"/>
              <a:t>/BY_YEAR/"</a:t>
            </a:r>
          </a:p>
          <a:p>
            <a:pPr marL="158750" indent="0">
              <a:buNone/>
            </a:pPr>
            <a:r>
              <a:rPr lang="en-US" sz="1100" dirty="0"/>
              <a:t>response = </a:t>
            </a:r>
            <a:r>
              <a:rPr lang="en-US" sz="1100" dirty="0" err="1"/>
              <a:t>requests.get</a:t>
            </a:r>
            <a:r>
              <a:rPr lang="en-US" sz="1100" dirty="0"/>
              <a:t>(</a:t>
            </a:r>
            <a:r>
              <a:rPr lang="en-US" sz="1100" dirty="0" err="1"/>
              <a:t>url</a:t>
            </a:r>
            <a:r>
              <a:rPr lang="en-US" sz="1100" dirty="0"/>
              <a:t>)</a:t>
            </a:r>
          </a:p>
          <a:p>
            <a:pPr marL="158750" indent="0">
              <a:buNone/>
            </a:pPr>
            <a:r>
              <a:rPr lang="en-US" sz="1100" dirty="0"/>
              <a:t>contents = </a:t>
            </a:r>
            <a:r>
              <a:rPr lang="en-US" sz="1100" dirty="0" err="1"/>
              <a:t>response.text</a:t>
            </a:r>
            <a:endParaRPr lang="en-US" sz="1100" dirty="0"/>
          </a:p>
          <a:p>
            <a:pPr marL="158750" indent="0">
              <a:buNone/>
            </a:pPr>
            <a:r>
              <a:rPr lang="en-US" sz="1100" dirty="0" err="1"/>
              <a:t>response.close</a:t>
            </a:r>
            <a:r>
              <a:rPr lang="en-US" sz="1100" dirty="0"/>
              <a:t>()</a:t>
            </a:r>
          </a:p>
          <a:p>
            <a:pPr marL="158750" indent="0">
              <a:buNone/>
            </a:pPr>
            <a:endParaRPr lang="en-US" sz="1100" dirty="0"/>
          </a:p>
          <a:p>
            <a:pPr marL="158750" indent="0">
              <a:buNone/>
            </a:pPr>
            <a:r>
              <a:rPr lang="en-US" sz="1100" i="1" dirty="0">
                <a:solidFill>
                  <a:schemeClr val="accent6">
                    <a:lumMod val="75000"/>
                  </a:schemeClr>
                </a:solidFill>
              </a:rPr>
              <a:t># Create a soup object from the HTML contents.</a:t>
            </a:r>
          </a:p>
          <a:p>
            <a:pPr marL="158750" indent="0">
              <a:buNone/>
            </a:pPr>
            <a:r>
              <a:rPr lang="en-US" sz="1100" dirty="0"/>
              <a:t>soup = bs4.BeautifulSoup(contents)</a:t>
            </a:r>
          </a:p>
          <a:p>
            <a:pPr marL="158750" indent="0">
              <a:buNone/>
            </a:pPr>
            <a:endParaRPr lang="en-US" sz="1100" i="1" dirty="0"/>
          </a:p>
          <a:p>
            <a:pPr marL="158750" indent="0">
              <a:buNone/>
            </a:pPr>
            <a:r>
              <a:rPr lang="en-US" sz="1100" i="1" dirty="0">
                <a:solidFill>
                  <a:schemeClr val="accent6">
                    <a:lumMod val="75000"/>
                  </a:schemeClr>
                </a:solidFill>
              </a:rPr>
              <a:t># Find all the hyperlinks in the page.</a:t>
            </a:r>
            <a:endParaRPr lang="en-US" sz="1100" dirty="0">
              <a:solidFill>
                <a:schemeClr val="accent6">
                  <a:lumMod val="75000"/>
                </a:schemeClr>
              </a:solidFill>
            </a:endParaRPr>
          </a:p>
          <a:p>
            <a:pPr marL="158750" indent="0">
              <a:buNone/>
            </a:pPr>
            <a:r>
              <a:rPr lang="en-US" sz="1100" dirty="0" err="1"/>
              <a:t>linkTags</a:t>
            </a:r>
            <a:r>
              <a:rPr lang="en-US" sz="1100" dirty="0"/>
              <a:t> = </a:t>
            </a:r>
            <a:r>
              <a:rPr lang="en-US" sz="1100" dirty="0" err="1"/>
              <a:t>soup.findAll</a:t>
            </a:r>
            <a:r>
              <a:rPr lang="en-US" sz="1100" dirty="0"/>
              <a:t>("a")</a:t>
            </a:r>
          </a:p>
          <a:p>
            <a:pPr marL="158750" indent="0">
              <a:buNone/>
            </a:pPr>
            <a:endParaRPr lang="en-US" sz="1100" dirty="0"/>
          </a:p>
          <a:p>
            <a:pPr marL="158750" indent="0">
              <a:buNone/>
            </a:pPr>
            <a:r>
              <a:rPr lang="en-US" sz="1100" i="1" dirty="0">
                <a:solidFill>
                  <a:schemeClr val="accent6">
                    <a:lumMod val="75000"/>
                  </a:schemeClr>
                </a:solidFill>
              </a:rPr>
              <a:t># Print each hyperlink reference.</a:t>
            </a:r>
          </a:p>
          <a:p>
            <a:pPr marL="158750" indent="0">
              <a:buNone/>
            </a:pPr>
            <a:r>
              <a:rPr lang="en-US" sz="1100" b="1" dirty="0"/>
              <a:t>for</a:t>
            </a:r>
            <a:r>
              <a:rPr lang="en-US" sz="1100" dirty="0"/>
              <a:t> </a:t>
            </a:r>
            <a:r>
              <a:rPr lang="en-US" sz="1100" dirty="0" err="1"/>
              <a:t>linkTag</a:t>
            </a:r>
            <a:r>
              <a:rPr lang="en-US" sz="1100" dirty="0"/>
              <a:t> </a:t>
            </a:r>
            <a:r>
              <a:rPr lang="en-US" sz="1100" b="1" dirty="0"/>
              <a:t>in</a:t>
            </a:r>
            <a:r>
              <a:rPr lang="en-US" sz="1100" dirty="0"/>
              <a:t> </a:t>
            </a:r>
            <a:r>
              <a:rPr lang="en-US" sz="1100" dirty="0" err="1"/>
              <a:t>linkTags</a:t>
            </a:r>
            <a:r>
              <a:rPr lang="en-US" sz="1100" dirty="0"/>
              <a:t>:</a:t>
            </a:r>
          </a:p>
          <a:p>
            <a:pPr marL="158750" indent="0">
              <a:buNone/>
            </a:pPr>
            <a:r>
              <a:rPr lang="en-US" sz="1100" dirty="0"/>
              <a:t>     print(</a:t>
            </a:r>
            <a:r>
              <a:rPr lang="en-US" sz="1100" dirty="0" err="1"/>
              <a:t>f"Link</a:t>
            </a:r>
            <a:r>
              <a:rPr lang="en-US" sz="1100" dirty="0"/>
              <a:t>: {</a:t>
            </a:r>
            <a:r>
              <a:rPr lang="en-US" sz="1100" dirty="0" err="1"/>
              <a:t>linkTag</a:t>
            </a:r>
            <a:r>
              <a:rPr lang="en-US" sz="1100" dirty="0"/>
              <a:t>['</a:t>
            </a:r>
            <a:r>
              <a:rPr lang="en-US" sz="1100" dirty="0" err="1"/>
              <a:t>href</a:t>
            </a:r>
            <a:r>
              <a:rPr lang="en-US" sz="1100" dirty="0"/>
              <a:t>']}")</a:t>
            </a:r>
          </a:p>
          <a:p>
            <a:pPr marL="158750" indent="0">
              <a:buNone/>
            </a:pPr>
            <a:endParaRPr lang="en-US" dirty="0"/>
          </a:p>
        </p:txBody>
      </p:sp>
    </p:spTree>
    <p:extLst>
      <p:ext uri="{BB962C8B-B14F-4D97-AF65-F5344CB8AC3E}">
        <p14:creationId xmlns:p14="http://schemas.microsoft.com/office/powerpoint/2010/main" val="3853758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78879-4F8B-D63C-4048-0A40A6CD6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5C202-ACFC-DB07-6018-57697F390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EAD368-6773-9B38-1AF7-899FFE58DFF2}"/>
              </a:ext>
            </a:extLst>
          </p:cNvPr>
          <p:cNvSpPr>
            <a:spLocks noGrp="1"/>
          </p:cNvSpPr>
          <p:nvPr>
            <p:ph type="body" idx="1"/>
          </p:nvPr>
        </p:nvSpPr>
        <p:spPr/>
        <p:txBody>
          <a:bodyPr/>
          <a:lstStyle/>
          <a:p>
            <a:pPr marL="158750" indent="0">
              <a:buNone/>
            </a:pPr>
            <a:r>
              <a:rPr lang="en-US" sz="1100" i="1" dirty="0">
                <a:solidFill>
                  <a:schemeClr val="accent6">
                    <a:lumMod val="75000"/>
                  </a:schemeClr>
                </a:solidFill>
              </a:rPr>
              <a:t># unzip_file.py</a:t>
            </a:r>
          </a:p>
          <a:p>
            <a:pPr marL="158750" indent="0">
              <a:buNone/>
            </a:pPr>
            <a:r>
              <a:rPr lang="en-US" sz="1100" i="1" dirty="0">
                <a:solidFill>
                  <a:schemeClr val="accent6">
                    <a:lumMod val="75000"/>
                  </a:schemeClr>
                </a:solidFill>
              </a:rPr>
              <a:t># Purpose: Uncompress a </a:t>
            </a:r>
            <a:r>
              <a:rPr lang="en-US" sz="1100" i="1" dirty="0" err="1">
                <a:solidFill>
                  <a:schemeClr val="accent6">
                    <a:lumMod val="75000"/>
                  </a:schemeClr>
                </a:solidFill>
              </a:rPr>
              <a:t>zipfile</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import </a:t>
            </a:r>
            <a:r>
              <a:rPr lang="en-US" sz="1100" i="1" dirty="0" err="1">
                <a:solidFill>
                  <a:schemeClr val="accent6">
                    <a:lumMod val="75000"/>
                  </a:schemeClr>
                </a:solidFill>
              </a:rPr>
              <a:t>zipfile</a:t>
            </a: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import </a:t>
            </a:r>
            <a:r>
              <a:rPr lang="en-US" sz="1100" i="1" dirty="0" err="1">
                <a:solidFill>
                  <a:schemeClr val="accent6">
                    <a:lumMod val="75000"/>
                  </a:schemeClr>
                </a:solidFill>
              </a:rPr>
              <a:t>os</a:t>
            </a:r>
            <a:endParaRPr lang="en-US" sz="1100" i="1" dirty="0">
              <a:solidFill>
                <a:schemeClr val="accent6">
                  <a:lumMod val="75000"/>
                </a:schemeClr>
              </a:solidFill>
            </a:endParaRP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Specify the compressed file and destination directory.</a:t>
            </a:r>
          </a:p>
          <a:p>
            <a:pPr marL="158750" indent="0">
              <a:buNone/>
            </a:pPr>
            <a:r>
              <a:rPr lang="en-US" sz="1100" i="1" dirty="0" err="1">
                <a:solidFill>
                  <a:schemeClr val="accent6">
                    <a:lumMod val="75000"/>
                  </a:schemeClr>
                </a:solidFill>
              </a:rPr>
              <a:t>zipPath</a:t>
            </a:r>
            <a:r>
              <a:rPr lang="en-US" sz="1100" i="1" dirty="0">
                <a:solidFill>
                  <a:schemeClr val="accent6">
                    <a:lumMod val="75000"/>
                  </a:schemeClr>
                </a:solidFill>
              </a:rPr>
              <a:t> = </a:t>
            </a:r>
            <a:r>
              <a:rPr lang="en-US" sz="1100" i="1" dirty="0" err="1">
                <a:solidFill>
                  <a:schemeClr val="accent6">
                    <a:lumMod val="75000"/>
                  </a:schemeClr>
                </a:solidFill>
              </a:rPr>
              <a:t>r"C</a:t>
            </a:r>
            <a:r>
              <a:rPr lang="en-US" sz="1100" i="1" dirty="0">
                <a:solidFill>
                  <a:schemeClr val="accent6">
                    <a:lumMod val="75000"/>
                  </a:schemeClr>
                </a:solidFill>
              </a:rPr>
              <a:t>:\gispy\data\ch20\getty.zip"</a:t>
            </a:r>
          </a:p>
          <a:p>
            <a:pPr marL="158750" indent="0">
              <a:buNone/>
            </a:pPr>
            <a:r>
              <a:rPr lang="en-US" sz="1100" i="1" dirty="0" err="1">
                <a:solidFill>
                  <a:schemeClr val="accent6">
                    <a:lumMod val="75000"/>
                  </a:schemeClr>
                </a:solidFill>
              </a:rPr>
              <a:t>outputDir</a:t>
            </a:r>
            <a:r>
              <a:rPr lang="en-US" sz="1100" i="1" dirty="0">
                <a:solidFill>
                  <a:schemeClr val="accent6">
                    <a:lumMod val="75000"/>
                  </a:schemeClr>
                </a:solidFill>
              </a:rPr>
              <a:t> = "C:/gispy/scratch/"</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Extract the zip contents and write it to the output directory.</a:t>
            </a:r>
          </a:p>
          <a:p>
            <a:pPr marL="158750" indent="0">
              <a:buNone/>
            </a:pPr>
            <a:r>
              <a:rPr lang="en-US" sz="1100" i="1" dirty="0">
                <a:solidFill>
                  <a:schemeClr val="accent6">
                    <a:lumMod val="75000"/>
                  </a:schemeClr>
                </a:solidFill>
              </a:rPr>
              <a:t>print(</a:t>
            </a:r>
            <a:r>
              <a:rPr lang="en-US" sz="1100" i="1" dirty="0" err="1">
                <a:solidFill>
                  <a:schemeClr val="accent6">
                    <a:lumMod val="75000"/>
                  </a:schemeClr>
                </a:solidFill>
              </a:rPr>
              <a:t>f"Extracting</a:t>
            </a:r>
            <a:r>
              <a:rPr lang="en-US" sz="1100" i="1" dirty="0">
                <a:solidFill>
                  <a:schemeClr val="accent6">
                    <a:lumMod val="75000"/>
                  </a:schemeClr>
                </a:solidFill>
              </a:rPr>
              <a:t> to {</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with </a:t>
            </a:r>
            <a:r>
              <a:rPr lang="en-US" sz="1100" i="1" dirty="0" err="1">
                <a:solidFill>
                  <a:schemeClr val="accent6">
                    <a:lumMod val="75000"/>
                  </a:schemeClr>
                </a:solidFill>
              </a:rPr>
              <a:t>zipfile.ZipFile</a:t>
            </a:r>
            <a:r>
              <a:rPr lang="en-US" sz="1100" i="1" dirty="0">
                <a:solidFill>
                  <a:schemeClr val="accent6">
                    <a:lumMod val="75000"/>
                  </a:schemeClr>
                </a:solidFill>
              </a:rPr>
              <a:t>(</a:t>
            </a:r>
            <a:r>
              <a:rPr lang="en-US" sz="1100" i="1" dirty="0" err="1">
                <a:solidFill>
                  <a:schemeClr val="accent6">
                    <a:lumMod val="75000"/>
                  </a:schemeClr>
                </a:solidFill>
              </a:rPr>
              <a:t>zipPath</a:t>
            </a:r>
            <a:r>
              <a:rPr lang="en-US" sz="1100" i="1" dirty="0">
                <a:solidFill>
                  <a:schemeClr val="accent6">
                    <a:lumMod val="75000"/>
                  </a:schemeClr>
                </a:solidFill>
              </a:rPr>
              <a:t>, 'r') as </a:t>
            </a:r>
            <a:r>
              <a:rPr lang="en-US" sz="1100" i="1" dirty="0" err="1">
                <a:solidFill>
                  <a:schemeClr val="accent6">
                    <a:lumMod val="75000"/>
                  </a:schemeClr>
                </a:solidFill>
              </a:rPr>
              <a:t>zip_ref</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zip_ref.extractall</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print(f"{</a:t>
            </a:r>
            <a:r>
              <a:rPr lang="en-US" sz="1100" i="1" dirty="0" err="1">
                <a:solidFill>
                  <a:schemeClr val="accent6">
                    <a:lumMod val="75000"/>
                  </a:schemeClr>
                </a:solidFill>
              </a:rPr>
              <a:t>os.path.basename</a:t>
            </a:r>
            <a:r>
              <a:rPr lang="en-US" sz="1100" i="1" dirty="0">
                <a:solidFill>
                  <a:schemeClr val="accent6">
                    <a:lumMod val="75000"/>
                  </a:schemeClr>
                </a:solidFill>
              </a:rPr>
              <a:t>(</a:t>
            </a:r>
            <a:r>
              <a:rPr lang="en-US" sz="1100" i="1" dirty="0" err="1">
                <a:solidFill>
                  <a:schemeClr val="accent6">
                    <a:lumMod val="75000"/>
                  </a:schemeClr>
                </a:solidFill>
              </a:rPr>
              <a:t>zipPath</a:t>
            </a:r>
            <a:r>
              <a:rPr lang="en-US" sz="1100" i="1" dirty="0">
                <a:solidFill>
                  <a:schemeClr val="accent6">
                    <a:lumMod val="75000"/>
                  </a:schemeClr>
                </a:solidFill>
              </a:rPr>
              <a:t>)} unzipped in {</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endParaRPr lang="en-US" dirty="0"/>
          </a:p>
        </p:txBody>
      </p:sp>
    </p:spTree>
    <p:extLst>
      <p:ext uri="{BB962C8B-B14F-4D97-AF65-F5344CB8AC3E}">
        <p14:creationId xmlns:p14="http://schemas.microsoft.com/office/powerpoint/2010/main" val="1127150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18EC-C69B-1074-244D-C33639FDD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2A054-389B-8BAE-4C65-62B13E6A0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09FA7-A2FA-0C4D-A7D2-50AA3F8E7088}"/>
              </a:ext>
            </a:extLst>
          </p:cNvPr>
          <p:cNvSpPr>
            <a:spLocks noGrp="1"/>
          </p:cNvSpPr>
          <p:nvPr>
            <p:ph type="body" idx="1"/>
          </p:nvPr>
        </p:nvSpPr>
        <p:spPr/>
        <p:txBody>
          <a:bodyPr/>
          <a:lstStyle/>
          <a:p>
            <a:pPr marL="158750" indent="0">
              <a:buNone/>
            </a:pPr>
            <a:r>
              <a:rPr lang="en-US" sz="1100" i="1" dirty="0">
                <a:solidFill>
                  <a:schemeClr val="accent6">
                    <a:lumMod val="75000"/>
                  </a:schemeClr>
                </a:solidFill>
              </a:rPr>
              <a:t># parse_fetch_unzip_weatherdata.py</a:t>
            </a:r>
          </a:p>
          <a:p>
            <a:pPr marL="158750" indent="0">
              <a:buNone/>
            </a:pPr>
            <a:r>
              <a:rPr lang="en-US" sz="1100" i="1" dirty="0">
                <a:solidFill>
                  <a:schemeClr val="accent6">
                    <a:lumMod val="75000"/>
                  </a:schemeClr>
                </a:solidFill>
              </a:rPr>
              <a:t># Purpose: Read links in an HTML data page and download the CSV datasets.</a:t>
            </a:r>
          </a:p>
          <a:p>
            <a:pPr marL="158750" indent="0">
              <a:buNone/>
            </a:pPr>
            <a:r>
              <a:rPr lang="en-US" sz="1100" i="1" dirty="0">
                <a:solidFill>
                  <a:schemeClr val="accent6">
                    <a:lumMod val="75000"/>
                  </a:schemeClr>
                </a:solidFill>
              </a:rPr>
              <a:t>import bs4, </a:t>
            </a:r>
            <a:r>
              <a:rPr lang="en-US" sz="1100" i="1" dirty="0" err="1">
                <a:solidFill>
                  <a:schemeClr val="accent6">
                    <a:lumMod val="75000"/>
                  </a:schemeClr>
                </a:solidFill>
              </a:rPr>
              <a:t>os</a:t>
            </a:r>
            <a:r>
              <a:rPr lang="en-US" sz="1100" i="1" dirty="0">
                <a:solidFill>
                  <a:schemeClr val="accent6">
                    <a:lumMod val="75000"/>
                  </a:schemeClr>
                </a:solidFill>
              </a:rPr>
              <a:t>, requests, sys, </a:t>
            </a:r>
            <a:r>
              <a:rPr lang="en-US" sz="1100" i="1" dirty="0" err="1">
                <a:solidFill>
                  <a:schemeClr val="accent6">
                    <a:lumMod val="75000"/>
                  </a:schemeClr>
                </a:solidFill>
              </a:rPr>
              <a:t>zipfile</a:t>
            </a:r>
            <a:endParaRPr lang="en-US" sz="1100" i="1" dirty="0">
              <a:solidFill>
                <a:schemeClr val="accent6">
                  <a:lumMod val="75000"/>
                </a:schemeClr>
              </a:solidFill>
            </a:endParaRPr>
          </a:p>
          <a:p>
            <a:pPr marL="158750" indent="0">
              <a:buNone/>
            </a:pPr>
            <a:endParaRPr lang="en-US" sz="1100" i="1" dirty="0">
              <a:solidFill>
                <a:schemeClr val="accent6">
                  <a:lumMod val="75000"/>
                </a:schemeClr>
              </a:solidFill>
            </a:endParaRPr>
          </a:p>
          <a:p>
            <a:pPr marL="158750" indent="0">
              <a:buNone/>
            </a:pPr>
            <a:r>
              <a:rPr lang="en-US" sz="1100" i="1" dirty="0" err="1">
                <a:solidFill>
                  <a:schemeClr val="accent6">
                    <a:lumMod val="75000"/>
                  </a:schemeClr>
                </a:solidFill>
              </a:rPr>
              <a:t>outputDir</a:t>
            </a:r>
            <a:r>
              <a:rPr lang="en-US" sz="1100" i="1" dirty="0">
                <a:solidFill>
                  <a:schemeClr val="accent6">
                    <a:lumMod val="75000"/>
                  </a:schemeClr>
                </a:solidFill>
              </a:rPr>
              <a:t> = "C:/gispy/scratch/weather"</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if not </a:t>
            </a:r>
            <a:r>
              <a:rPr lang="en-US" sz="1100" i="1" dirty="0" err="1">
                <a:solidFill>
                  <a:schemeClr val="accent6">
                    <a:lumMod val="75000"/>
                  </a:schemeClr>
                </a:solidFill>
              </a:rPr>
              <a:t>os.path.exists</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os.makedirs</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Fetch the HTML file contents.</a:t>
            </a:r>
          </a:p>
          <a:p>
            <a:pPr marL="158750" indent="0">
              <a:buNone/>
            </a:pPr>
            <a:r>
              <a:rPr lang="en-US" sz="1100" i="1" dirty="0" err="1">
                <a:solidFill>
                  <a:schemeClr val="accent6">
                    <a:lumMod val="75000"/>
                  </a:schemeClr>
                </a:solidFill>
              </a:rPr>
              <a:t>url</a:t>
            </a:r>
            <a:r>
              <a:rPr lang="en-US" sz="1100" i="1" dirty="0">
                <a:solidFill>
                  <a:schemeClr val="accent6">
                    <a:lumMod val="75000"/>
                  </a:schemeClr>
                </a:solidFill>
              </a:rPr>
              <a:t> = "https://fawn.ifas.ufl.edu/data/</a:t>
            </a:r>
            <a:r>
              <a:rPr lang="en-US" sz="1100" i="1" dirty="0" err="1">
                <a:solidFill>
                  <a:schemeClr val="accent6">
                    <a:lumMod val="75000"/>
                  </a:schemeClr>
                </a:solidFill>
              </a:rPr>
              <a:t>fawnpub</a:t>
            </a:r>
            <a:r>
              <a:rPr lang="en-US" sz="1100" i="1" dirty="0">
                <a:solidFill>
                  <a:schemeClr val="accent6">
                    <a:lumMod val="75000"/>
                  </a:schemeClr>
                </a:solidFill>
              </a:rPr>
              <a:t>/</a:t>
            </a:r>
            <a:r>
              <a:rPr lang="en-US" sz="1100" i="1" dirty="0" err="1">
                <a:solidFill>
                  <a:schemeClr val="accent6">
                    <a:lumMod val="75000"/>
                  </a:schemeClr>
                </a:solidFill>
              </a:rPr>
              <a:t>daily_summaries</a:t>
            </a:r>
            <a:r>
              <a:rPr lang="en-US" sz="1100" i="1" dirty="0">
                <a:solidFill>
                  <a:schemeClr val="accent6">
                    <a:lumMod val="75000"/>
                  </a:schemeClr>
                </a:solidFill>
              </a:rPr>
              <a:t>/BY_YEAR/"</a:t>
            </a:r>
          </a:p>
          <a:p>
            <a:pPr marL="158750" indent="0">
              <a:buNone/>
            </a:pPr>
            <a:r>
              <a:rPr lang="en-US" sz="1100" i="1" dirty="0">
                <a:solidFill>
                  <a:schemeClr val="accent6">
                    <a:lumMod val="75000"/>
                  </a:schemeClr>
                </a:solidFill>
              </a:rPr>
              <a:t>response = </a:t>
            </a:r>
            <a:r>
              <a:rPr lang="en-US" sz="1100" i="1" dirty="0" err="1">
                <a:solidFill>
                  <a:schemeClr val="accent6">
                    <a:lumMod val="75000"/>
                  </a:schemeClr>
                </a:solidFill>
              </a:rPr>
              <a:t>requests.get</a:t>
            </a:r>
            <a:r>
              <a:rPr lang="en-US" sz="1100" i="1" dirty="0">
                <a:solidFill>
                  <a:schemeClr val="accent6">
                    <a:lumMod val="75000"/>
                  </a:schemeClr>
                </a:solidFill>
              </a:rPr>
              <a:t>(</a:t>
            </a:r>
            <a:r>
              <a:rPr lang="en-US" sz="1100" i="1" dirty="0" err="1">
                <a:solidFill>
                  <a:schemeClr val="accent6">
                    <a:lumMod val="75000"/>
                  </a:schemeClr>
                </a:solidFill>
              </a:rPr>
              <a:t>url</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contents = </a:t>
            </a:r>
            <a:r>
              <a:rPr lang="en-US" sz="1100" i="1" dirty="0" err="1">
                <a:solidFill>
                  <a:schemeClr val="accent6">
                    <a:lumMod val="75000"/>
                  </a:schemeClr>
                </a:solidFill>
              </a:rPr>
              <a:t>response.text</a:t>
            </a:r>
            <a:endParaRPr lang="en-US" sz="1100" i="1" dirty="0">
              <a:solidFill>
                <a:schemeClr val="accent6">
                  <a:lumMod val="75000"/>
                </a:schemeClr>
              </a:solidFill>
            </a:endParaRPr>
          </a:p>
          <a:p>
            <a:pPr marL="158750" indent="0">
              <a:buNone/>
            </a:pPr>
            <a:r>
              <a:rPr lang="en-US" sz="1100" i="1" dirty="0" err="1">
                <a:solidFill>
                  <a:schemeClr val="accent6">
                    <a:lumMod val="75000"/>
                  </a:schemeClr>
                </a:solidFill>
              </a:rPr>
              <a:t>response.close</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Create a soup object from the HTML contents.</a:t>
            </a:r>
          </a:p>
          <a:p>
            <a:pPr marL="158750" indent="0">
              <a:buNone/>
            </a:pPr>
            <a:r>
              <a:rPr lang="en-US" sz="1100" i="1" dirty="0">
                <a:solidFill>
                  <a:schemeClr val="accent6">
                    <a:lumMod val="75000"/>
                  </a:schemeClr>
                </a:solidFill>
              </a:rPr>
              <a:t>soup = bs4.BeautifulSoup(contents)</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Find all the hyperlinks in the page.</a:t>
            </a:r>
          </a:p>
          <a:p>
            <a:pPr marL="158750" indent="0">
              <a:buNone/>
            </a:pPr>
            <a:r>
              <a:rPr lang="en-US" sz="1100" i="1" dirty="0" err="1">
                <a:solidFill>
                  <a:schemeClr val="accent6">
                    <a:lumMod val="75000"/>
                  </a:schemeClr>
                </a:solidFill>
              </a:rPr>
              <a:t>linkTags</a:t>
            </a:r>
            <a:r>
              <a:rPr lang="en-US" sz="1100" i="1" dirty="0">
                <a:solidFill>
                  <a:schemeClr val="accent6">
                    <a:lumMod val="75000"/>
                  </a:schemeClr>
                </a:solidFill>
              </a:rPr>
              <a:t> = </a:t>
            </a:r>
            <a:r>
              <a:rPr lang="en-US" sz="1100" i="1" dirty="0" err="1">
                <a:solidFill>
                  <a:schemeClr val="accent6">
                    <a:lumMod val="75000"/>
                  </a:schemeClr>
                </a:solidFill>
              </a:rPr>
              <a:t>soup.findAll</a:t>
            </a:r>
            <a:r>
              <a:rPr lang="en-US" sz="1100" i="1" dirty="0">
                <a:solidFill>
                  <a:schemeClr val="accent6">
                    <a:lumMod val="75000"/>
                  </a:schemeClr>
                </a:solidFill>
              </a:rPr>
              <a:t>("a")</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Get each linked csv.</a:t>
            </a:r>
          </a:p>
          <a:p>
            <a:pPr marL="158750" indent="0">
              <a:buNone/>
            </a:pPr>
            <a:r>
              <a:rPr lang="en-US" sz="1100" i="1" dirty="0">
                <a:solidFill>
                  <a:schemeClr val="accent6">
                    <a:lumMod val="75000"/>
                  </a:schemeClr>
                </a:solidFill>
              </a:rPr>
              <a:t>for </a:t>
            </a:r>
            <a:r>
              <a:rPr lang="en-US" sz="1100" i="1" dirty="0" err="1">
                <a:solidFill>
                  <a:schemeClr val="accent6">
                    <a:lumMod val="75000"/>
                  </a:schemeClr>
                </a:solidFill>
              </a:rPr>
              <a:t>linkTag</a:t>
            </a:r>
            <a:r>
              <a:rPr lang="en-US" sz="1100" i="1" dirty="0">
                <a:solidFill>
                  <a:schemeClr val="accent6">
                    <a:lumMod val="75000"/>
                  </a:schemeClr>
                </a:solidFill>
              </a:rPr>
              <a:t> in </a:t>
            </a:r>
            <a:r>
              <a:rPr lang="en-US" sz="1100" i="1" dirty="0" err="1">
                <a:solidFill>
                  <a:schemeClr val="accent6">
                    <a:lumMod val="75000"/>
                  </a:schemeClr>
                </a:solidFill>
              </a:rPr>
              <a:t>linkTags</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theLink</a:t>
            </a:r>
            <a:r>
              <a:rPr lang="en-US" sz="1100" i="1" dirty="0">
                <a:solidFill>
                  <a:schemeClr val="accent6">
                    <a:lumMod val="75000"/>
                  </a:schemeClr>
                </a:solidFill>
              </a:rPr>
              <a:t> = </a:t>
            </a:r>
            <a:r>
              <a:rPr lang="en-US" sz="1100" i="1" dirty="0" err="1">
                <a:solidFill>
                  <a:schemeClr val="accent6">
                    <a:lumMod val="75000"/>
                  </a:schemeClr>
                </a:solidFill>
              </a:rPr>
              <a:t>linkTag</a:t>
            </a:r>
            <a:r>
              <a:rPr lang="en-US" sz="1100" i="1" dirty="0">
                <a:solidFill>
                  <a:schemeClr val="accent6">
                    <a:lumMod val="75000"/>
                  </a:schemeClr>
                </a:solidFill>
              </a:rPr>
              <a:t>['</a:t>
            </a:r>
            <a:r>
              <a:rPr lang="en-US" sz="1100" i="1" dirty="0" err="1">
                <a:solidFill>
                  <a:schemeClr val="accent6">
                    <a:lumMod val="75000"/>
                  </a:schemeClr>
                </a:solidFill>
              </a:rPr>
              <a:t>href</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if </a:t>
            </a:r>
            <a:r>
              <a:rPr lang="en-US" sz="1100" i="1" dirty="0" err="1">
                <a:solidFill>
                  <a:schemeClr val="accent6">
                    <a:lumMod val="75000"/>
                  </a:schemeClr>
                </a:solidFill>
              </a:rPr>
              <a:t>theLink.endswith</a:t>
            </a:r>
            <a:r>
              <a:rPr lang="en-US" sz="1100" i="1" dirty="0">
                <a:solidFill>
                  <a:schemeClr val="accent6">
                    <a:lumMod val="75000"/>
                  </a:schemeClr>
                </a:solidFill>
              </a:rPr>
              <a:t>(".zip"):</a:t>
            </a:r>
          </a:p>
          <a:p>
            <a:pPr marL="158750" indent="0">
              <a:buNone/>
            </a:pPr>
            <a:r>
              <a:rPr lang="en-US" sz="1100" i="1" dirty="0">
                <a:solidFill>
                  <a:schemeClr val="accent6">
                    <a:lumMod val="75000"/>
                  </a:schemeClr>
                </a:solidFill>
              </a:rPr>
              <a:t>        print(</a:t>
            </a:r>
            <a:r>
              <a:rPr lang="en-US" sz="1100" i="1" dirty="0" err="1">
                <a:solidFill>
                  <a:schemeClr val="accent6">
                    <a:lumMod val="75000"/>
                  </a:schemeClr>
                </a:solidFill>
              </a:rPr>
              <a:t>f"Link</a:t>
            </a:r>
            <a:r>
              <a:rPr lang="en-US" sz="1100" i="1" dirty="0">
                <a:solidFill>
                  <a:schemeClr val="accent6">
                    <a:lumMod val="75000"/>
                  </a:schemeClr>
                </a:solidFill>
              </a:rPr>
              <a:t>: {</a:t>
            </a:r>
            <a:r>
              <a:rPr lang="en-US" sz="1100" i="1" dirty="0" err="1">
                <a:solidFill>
                  <a:schemeClr val="accent6">
                    <a:lumMod val="75000"/>
                  </a:schemeClr>
                </a:solidFill>
              </a:rPr>
              <a:t>linkTag</a:t>
            </a:r>
            <a:r>
              <a:rPr lang="en-US" sz="1100" i="1" dirty="0">
                <a:solidFill>
                  <a:schemeClr val="accent6">
                    <a:lumMod val="75000"/>
                  </a:schemeClr>
                </a:solidFill>
              </a:rPr>
              <a:t>['</a:t>
            </a:r>
            <a:r>
              <a:rPr lang="en-US" sz="1100" i="1" dirty="0" err="1">
                <a:solidFill>
                  <a:schemeClr val="accent6">
                    <a:lumMod val="75000"/>
                  </a:schemeClr>
                </a:solidFill>
              </a:rPr>
              <a:t>href</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 Fetch and write</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full_link</a:t>
            </a:r>
            <a:r>
              <a:rPr lang="en-US" sz="1100" i="1" dirty="0">
                <a:solidFill>
                  <a:schemeClr val="accent6">
                    <a:lumMod val="75000"/>
                  </a:schemeClr>
                </a:solidFill>
              </a:rPr>
              <a:t> = </a:t>
            </a:r>
            <a:r>
              <a:rPr lang="en-US" sz="1100" i="1" dirty="0" err="1">
                <a:solidFill>
                  <a:schemeClr val="accent6">
                    <a:lumMod val="75000"/>
                  </a:schemeClr>
                </a:solidFill>
              </a:rPr>
              <a:t>url</a:t>
            </a:r>
            <a:r>
              <a:rPr lang="en-US" sz="1100" i="1" dirty="0">
                <a:solidFill>
                  <a:schemeClr val="accent6">
                    <a:lumMod val="75000"/>
                  </a:schemeClr>
                </a:solidFill>
              </a:rPr>
              <a:t> + </a:t>
            </a:r>
            <a:r>
              <a:rPr lang="en-US" sz="1100" i="1" dirty="0" err="1">
                <a:solidFill>
                  <a:schemeClr val="accent6">
                    <a:lumMod val="75000"/>
                  </a:schemeClr>
                </a:solidFill>
              </a:rPr>
              <a:t>theLink</a:t>
            </a: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zipPath</a:t>
            </a:r>
            <a:r>
              <a:rPr lang="en-US" sz="1100" i="1" dirty="0">
                <a:solidFill>
                  <a:schemeClr val="accent6">
                    <a:lumMod val="75000"/>
                  </a:schemeClr>
                </a:solidFill>
              </a:rPr>
              <a:t> = </a:t>
            </a:r>
            <a:r>
              <a:rPr lang="en-US" sz="1100" i="1" dirty="0" err="1">
                <a:solidFill>
                  <a:schemeClr val="accent6">
                    <a:lumMod val="75000"/>
                  </a:schemeClr>
                </a:solidFill>
              </a:rPr>
              <a:t>os.path.join</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 </a:t>
            </a:r>
            <a:r>
              <a:rPr lang="en-US" sz="1100" i="1" dirty="0" err="1">
                <a:solidFill>
                  <a:schemeClr val="accent6">
                    <a:lumMod val="75000"/>
                  </a:schemeClr>
                </a:solidFill>
              </a:rPr>
              <a:t>os.path.basename</a:t>
            </a:r>
            <a:r>
              <a:rPr lang="en-US" sz="1100" i="1" dirty="0">
                <a:solidFill>
                  <a:schemeClr val="accent6">
                    <a:lumMod val="75000"/>
                  </a:schemeClr>
                </a:solidFill>
              </a:rPr>
              <a:t>(</a:t>
            </a:r>
            <a:r>
              <a:rPr lang="en-US" sz="1100" i="1" dirty="0" err="1">
                <a:solidFill>
                  <a:schemeClr val="accent6">
                    <a:lumMod val="75000"/>
                  </a:schemeClr>
                </a:solidFill>
              </a:rPr>
              <a:t>theLink</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response = </a:t>
            </a:r>
            <a:r>
              <a:rPr lang="en-US" sz="1100" i="1" dirty="0" err="1">
                <a:solidFill>
                  <a:schemeClr val="accent6">
                    <a:lumMod val="75000"/>
                  </a:schemeClr>
                </a:solidFill>
              </a:rPr>
              <a:t>requests.get</a:t>
            </a:r>
            <a:r>
              <a:rPr lang="en-US" sz="1100" i="1" dirty="0">
                <a:solidFill>
                  <a:schemeClr val="accent6">
                    <a:lumMod val="75000"/>
                  </a:schemeClr>
                </a:solidFill>
              </a:rPr>
              <a:t>(</a:t>
            </a:r>
            <a:r>
              <a:rPr lang="en-US" sz="1100" i="1" dirty="0" err="1">
                <a:solidFill>
                  <a:schemeClr val="accent6">
                    <a:lumMod val="75000"/>
                  </a:schemeClr>
                </a:solidFill>
              </a:rPr>
              <a:t>full_link</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with open(</a:t>
            </a:r>
            <a:r>
              <a:rPr lang="en-US" sz="1100" i="1" dirty="0" err="1">
                <a:solidFill>
                  <a:schemeClr val="accent6">
                    <a:lumMod val="75000"/>
                  </a:schemeClr>
                </a:solidFill>
              </a:rPr>
              <a:t>zipPath</a:t>
            </a:r>
            <a:r>
              <a:rPr lang="en-US" sz="1100" i="1" dirty="0">
                <a:solidFill>
                  <a:schemeClr val="accent6">
                    <a:lumMod val="75000"/>
                  </a:schemeClr>
                </a:solidFill>
              </a:rPr>
              <a:t>, "</a:t>
            </a:r>
            <a:r>
              <a:rPr lang="en-US" sz="1100" i="1" dirty="0" err="1">
                <a:solidFill>
                  <a:schemeClr val="accent6">
                    <a:lumMod val="75000"/>
                  </a:schemeClr>
                </a:solidFill>
              </a:rPr>
              <a:t>wb</a:t>
            </a:r>
            <a:r>
              <a:rPr lang="en-US" sz="1100" i="1" dirty="0">
                <a:solidFill>
                  <a:schemeClr val="accent6">
                    <a:lumMod val="75000"/>
                  </a:schemeClr>
                </a:solidFill>
              </a:rPr>
              <a:t>") as f:</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f.write</a:t>
            </a:r>
            <a:r>
              <a:rPr lang="en-US" sz="1100" i="1" dirty="0">
                <a:solidFill>
                  <a:schemeClr val="accent6">
                    <a:lumMod val="75000"/>
                  </a:schemeClr>
                </a:solidFill>
              </a:rPr>
              <a:t>(</a:t>
            </a:r>
            <a:r>
              <a:rPr lang="en-US" sz="1100" i="1" dirty="0" err="1">
                <a:solidFill>
                  <a:schemeClr val="accent6">
                    <a:lumMod val="75000"/>
                  </a:schemeClr>
                </a:solidFill>
              </a:rPr>
              <a:t>response.content</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p>
          <a:p>
            <a:pPr marL="158750" indent="0">
              <a:buNone/>
            </a:pPr>
            <a:r>
              <a:rPr lang="en-US" sz="1100" i="1" dirty="0">
                <a:solidFill>
                  <a:schemeClr val="accent6">
                    <a:lumMod val="75000"/>
                  </a:schemeClr>
                </a:solidFill>
              </a:rPr>
              <a:t>        print(f"{</a:t>
            </a:r>
            <a:r>
              <a:rPr lang="en-US" sz="1100" i="1" dirty="0" err="1">
                <a:solidFill>
                  <a:schemeClr val="accent6">
                    <a:lumMod val="75000"/>
                  </a:schemeClr>
                </a:solidFill>
              </a:rPr>
              <a:t>os.path.basename</a:t>
            </a:r>
            <a:r>
              <a:rPr lang="en-US" sz="1100" i="1" dirty="0">
                <a:solidFill>
                  <a:schemeClr val="accent6">
                    <a:lumMod val="75000"/>
                  </a:schemeClr>
                </a:solidFill>
              </a:rPr>
              <a:t>(</a:t>
            </a:r>
            <a:r>
              <a:rPr lang="en-US" sz="1100" i="1" dirty="0" err="1">
                <a:solidFill>
                  <a:schemeClr val="accent6">
                    <a:lumMod val="75000"/>
                  </a:schemeClr>
                </a:solidFill>
              </a:rPr>
              <a:t>theLink</a:t>
            </a:r>
            <a:r>
              <a:rPr lang="en-US" sz="1100" i="1" dirty="0">
                <a:solidFill>
                  <a:schemeClr val="accent6">
                    <a:lumMod val="75000"/>
                  </a:schemeClr>
                </a:solidFill>
              </a:rPr>
              <a:t>)} downloaded successfully to {</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        print(</a:t>
            </a:r>
            <a:r>
              <a:rPr lang="en-US" sz="1100" i="1" dirty="0" err="1">
                <a:solidFill>
                  <a:schemeClr val="accent6">
                    <a:lumMod val="75000"/>
                  </a:schemeClr>
                </a:solidFill>
              </a:rPr>
              <a:t>f"Extracting</a:t>
            </a:r>
            <a:r>
              <a:rPr lang="en-US" sz="1100" i="1" dirty="0">
                <a:solidFill>
                  <a:schemeClr val="accent6">
                    <a:lumMod val="75000"/>
                  </a:schemeClr>
                </a:solidFill>
              </a:rPr>
              <a:t> to {</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with </a:t>
            </a:r>
            <a:r>
              <a:rPr lang="en-US" sz="1100" i="1" dirty="0" err="1">
                <a:solidFill>
                  <a:schemeClr val="accent6">
                    <a:lumMod val="75000"/>
                  </a:schemeClr>
                </a:solidFill>
              </a:rPr>
              <a:t>zipfile.ZipFile</a:t>
            </a:r>
            <a:r>
              <a:rPr lang="en-US" sz="1100" i="1" dirty="0">
                <a:solidFill>
                  <a:schemeClr val="accent6">
                    <a:lumMod val="75000"/>
                  </a:schemeClr>
                </a:solidFill>
              </a:rPr>
              <a:t>(</a:t>
            </a:r>
            <a:r>
              <a:rPr lang="en-US" sz="1100" i="1" dirty="0" err="1">
                <a:solidFill>
                  <a:schemeClr val="accent6">
                    <a:lumMod val="75000"/>
                  </a:schemeClr>
                </a:solidFill>
              </a:rPr>
              <a:t>zipPath</a:t>
            </a:r>
            <a:r>
              <a:rPr lang="en-US" sz="1100" i="1" dirty="0">
                <a:solidFill>
                  <a:schemeClr val="accent6">
                    <a:lumMod val="75000"/>
                  </a:schemeClr>
                </a:solidFill>
              </a:rPr>
              <a:t>, 'r') as </a:t>
            </a:r>
            <a:r>
              <a:rPr lang="en-US" sz="1100" i="1" dirty="0" err="1">
                <a:solidFill>
                  <a:schemeClr val="accent6">
                    <a:lumMod val="75000"/>
                  </a:schemeClr>
                </a:solidFill>
              </a:rPr>
              <a:t>zip_ref</a:t>
            </a:r>
            <a:r>
              <a:rPr lang="en-US" sz="1100" i="1" dirty="0">
                <a:solidFill>
                  <a:schemeClr val="accent6">
                    <a:lumMod val="75000"/>
                  </a:schemeClr>
                </a:solidFill>
              </a:rPr>
              <a:t>:</a:t>
            </a:r>
          </a:p>
          <a:p>
            <a:pPr marL="158750" indent="0">
              <a:buNone/>
            </a:pPr>
            <a:r>
              <a:rPr lang="en-US" sz="1100" i="1" dirty="0">
                <a:solidFill>
                  <a:schemeClr val="accent6">
                    <a:lumMod val="75000"/>
                  </a:schemeClr>
                </a:solidFill>
              </a:rPr>
              <a:t>            </a:t>
            </a:r>
            <a:r>
              <a:rPr lang="en-US" sz="1100" i="1" dirty="0" err="1">
                <a:solidFill>
                  <a:schemeClr val="accent6">
                    <a:lumMod val="75000"/>
                  </a:schemeClr>
                </a:solidFill>
              </a:rPr>
              <a:t>zip_ref.extractall</a:t>
            </a:r>
            <a:r>
              <a:rPr lang="en-US" sz="1100" i="1" dirty="0">
                <a:solidFill>
                  <a:schemeClr val="accent6">
                    <a:lumMod val="75000"/>
                  </a:schemeClr>
                </a:solidFill>
              </a:rPr>
              <a:t>(</a:t>
            </a:r>
            <a:r>
              <a:rPr lang="en-US" sz="1100" i="1" dirty="0" err="1">
                <a:solidFill>
                  <a:schemeClr val="accent6">
                    <a:lumMod val="75000"/>
                  </a:schemeClr>
                </a:solidFill>
              </a:rPr>
              <a:t>outputDir</a:t>
            </a:r>
            <a:r>
              <a:rPr lang="en-US" sz="1100" i="1" dirty="0">
                <a:solidFill>
                  <a:schemeClr val="accent6">
                    <a:lumMod val="75000"/>
                  </a:schemeClr>
                </a:solidFill>
              </a:rPr>
              <a:t>)</a:t>
            </a:r>
          </a:p>
          <a:p>
            <a:pPr marL="158750" indent="0">
              <a:buNone/>
            </a:pPr>
            <a:endParaRPr lang="en-US" sz="1100" i="1" dirty="0">
              <a:solidFill>
                <a:schemeClr val="accent6">
                  <a:lumMod val="75000"/>
                </a:schemeClr>
              </a:solidFill>
            </a:endParaRPr>
          </a:p>
          <a:p>
            <a:pPr marL="158750" indent="0">
              <a:buNone/>
            </a:pPr>
            <a:r>
              <a:rPr lang="en-US" sz="1100" i="1" dirty="0">
                <a:solidFill>
                  <a:schemeClr val="accent6">
                    <a:lumMod val="75000"/>
                  </a:schemeClr>
                </a:solidFill>
              </a:rPr>
              <a:t>print(</a:t>
            </a:r>
            <a:r>
              <a:rPr lang="en-US" sz="1100" i="1" dirty="0" err="1">
                <a:solidFill>
                  <a:schemeClr val="accent6">
                    <a:lumMod val="75000"/>
                  </a:schemeClr>
                </a:solidFill>
              </a:rPr>
              <a:t>f"Downloaded</a:t>
            </a:r>
            <a:r>
              <a:rPr lang="en-US" sz="1100" i="1" dirty="0">
                <a:solidFill>
                  <a:schemeClr val="accent6">
                    <a:lumMod val="75000"/>
                  </a:schemeClr>
                </a:solidFill>
              </a:rPr>
              <a:t> and uncompressed zip files to {</a:t>
            </a:r>
            <a:r>
              <a:rPr lang="en-US" sz="1100" i="1" dirty="0" err="1">
                <a:solidFill>
                  <a:schemeClr val="accent6">
                    <a:lumMod val="75000"/>
                  </a:schemeClr>
                </a:solidFill>
              </a:rPr>
              <a:t>outputDir</a:t>
            </a:r>
            <a:r>
              <a:rPr lang="en-US" sz="1100" i="1" dirty="0">
                <a:solidFill>
                  <a:schemeClr val="accent6">
                    <a:lumMod val="75000"/>
                  </a:schemeClr>
                </a:solidFill>
              </a:rPr>
              <a:t>}")</a:t>
            </a:r>
            <a:endParaRPr lang="en-US" dirty="0"/>
          </a:p>
        </p:txBody>
      </p:sp>
    </p:spTree>
    <p:extLst>
      <p:ext uri="{BB962C8B-B14F-4D97-AF65-F5344CB8AC3E}">
        <p14:creationId xmlns:p14="http://schemas.microsoft.com/office/powerpoint/2010/main" val="1209786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791E5AD-BF81-45F9-16F1-EFD6C513A65E}"/>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F9073DB0-53D3-E6F4-8E35-8849A5BD1F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thanks to dogbehavioronline.com for the pic</a:t>
            </a:r>
          </a:p>
          <a:p>
            <a:r>
              <a:rPr lang="en-US" altLang="en-US">
                <a:latin typeface="Arial" panose="020B0604020202020204" pitchFamily="34" charset="0"/>
              </a:rPr>
              <a:t>http://www.dogbehavioronline.com/how-to-train-a-dog-to-fetch/</a:t>
            </a:r>
          </a:p>
          <a:p>
            <a:endParaRPr lang="en-US" altLang="en-US">
              <a:latin typeface="Arial" panose="020B0604020202020204" pitchFamily="34" charset="0"/>
            </a:endParaRPr>
          </a:p>
          <a:p>
            <a:r>
              <a:rPr lang="en-US" altLang="en-US">
                <a:latin typeface="Arial" panose="020B0604020202020204" pitchFamily="34" charset="0"/>
              </a:rPr>
              <a:t>and we saw how to use the zipfile module to unzip or uncompress files with Python.  We combined all of these things in the last in-class exercise, the WakeGov data download example.  As an extra challenge, see if you can modify this exercise to download all the street and highway data from this page. The topics in this lecture, enable you to programmatically use data warehouses with exposed links, since you now know how to extract the online data for local use. </a:t>
            </a:r>
          </a:p>
        </p:txBody>
      </p:sp>
      <p:sp>
        <p:nvSpPr>
          <p:cNvPr id="23556" name="Slide Number Placeholder 3">
            <a:extLst>
              <a:ext uri="{FF2B5EF4-FFF2-40B4-BE49-F238E27FC236}">
                <a16:creationId xmlns:a16="http://schemas.microsoft.com/office/drawing/2014/main" id="{E0EFE874-D0D4-6359-29E1-1D7E31F72E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EEE24AA-698B-47F3-B4D8-5AA24FBFB9B3}" type="slidenum">
              <a:rPr lang="en-US" altLang="en-US"/>
              <a:pPr>
                <a:spcBef>
                  <a:spcPct val="0"/>
                </a:spcBef>
              </a:pPr>
              <a:t>12</a:t>
            </a:fld>
            <a:endParaRPr lang="en-US" altLang="en-US"/>
          </a:p>
        </p:txBody>
      </p:sp>
    </p:spTree>
    <p:extLst>
      <p:ext uri="{BB962C8B-B14F-4D97-AF65-F5344CB8AC3E}">
        <p14:creationId xmlns:p14="http://schemas.microsoft.com/office/powerpoint/2010/main" val="277056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effectLst/>
                <a:latin typeface="+mn-lt"/>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F8B7F1A-0390-348D-ADE3-872111F5AC7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C8167A6-2C8B-7A18-8A3B-B235AA73DB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FAF798E-8CBA-2C70-26B8-DEDDF3586986}"/>
              </a:ext>
            </a:extLst>
          </p:cNvPr>
          <p:cNvSpPr>
            <a:spLocks noGrp="1" noChangeArrowheads="1"/>
          </p:cNvSpPr>
          <p:nvPr>
            <p:ph type="sldNum" sz="quarter" idx="12"/>
          </p:nvPr>
        </p:nvSpPr>
        <p:spPr>
          <a:ln/>
        </p:spPr>
        <p:txBody>
          <a:bodyPr/>
          <a:lstStyle>
            <a:lvl1pPr>
              <a:defRPr/>
            </a:lvl1pPr>
          </a:lstStyle>
          <a:p>
            <a:fld id="{194A7E0A-3E16-4918-9D47-136847B6919B}" type="slidenum">
              <a:rPr lang="en-US" altLang="en-US"/>
              <a:pPr/>
              <a:t>‹#›</a:t>
            </a:fld>
            <a:endParaRPr lang="en-US" altLang="en-US"/>
          </a:p>
        </p:txBody>
      </p:sp>
    </p:spTree>
    <p:extLst>
      <p:ext uri="{BB962C8B-B14F-4D97-AF65-F5344CB8AC3E}">
        <p14:creationId xmlns:p14="http://schemas.microsoft.com/office/powerpoint/2010/main" val="3485619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effectLst/>
                <a:latin typeface="+mn-lt"/>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9BC5260-DC13-EB96-E0C3-757AD82D2D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7FC8010-715E-F4C1-DC84-38D40F071B9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A6C916-FBDB-7C5A-BFD9-9A804E959041}"/>
              </a:ext>
            </a:extLst>
          </p:cNvPr>
          <p:cNvSpPr>
            <a:spLocks noGrp="1" noChangeArrowheads="1"/>
          </p:cNvSpPr>
          <p:nvPr>
            <p:ph type="sldNum" sz="quarter" idx="12"/>
          </p:nvPr>
        </p:nvSpPr>
        <p:spPr>
          <a:ln/>
        </p:spPr>
        <p:txBody>
          <a:bodyPr/>
          <a:lstStyle>
            <a:lvl1pPr>
              <a:defRPr/>
            </a:lvl1pPr>
          </a:lstStyle>
          <a:p>
            <a:fld id="{50037C83-E66B-4BE1-9C52-23A37E74D27E}" type="slidenum">
              <a:rPr lang="en-US" altLang="en-US"/>
              <a:pPr/>
              <a:t>‹#›</a:t>
            </a:fld>
            <a:endParaRPr lang="en-US" altLang="en-US"/>
          </a:p>
        </p:txBody>
      </p:sp>
    </p:spTree>
    <p:extLst>
      <p:ext uri="{BB962C8B-B14F-4D97-AF65-F5344CB8AC3E}">
        <p14:creationId xmlns:p14="http://schemas.microsoft.com/office/powerpoint/2010/main" val="109885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828AB56-6C5A-5987-3AC5-E327049B4A6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4083BF5-89F6-A3DA-7B9D-574712F53E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C60CD60-56C2-84EB-BD25-148F249323D6}"/>
              </a:ext>
            </a:extLst>
          </p:cNvPr>
          <p:cNvSpPr>
            <a:spLocks noGrp="1" noChangeArrowheads="1"/>
          </p:cNvSpPr>
          <p:nvPr>
            <p:ph type="sldNum" sz="quarter" idx="12"/>
          </p:nvPr>
        </p:nvSpPr>
        <p:spPr>
          <a:ln/>
        </p:spPr>
        <p:txBody>
          <a:bodyPr/>
          <a:lstStyle>
            <a:lvl1pPr>
              <a:defRPr/>
            </a:lvl1pPr>
          </a:lstStyle>
          <a:p>
            <a:fld id="{331C036D-C60D-4E78-B353-EA59ED1250AE}" type="slidenum">
              <a:rPr lang="en-US" altLang="en-US"/>
              <a:pPr/>
              <a:t>‹#›</a:t>
            </a:fld>
            <a:endParaRPr lang="en-US" altLang="en-US"/>
          </a:p>
        </p:txBody>
      </p:sp>
    </p:spTree>
    <p:extLst>
      <p:ext uri="{BB962C8B-B14F-4D97-AF65-F5344CB8AC3E}">
        <p14:creationId xmlns:p14="http://schemas.microsoft.com/office/powerpoint/2010/main" val="383596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2BC4E68-4708-CE3F-EA5A-CE7C35B4825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8F308CC-D0E8-9DE3-C476-43484E76229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65F31D0-18C2-855F-6788-BBB7945D72CE}"/>
              </a:ext>
            </a:extLst>
          </p:cNvPr>
          <p:cNvSpPr>
            <a:spLocks noGrp="1" noChangeArrowheads="1"/>
          </p:cNvSpPr>
          <p:nvPr>
            <p:ph type="sldNum" sz="quarter" idx="12"/>
          </p:nvPr>
        </p:nvSpPr>
        <p:spPr>
          <a:ln/>
        </p:spPr>
        <p:txBody>
          <a:bodyPr/>
          <a:lstStyle>
            <a:lvl1pPr>
              <a:defRPr/>
            </a:lvl1pPr>
          </a:lstStyle>
          <a:p>
            <a:fld id="{DD516CE3-6CD9-4CF2-B564-2CD52AAF5801}" type="slidenum">
              <a:rPr lang="en-US" altLang="en-US"/>
              <a:pPr/>
              <a:t>‹#›</a:t>
            </a:fld>
            <a:endParaRPr lang="en-US" altLang="en-US"/>
          </a:p>
        </p:txBody>
      </p:sp>
    </p:spTree>
    <p:extLst>
      <p:ext uri="{BB962C8B-B14F-4D97-AF65-F5344CB8AC3E}">
        <p14:creationId xmlns:p14="http://schemas.microsoft.com/office/powerpoint/2010/main" val="4000167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8662449-4573-CF78-BAAF-96F48CAACC9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84D4A6D-841A-8A08-F762-9B4EFE48D4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D5238D2-734D-F653-4304-5F82A761B983}"/>
              </a:ext>
            </a:extLst>
          </p:cNvPr>
          <p:cNvSpPr>
            <a:spLocks noGrp="1" noChangeArrowheads="1"/>
          </p:cNvSpPr>
          <p:nvPr>
            <p:ph type="sldNum" sz="quarter" idx="12"/>
          </p:nvPr>
        </p:nvSpPr>
        <p:spPr>
          <a:ln/>
        </p:spPr>
        <p:txBody>
          <a:bodyPr/>
          <a:lstStyle>
            <a:lvl1pPr>
              <a:defRPr/>
            </a:lvl1pPr>
          </a:lstStyle>
          <a:p>
            <a:fld id="{4EBBD2F3-3398-4742-8480-6DA5BB48FCA9}" type="slidenum">
              <a:rPr lang="en-US" altLang="en-US"/>
              <a:pPr/>
              <a:t>‹#›</a:t>
            </a:fld>
            <a:endParaRPr lang="en-US" altLang="en-US"/>
          </a:p>
        </p:txBody>
      </p:sp>
    </p:spTree>
    <p:extLst>
      <p:ext uri="{BB962C8B-B14F-4D97-AF65-F5344CB8AC3E}">
        <p14:creationId xmlns:p14="http://schemas.microsoft.com/office/powerpoint/2010/main" val="321004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8AE7B76-D354-F73F-AA09-977499CD84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E0FF45C-A5B5-C2FD-5160-B3AF03BD394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A6C5762-5733-66B3-C9E2-1C405CE191CA}"/>
              </a:ext>
            </a:extLst>
          </p:cNvPr>
          <p:cNvSpPr>
            <a:spLocks noGrp="1" noChangeArrowheads="1"/>
          </p:cNvSpPr>
          <p:nvPr>
            <p:ph type="sldNum" sz="quarter" idx="12"/>
          </p:nvPr>
        </p:nvSpPr>
        <p:spPr>
          <a:ln/>
        </p:spPr>
        <p:txBody>
          <a:bodyPr/>
          <a:lstStyle>
            <a:lvl1pPr>
              <a:defRPr/>
            </a:lvl1pPr>
          </a:lstStyle>
          <a:p>
            <a:fld id="{93D11127-EF59-406B-9415-5A854780CC39}" type="slidenum">
              <a:rPr lang="en-US" altLang="en-US"/>
              <a:pPr/>
              <a:t>‹#›</a:t>
            </a:fld>
            <a:endParaRPr lang="en-US" altLang="en-US"/>
          </a:p>
        </p:txBody>
      </p:sp>
    </p:spTree>
    <p:extLst>
      <p:ext uri="{BB962C8B-B14F-4D97-AF65-F5344CB8AC3E}">
        <p14:creationId xmlns:p14="http://schemas.microsoft.com/office/powerpoint/2010/main" val="157148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65A9345-CDA1-CF95-53B4-FE8E65B62B9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9E72235-1721-E3D6-46C9-345303BB52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B33F82C-4B71-F51A-1DCF-F9356D0F1C49}"/>
              </a:ext>
            </a:extLst>
          </p:cNvPr>
          <p:cNvSpPr>
            <a:spLocks noGrp="1" noChangeArrowheads="1"/>
          </p:cNvSpPr>
          <p:nvPr>
            <p:ph type="sldNum" sz="quarter" idx="12"/>
          </p:nvPr>
        </p:nvSpPr>
        <p:spPr>
          <a:ln/>
        </p:spPr>
        <p:txBody>
          <a:bodyPr/>
          <a:lstStyle>
            <a:lvl1pPr>
              <a:defRPr/>
            </a:lvl1pPr>
          </a:lstStyle>
          <a:p>
            <a:fld id="{47C53A9A-9F8F-4F63-B1B2-1F1C60DC31D8}" type="slidenum">
              <a:rPr lang="en-US" altLang="en-US"/>
              <a:pPr/>
              <a:t>‹#›</a:t>
            </a:fld>
            <a:endParaRPr lang="en-US" altLang="en-US"/>
          </a:p>
        </p:txBody>
      </p:sp>
    </p:spTree>
    <p:extLst>
      <p:ext uri="{BB962C8B-B14F-4D97-AF65-F5344CB8AC3E}">
        <p14:creationId xmlns:p14="http://schemas.microsoft.com/office/powerpoint/2010/main" val="68372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3B6A250-FEAA-E610-DC3B-D55EC7E0528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F6ACF79-BDD7-690C-16A2-05CCFEC386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ACE29ED-AC13-59A5-7A91-3A883CDB4CD9}"/>
              </a:ext>
            </a:extLst>
          </p:cNvPr>
          <p:cNvSpPr>
            <a:spLocks noGrp="1" noChangeArrowheads="1"/>
          </p:cNvSpPr>
          <p:nvPr>
            <p:ph type="sldNum" sz="quarter" idx="12"/>
          </p:nvPr>
        </p:nvSpPr>
        <p:spPr>
          <a:ln/>
        </p:spPr>
        <p:txBody>
          <a:bodyPr/>
          <a:lstStyle>
            <a:lvl1pPr>
              <a:defRPr/>
            </a:lvl1pPr>
          </a:lstStyle>
          <a:p>
            <a:fld id="{526B71DE-1B0F-4248-A935-5B4E2E42B29D}" type="slidenum">
              <a:rPr lang="en-US" altLang="en-US"/>
              <a:pPr/>
              <a:t>‹#›</a:t>
            </a:fld>
            <a:endParaRPr lang="en-US" altLang="en-US"/>
          </a:p>
        </p:txBody>
      </p:sp>
    </p:spTree>
    <p:extLst>
      <p:ext uri="{BB962C8B-B14F-4D97-AF65-F5344CB8AC3E}">
        <p14:creationId xmlns:p14="http://schemas.microsoft.com/office/powerpoint/2010/main" val="210916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9F106DE-2F6B-76CA-FD90-9CEDF82EC2F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96477FD-73FC-3E8A-33C8-F5714781E5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19966F1-E43C-C995-27E9-5C26F7CE18B6}"/>
              </a:ext>
            </a:extLst>
          </p:cNvPr>
          <p:cNvSpPr>
            <a:spLocks noGrp="1" noChangeArrowheads="1"/>
          </p:cNvSpPr>
          <p:nvPr>
            <p:ph type="sldNum" sz="quarter" idx="12"/>
          </p:nvPr>
        </p:nvSpPr>
        <p:spPr>
          <a:ln/>
        </p:spPr>
        <p:txBody>
          <a:bodyPr/>
          <a:lstStyle>
            <a:lvl1pPr>
              <a:defRPr/>
            </a:lvl1pPr>
          </a:lstStyle>
          <a:p>
            <a:fld id="{0853C2AB-26F8-4000-BB85-E4F4ACB4ACB7}" type="slidenum">
              <a:rPr lang="en-US" altLang="en-US"/>
              <a:pPr/>
              <a:t>‹#›</a:t>
            </a:fld>
            <a:endParaRPr lang="en-US" altLang="en-US"/>
          </a:p>
        </p:txBody>
      </p:sp>
    </p:spTree>
    <p:extLst>
      <p:ext uri="{BB962C8B-B14F-4D97-AF65-F5344CB8AC3E}">
        <p14:creationId xmlns:p14="http://schemas.microsoft.com/office/powerpoint/2010/main" val="2856060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CC2BC92-0E4C-DBFF-2E5F-EC089432C59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54D8C66-80CE-749D-621F-4145D01D1C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71402E5-8A37-694D-A174-6CE58B4016B3}"/>
              </a:ext>
            </a:extLst>
          </p:cNvPr>
          <p:cNvSpPr>
            <a:spLocks noGrp="1" noChangeArrowheads="1"/>
          </p:cNvSpPr>
          <p:nvPr>
            <p:ph type="sldNum" sz="quarter" idx="12"/>
          </p:nvPr>
        </p:nvSpPr>
        <p:spPr>
          <a:ln/>
        </p:spPr>
        <p:txBody>
          <a:bodyPr/>
          <a:lstStyle>
            <a:lvl1pPr>
              <a:defRPr/>
            </a:lvl1pPr>
          </a:lstStyle>
          <a:p>
            <a:fld id="{D7C7D53B-F910-45D3-ADC3-5384E2B2C571}" type="slidenum">
              <a:rPr lang="en-US" altLang="en-US"/>
              <a:pPr/>
              <a:t>‹#›</a:t>
            </a:fld>
            <a:endParaRPr lang="en-US" altLang="en-US"/>
          </a:p>
        </p:txBody>
      </p:sp>
    </p:spTree>
    <p:extLst>
      <p:ext uri="{BB962C8B-B14F-4D97-AF65-F5344CB8AC3E}">
        <p14:creationId xmlns:p14="http://schemas.microsoft.com/office/powerpoint/2010/main" val="138100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152400"/>
            <a:ext cx="21717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3627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5FDBC32-626C-5958-AE2B-D502C9CB510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8E70C67-9322-4A15-B3F4-477BECA514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CE56A9C-7A2F-628F-0312-564A0E0D37DA}"/>
              </a:ext>
            </a:extLst>
          </p:cNvPr>
          <p:cNvSpPr>
            <a:spLocks noGrp="1" noChangeArrowheads="1"/>
          </p:cNvSpPr>
          <p:nvPr>
            <p:ph type="sldNum" sz="quarter" idx="12"/>
          </p:nvPr>
        </p:nvSpPr>
        <p:spPr>
          <a:ln/>
        </p:spPr>
        <p:txBody>
          <a:bodyPr/>
          <a:lstStyle>
            <a:lvl1pPr>
              <a:defRPr/>
            </a:lvl1pPr>
          </a:lstStyle>
          <a:p>
            <a:fld id="{884C7F18-E08B-4AB0-89CA-CFCB14DEBFC4}" type="slidenum">
              <a:rPr lang="en-US" altLang="en-US"/>
              <a:pPr/>
              <a:t>‹#›</a:t>
            </a:fld>
            <a:endParaRPr lang="en-US" altLang="en-US"/>
          </a:p>
        </p:txBody>
      </p:sp>
    </p:spTree>
    <p:extLst>
      <p:ext uri="{BB962C8B-B14F-4D97-AF65-F5344CB8AC3E}">
        <p14:creationId xmlns:p14="http://schemas.microsoft.com/office/powerpoint/2010/main" val="1939473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8001000" cy="457200"/>
          </a:xfrm>
        </p:spPr>
        <p:txBody>
          <a:bodyPr/>
          <a:lstStyle/>
          <a:p>
            <a:r>
              <a:rPr lang="en-US"/>
              <a:t>Click to edit Master title style</a:t>
            </a:r>
          </a:p>
        </p:txBody>
      </p:sp>
      <p:sp>
        <p:nvSpPr>
          <p:cNvPr id="3" name="Table Placeholder 2"/>
          <p:cNvSpPr>
            <a:spLocks noGrp="1"/>
          </p:cNvSpPr>
          <p:nvPr>
            <p:ph type="tbl" idx="1"/>
          </p:nvPr>
        </p:nvSpPr>
        <p:spPr>
          <a:xfrm>
            <a:off x="152400" y="914400"/>
            <a:ext cx="8686800" cy="5410200"/>
          </a:xfrm>
        </p:spPr>
        <p:txBody>
          <a:bodyPr/>
          <a:lstStyle/>
          <a:p>
            <a:pPr lvl="0"/>
            <a:endParaRPr lang="en-US" noProof="0"/>
          </a:p>
        </p:txBody>
      </p:sp>
      <p:sp>
        <p:nvSpPr>
          <p:cNvPr id="4" name="Rectangle 4">
            <a:extLst>
              <a:ext uri="{FF2B5EF4-FFF2-40B4-BE49-F238E27FC236}">
                <a16:creationId xmlns:a16="http://schemas.microsoft.com/office/drawing/2014/main" id="{7B250F57-63D6-5990-091C-F61C2653846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082A105-F2A1-040E-598B-07BC30F27D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B0F4604-5488-8BFA-3469-0870F55239A4}"/>
              </a:ext>
            </a:extLst>
          </p:cNvPr>
          <p:cNvSpPr>
            <a:spLocks noGrp="1" noChangeArrowheads="1"/>
          </p:cNvSpPr>
          <p:nvPr>
            <p:ph type="sldNum" sz="quarter" idx="12"/>
          </p:nvPr>
        </p:nvSpPr>
        <p:spPr>
          <a:ln/>
        </p:spPr>
        <p:txBody>
          <a:bodyPr/>
          <a:lstStyle>
            <a:lvl1pPr>
              <a:defRPr/>
            </a:lvl1pPr>
          </a:lstStyle>
          <a:p>
            <a:fld id="{E4B78DF3-C217-489A-A855-3F3D43F896CA}" type="slidenum">
              <a:rPr lang="en-US" altLang="en-US"/>
              <a:pPr/>
              <a:t>‹#›</a:t>
            </a:fld>
            <a:endParaRPr lang="en-US" altLang="en-US"/>
          </a:p>
        </p:txBody>
      </p:sp>
    </p:spTree>
    <p:extLst>
      <p:ext uri="{BB962C8B-B14F-4D97-AF65-F5344CB8AC3E}">
        <p14:creationId xmlns:p14="http://schemas.microsoft.com/office/powerpoint/2010/main" val="12065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49A00DA-1539-F5A3-7731-8089803B59EE}"/>
              </a:ext>
            </a:extLst>
          </p:cNvPr>
          <p:cNvSpPr>
            <a:spLocks noGrp="1" noChangeArrowheads="1"/>
          </p:cNvSpPr>
          <p:nvPr>
            <p:ph type="title"/>
          </p:nvPr>
        </p:nvSpPr>
        <p:spPr bwMode="auto">
          <a:xfrm>
            <a:off x="838200" y="1524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1C7D019-E9F8-4949-D55D-88F75470C5AC}"/>
              </a:ext>
            </a:extLst>
          </p:cNvPr>
          <p:cNvSpPr>
            <a:spLocks noGrp="1" noChangeArrowheads="1"/>
          </p:cNvSpPr>
          <p:nvPr>
            <p:ph type="body" idx="1"/>
          </p:nvPr>
        </p:nvSpPr>
        <p:spPr bwMode="auto">
          <a:xfrm>
            <a:off x="152400" y="9144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44A98BFF-7644-DD99-CCF7-AACBAFB32FE5}"/>
              </a:ext>
            </a:extLst>
          </p:cNvPr>
          <p:cNvSpPr>
            <a:spLocks noGrp="1" noChangeArrowheads="1"/>
          </p:cNvSpPr>
          <p:nvPr>
            <p:ph type="dt" sz="half" idx="2"/>
          </p:nvPr>
        </p:nvSpPr>
        <p:spPr bwMode="auto">
          <a:xfrm>
            <a:off x="152400" y="6400800"/>
            <a:ext cx="2438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8000"/>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96C59EE2-731D-4FB0-C798-8E893FACADF1}"/>
              </a:ext>
            </a:extLst>
          </p:cNvPr>
          <p:cNvSpPr>
            <a:spLocks noGrp="1" noChangeArrowheads="1"/>
          </p:cNvSpPr>
          <p:nvPr>
            <p:ph type="ftr" sz="quarter" idx="3"/>
          </p:nvPr>
        </p:nvSpPr>
        <p:spPr bwMode="auto">
          <a:xfrm>
            <a:off x="2667000" y="6400800"/>
            <a:ext cx="38100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8000"/>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6D3C310F-95EB-D0BC-DE8F-D1DE3CE99D83}"/>
              </a:ext>
            </a:extLst>
          </p:cNvPr>
          <p:cNvSpPr>
            <a:spLocks noGrp="1" noChangeArrowheads="1"/>
          </p:cNvSpPr>
          <p:nvPr>
            <p:ph type="sldNum" sz="quarter" idx="4"/>
          </p:nvPr>
        </p:nvSpPr>
        <p:spPr bwMode="auto">
          <a:xfrm>
            <a:off x="6553200" y="6400800"/>
            <a:ext cx="22860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8000"/>
                </a:solidFill>
              </a:defRPr>
            </a:lvl1pPr>
          </a:lstStyle>
          <a:p>
            <a:fld id="{22E2EC39-3E45-4F13-9CEF-53954F08641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4000" b="1">
          <a:solidFill>
            <a:srgbClr val="262673"/>
          </a:solidFill>
          <a:latin typeface="+mn-lt"/>
          <a:ea typeface="+mj-ea"/>
          <a:cs typeface="+mj-cs"/>
        </a:defRPr>
      </a:lvl1pPr>
      <a:lvl2pPr algn="l" rtl="0" eaLnBrk="0" fontAlgn="base" hangingPunct="0">
        <a:spcBef>
          <a:spcPct val="0"/>
        </a:spcBef>
        <a:spcAft>
          <a:spcPct val="0"/>
        </a:spcAft>
        <a:defRPr sz="4000" b="1">
          <a:solidFill>
            <a:srgbClr val="262673"/>
          </a:solidFill>
          <a:effectLst>
            <a:outerShdw blurRad="38100" dist="38100" dir="2700000" algn="tl">
              <a:srgbClr val="000000"/>
            </a:outerShdw>
          </a:effectLst>
          <a:latin typeface="Arial" panose="020B0604020202020204" pitchFamily="34" charset="0"/>
        </a:defRPr>
      </a:lvl2pPr>
      <a:lvl3pPr algn="l" rtl="0" eaLnBrk="0" fontAlgn="base" hangingPunct="0">
        <a:spcBef>
          <a:spcPct val="0"/>
        </a:spcBef>
        <a:spcAft>
          <a:spcPct val="0"/>
        </a:spcAft>
        <a:defRPr sz="4000" b="1">
          <a:solidFill>
            <a:srgbClr val="262673"/>
          </a:solidFill>
          <a:effectLst>
            <a:outerShdw blurRad="38100" dist="38100" dir="2700000" algn="tl">
              <a:srgbClr val="000000"/>
            </a:outerShdw>
          </a:effectLst>
          <a:latin typeface="Arial" panose="020B0604020202020204" pitchFamily="34" charset="0"/>
        </a:defRPr>
      </a:lvl3pPr>
      <a:lvl4pPr algn="l" rtl="0" eaLnBrk="0" fontAlgn="base" hangingPunct="0">
        <a:spcBef>
          <a:spcPct val="0"/>
        </a:spcBef>
        <a:spcAft>
          <a:spcPct val="0"/>
        </a:spcAft>
        <a:defRPr sz="4000" b="1">
          <a:solidFill>
            <a:srgbClr val="262673"/>
          </a:solidFill>
          <a:effectLst>
            <a:outerShdw blurRad="38100" dist="38100" dir="2700000" algn="tl">
              <a:srgbClr val="000000"/>
            </a:outerShdw>
          </a:effectLst>
          <a:latin typeface="Arial" panose="020B0604020202020204" pitchFamily="34" charset="0"/>
        </a:defRPr>
      </a:lvl4pPr>
      <a:lvl5pPr algn="l" rtl="0" eaLnBrk="0" fontAlgn="base" hangingPunct="0">
        <a:spcBef>
          <a:spcPct val="0"/>
        </a:spcBef>
        <a:spcAft>
          <a:spcPct val="0"/>
        </a:spcAft>
        <a:defRPr sz="4000" b="1">
          <a:solidFill>
            <a:srgbClr val="262673"/>
          </a:solidFill>
          <a:effectLst>
            <a:outerShdw blurRad="38100" dist="38100" dir="2700000" algn="tl">
              <a:srgbClr val="000000"/>
            </a:outerShdw>
          </a:effectLst>
          <a:latin typeface="Arial" panose="020B0604020202020204" pitchFamily="34" charset="0"/>
        </a:defRPr>
      </a:lvl5pPr>
      <a:lvl6pPr marL="4572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6pPr>
      <a:lvl7pPr marL="9144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7pPr>
      <a:lvl8pPr marL="13716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8pPr>
      <a:lvl9pPr marL="18288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4D5934AA-9F35-4DC2-BDEF-C88AEF973F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36" y="0"/>
            <a:ext cx="9141711" cy="6858000"/>
            <a:chOff x="-2848" y="0"/>
            <a:chExt cx="12188949" cy="6858000"/>
          </a:xfrm>
        </p:grpSpPr>
        <p:sp>
          <p:nvSpPr>
            <p:cNvPr id="15"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Cover">
              <a:extLst>
                <a:ext uri="{FF2B5EF4-FFF2-40B4-BE49-F238E27FC236}">
                  <a16:creationId xmlns:a16="http://schemas.microsoft.com/office/drawing/2014/main" id="{B2BC243A-AB39-4DEF-B708-A656BA5A6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D95590E9-5E18-4877-8515-94EBE05E1F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8459" y="598259"/>
            <a:ext cx="8167081" cy="5680742"/>
            <a:chOff x="651279" y="598259"/>
            <a:chExt cx="10889442" cy="5680742"/>
          </a:xfrm>
        </p:grpSpPr>
        <p:sp>
          <p:nvSpPr>
            <p:cNvPr id="19" name="Color">
              <a:extLst>
                <a:ext uri="{FF2B5EF4-FFF2-40B4-BE49-F238E27FC236}">
                  <a16:creationId xmlns:a16="http://schemas.microsoft.com/office/drawing/2014/main" id="{8B4AF456-0671-432E-AD5B-FFAF8D646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3CE7848D-78F7-4020-9603-9ED294166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7" descr="https://drupal.org/files/project-images/blog-358561.jpeg">
            <a:extLst>
              <a:ext uri="{FF2B5EF4-FFF2-40B4-BE49-F238E27FC236}">
                <a16:creationId xmlns:a16="http://schemas.microsoft.com/office/drawing/2014/main" id="{7A7364F6-72B6-246B-F1D2-63700140DD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533" r="27855" b="-2"/>
          <a:stretch>
            <a:fillRect/>
          </a:stretch>
        </p:blipFill>
        <p:spPr bwMode="auto">
          <a:xfrm>
            <a:off x="5312107" y="841663"/>
            <a:ext cx="3124613" cy="518592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Group 21">
            <a:extLst>
              <a:ext uri="{FF2B5EF4-FFF2-40B4-BE49-F238E27FC236}">
                <a16:creationId xmlns:a16="http://schemas.microsoft.com/office/drawing/2014/main" id="{5CA0097F-05D8-41AA-ABF9-33C6987911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1717" cy="6858000"/>
            <a:chOff x="0" y="0"/>
            <a:chExt cx="12188952" cy="6858000"/>
          </a:xfrm>
        </p:grpSpPr>
        <p:sp>
          <p:nvSpPr>
            <p:cNvPr id="23" name="Freeform: Shape 22">
              <a:extLst>
                <a:ext uri="{FF2B5EF4-FFF2-40B4-BE49-F238E27FC236}">
                  <a16:creationId xmlns:a16="http://schemas.microsoft.com/office/drawing/2014/main" id="{F662F899-4295-416F-919F-934ED7697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955A3F4B-68DC-4F36-BCE6-C507ACC53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3483BE2D-C85A-4DE3-A6F4-AE65BB3EF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64C550A-7A80-4B73-B7BF-7426DD1C3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D956BA8-D252-430A-9E58-C7F3D1AC9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5345BF4-9F1D-4388-A778-56FAE2C42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022B00E1-8709-469F-A9F4-F974D3FED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D2C93D5-B559-3549-E834-31849F092AC9}"/>
              </a:ext>
            </a:extLst>
          </p:cNvPr>
          <p:cNvSpPr>
            <a:spLocks noGrp="1"/>
          </p:cNvSpPr>
          <p:nvPr>
            <p:ph type="ctrTitle"/>
          </p:nvPr>
        </p:nvSpPr>
        <p:spPr>
          <a:xfrm>
            <a:off x="759483" y="841664"/>
            <a:ext cx="3902992" cy="2782723"/>
          </a:xfrm>
        </p:spPr>
        <p:txBody>
          <a:bodyPr anchor="b">
            <a:normAutofit/>
          </a:bodyPr>
          <a:lstStyle/>
          <a:p>
            <a:r>
              <a:rPr lang="en-US" altLang="en-US" sz="4200" b="0" dirty="0">
                <a:solidFill>
                  <a:schemeClr val="bg1"/>
                </a:solidFill>
              </a:rPr>
              <a:t>Fetching</a:t>
            </a:r>
            <a:br>
              <a:rPr lang="en-US" altLang="en-US" sz="4200" b="0" dirty="0">
                <a:solidFill>
                  <a:schemeClr val="bg1"/>
                </a:solidFill>
              </a:rPr>
            </a:br>
            <a:r>
              <a:rPr lang="en-US" altLang="en-US" sz="4200" b="0" dirty="0">
                <a:solidFill>
                  <a:schemeClr val="bg1"/>
                </a:solidFill>
              </a:rPr>
              <a:t>and </a:t>
            </a:r>
            <a:r>
              <a:rPr lang="en-US" altLang="en-US" sz="4200" b="0" dirty="0" err="1">
                <a:solidFill>
                  <a:schemeClr val="bg1"/>
                </a:solidFill>
              </a:rPr>
              <a:t>uncompressingfiles</a:t>
            </a:r>
            <a:endParaRPr lang="en-US" sz="4200" dirty="0">
              <a:solidFill>
                <a:schemeClr val="bg1"/>
              </a:solidFill>
            </a:endParaRPr>
          </a:p>
        </p:txBody>
      </p:sp>
      <p:sp>
        <p:nvSpPr>
          <p:cNvPr id="6" name="Rectangle 2">
            <a:extLst>
              <a:ext uri="{FF2B5EF4-FFF2-40B4-BE49-F238E27FC236}">
                <a16:creationId xmlns:a16="http://schemas.microsoft.com/office/drawing/2014/main" id="{11688E37-9255-99D6-27A8-2EBD3A4629DF}"/>
              </a:ext>
            </a:extLst>
          </p:cNvPr>
          <p:cNvSpPr>
            <a:spLocks noGrp="1" noChangeArrowheads="1"/>
          </p:cNvSpPr>
          <p:nvPr>
            <p:ph type="subTitle" idx="1"/>
          </p:nvPr>
        </p:nvSpPr>
        <p:spPr bwMode="auto">
          <a:xfrm>
            <a:off x="759483" y="3764655"/>
            <a:ext cx="3902992" cy="237407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lnSpc>
                <a:spcPct val="90000"/>
              </a:lnSpc>
              <a:spcBef>
                <a:spcPct val="0"/>
              </a:spcBef>
              <a:spcAft>
                <a:spcPts val="600"/>
              </a:spcAft>
              <a:buFontTx/>
              <a:buNone/>
            </a:pPr>
            <a:r>
              <a:rPr lang="en-US" altLang="en-US" sz="2700" dirty="0">
                <a:solidFill>
                  <a:schemeClr val="bg1"/>
                </a:solidFill>
              </a:rPr>
              <a:t>Fetch HTML</a:t>
            </a:r>
          </a:p>
          <a:p>
            <a:pPr algn="l">
              <a:lnSpc>
                <a:spcPct val="90000"/>
              </a:lnSpc>
              <a:spcBef>
                <a:spcPct val="0"/>
              </a:spcBef>
              <a:spcAft>
                <a:spcPts val="600"/>
              </a:spcAft>
              <a:buFontTx/>
              <a:buNone/>
            </a:pPr>
            <a:r>
              <a:rPr lang="en-US" altLang="en-US" sz="2700" dirty="0">
                <a:solidFill>
                  <a:schemeClr val="bg1"/>
                </a:solidFill>
              </a:rPr>
              <a:t>Text vs. binary </a:t>
            </a:r>
          </a:p>
          <a:p>
            <a:pPr algn="l">
              <a:lnSpc>
                <a:spcPct val="90000"/>
              </a:lnSpc>
              <a:spcBef>
                <a:spcPct val="0"/>
              </a:spcBef>
              <a:spcAft>
                <a:spcPts val="600"/>
              </a:spcAft>
              <a:buFontTx/>
              <a:buNone/>
            </a:pPr>
            <a:r>
              <a:rPr lang="en-US" altLang="en-US" sz="2700" dirty="0">
                <a:solidFill>
                  <a:schemeClr val="bg1"/>
                </a:solidFill>
              </a:rPr>
              <a:t>Fetch binary web content</a:t>
            </a:r>
          </a:p>
        </p:txBody>
      </p:sp>
      <p:sp>
        <p:nvSpPr>
          <p:cNvPr id="4" name="Slide Number Placeholder 3">
            <a:extLst>
              <a:ext uri="{FF2B5EF4-FFF2-40B4-BE49-F238E27FC236}">
                <a16:creationId xmlns:a16="http://schemas.microsoft.com/office/drawing/2014/main" id="{ACD98C2D-6957-2F5F-4F68-CE4C0862314A}"/>
              </a:ext>
            </a:extLst>
          </p:cNvPr>
          <p:cNvSpPr>
            <a:spLocks noGrp="1"/>
          </p:cNvSpPr>
          <p:nvPr>
            <p:ph type="sldNum" sz="quarter" idx="12"/>
          </p:nvPr>
        </p:nvSpPr>
        <p:spPr>
          <a:xfrm>
            <a:off x="8661204" y="6217920"/>
            <a:ext cx="480060" cy="640080"/>
          </a:xfrm>
        </p:spPr>
        <p:txBody>
          <a:bodyPr>
            <a:normAutofit/>
          </a:bodyPr>
          <a:lstStyle/>
          <a:p>
            <a:pPr algn="ctr">
              <a:spcAft>
                <a:spcPts val="600"/>
              </a:spcAft>
            </a:pPr>
            <a:fld id="{194A7E0A-3E16-4918-9D47-136847B6919B}" type="slidenum">
              <a:rPr lang="en-US" altLang="en-US">
                <a:solidFill>
                  <a:schemeClr val="tx2"/>
                </a:solidFill>
              </a:rPr>
              <a:pPr algn="ctr">
                <a:spcAft>
                  <a:spcPts val="600"/>
                </a:spcAft>
              </a:pPr>
              <a:t>1</a:t>
            </a:fld>
            <a:endParaRPr lang="en-US" altLang="en-US">
              <a:solidFill>
                <a:schemeClr val="tx2"/>
              </a:solidFill>
            </a:endParaRPr>
          </a:p>
        </p:txBody>
      </p:sp>
      <p:sp>
        <p:nvSpPr>
          <p:cNvPr id="7" name="Rectangle 1">
            <a:extLst>
              <a:ext uri="{FF2B5EF4-FFF2-40B4-BE49-F238E27FC236}">
                <a16:creationId xmlns:a16="http://schemas.microsoft.com/office/drawing/2014/main" id="{56F92CEE-FC1D-F910-3E84-3F29740DE62A}"/>
              </a:ext>
            </a:extLst>
          </p:cNvPr>
          <p:cNvSpPr>
            <a:spLocks noChangeArrowheads="1"/>
          </p:cNvSpPr>
          <p:nvPr/>
        </p:nvSpPr>
        <p:spPr bwMode="auto">
          <a:xfrm>
            <a:off x="5791200" y="6156464"/>
            <a:ext cx="31695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ts val="600"/>
              </a:spcAft>
              <a:buFontTx/>
              <a:buNone/>
            </a:pPr>
            <a:r>
              <a:rPr lang="en-US" altLang="en-US" sz="4000" dirty="0">
                <a:solidFill>
                  <a:srgbClr val="2E75B6"/>
                </a:solidFill>
              </a:rPr>
              <a:t>Dr. Tateosian</a:t>
            </a:r>
            <a:endParaRPr lang="en-US" altLang="en-US" sz="4000">
              <a:solidFill>
                <a:srgbClr val="2E75B6"/>
              </a:solidFill>
            </a:endParaRPr>
          </a:p>
        </p:txBody>
      </p:sp>
    </p:spTree>
    <p:extLst>
      <p:ext uri="{BB962C8B-B14F-4D97-AF65-F5344CB8AC3E}">
        <p14:creationId xmlns:p14="http://schemas.microsoft.com/office/powerpoint/2010/main" val="643750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DCBCDA-ACBE-FCE5-24FF-6577C2E323DC}"/>
            </a:ext>
          </a:extLst>
        </p:cNvPr>
        <p:cNvGrpSpPr/>
        <p:nvPr/>
      </p:nvGrpSpPr>
      <p:grpSpPr>
        <a:xfrm>
          <a:off x="0" y="0"/>
          <a:ext cx="0" cy="0"/>
          <a:chOff x="0" y="0"/>
          <a:chExt cx="0" cy="0"/>
        </a:xfrm>
      </p:grpSpPr>
      <p:sp>
        <p:nvSpPr>
          <p:cNvPr id="5122" name="Title 1">
            <a:extLst>
              <a:ext uri="{FF2B5EF4-FFF2-40B4-BE49-F238E27FC236}">
                <a16:creationId xmlns:a16="http://schemas.microsoft.com/office/drawing/2014/main" id="{0BC30F8B-4F65-DFF0-ED78-0B026C70CBB7}"/>
              </a:ext>
            </a:extLst>
          </p:cNvPr>
          <p:cNvSpPr>
            <a:spLocks noGrp="1"/>
          </p:cNvSpPr>
          <p:nvPr>
            <p:ph type="title"/>
          </p:nvPr>
        </p:nvSpPr>
        <p:spPr>
          <a:xfrm>
            <a:off x="657520" y="741391"/>
            <a:ext cx="3175795" cy="1616203"/>
          </a:xfrm>
        </p:spPr>
        <p:txBody>
          <a:bodyPr anchor="b">
            <a:normAutofit/>
          </a:bodyPr>
          <a:lstStyle/>
          <a:p>
            <a:r>
              <a:rPr lang="en-US" altLang="en-US" sz="2800" dirty="0"/>
              <a:t>Fetching web content</a:t>
            </a:r>
          </a:p>
        </p:txBody>
      </p:sp>
      <p:sp>
        <p:nvSpPr>
          <p:cNvPr id="5123" name="Content Placeholder 2">
            <a:extLst>
              <a:ext uri="{FF2B5EF4-FFF2-40B4-BE49-F238E27FC236}">
                <a16:creationId xmlns:a16="http://schemas.microsoft.com/office/drawing/2014/main" id="{AADC04FA-974D-7405-7626-3701D0256A1C}"/>
              </a:ext>
            </a:extLst>
          </p:cNvPr>
          <p:cNvSpPr>
            <a:spLocks noGrp="1"/>
          </p:cNvSpPr>
          <p:nvPr>
            <p:ph idx="1"/>
          </p:nvPr>
        </p:nvSpPr>
        <p:spPr>
          <a:xfrm>
            <a:off x="657518" y="2533476"/>
            <a:ext cx="3457281" cy="3447832"/>
          </a:xfrm>
        </p:spPr>
        <p:txBody>
          <a:bodyPr anchor="t">
            <a:normAutofit fontScale="85000" lnSpcReduction="10000"/>
          </a:bodyPr>
          <a:lstStyle/>
          <a:p>
            <a:pPr marL="0" indent="0">
              <a:buNone/>
            </a:pPr>
            <a:r>
              <a:rPr lang="en-US" altLang="en-US" sz="1700" b="1" dirty="0"/>
              <a:t>requests</a:t>
            </a:r>
            <a:r>
              <a:rPr lang="en-US" altLang="en-US" sz="1700" dirty="0"/>
              <a:t> module for fetching web content</a:t>
            </a:r>
          </a:p>
          <a:p>
            <a:pPr marL="0" indent="0">
              <a:buNone/>
            </a:pPr>
            <a:endParaRPr lang="en-US" altLang="en-US" sz="1700" b="1" dirty="0"/>
          </a:p>
          <a:p>
            <a:pPr marL="0" indent="0">
              <a:buNone/>
            </a:pPr>
            <a:r>
              <a:rPr lang="en-US" altLang="en-US" sz="1700" b="1" dirty="0"/>
              <a:t>get</a:t>
            </a:r>
            <a:r>
              <a:rPr lang="en-US" altLang="en-US" sz="1700" dirty="0"/>
              <a:t> method returns a </a:t>
            </a:r>
            <a:r>
              <a:rPr lang="en-US" altLang="en-US" sz="1700" i="1" dirty="0"/>
              <a:t>response object</a:t>
            </a:r>
            <a:r>
              <a:rPr lang="en-US" altLang="en-US" sz="1700" dirty="0"/>
              <a:t> </a:t>
            </a:r>
          </a:p>
          <a:p>
            <a:pPr marL="0" indent="0">
              <a:buNone/>
            </a:pPr>
            <a:endParaRPr lang="en-US" altLang="en-US" sz="1700" dirty="0"/>
          </a:p>
          <a:p>
            <a:pPr marL="0" indent="0">
              <a:buNone/>
            </a:pPr>
            <a:r>
              <a:rPr lang="en-US" altLang="en-US" sz="1700" b="1" dirty="0"/>
              <a:t>responses </a:t>
            </a:r>
            <a:r>
              <a:rPr lang="en-US" altLang="en-US" sz="1700" dirty="0"/>
              <a:t>can be written locally or parsed</a:t>
            </a:r>
          </a:p>
          <a:p>
            <a:pPr marL="0" indent="0">
              <a:buNone/>
            </a:pPr>
            <a:endParaRPr lang="en-US" altLang="en-US" sz="1700" dirty="0"/>
          </a:p>
          <a:p>
            <a:pPr marL="158750" indent="0">
              <a:buNone/>
            </a:pPr>
            <a:r>
              <a:rPr lang="en-US" sz="1800" dirty="0">
                <a:latin typeface="Consolas" panose="020B0609020204030204" pitchFamily="49" charset="0"/>
              </a:rPr>
              <a:t>import requests</a:t>
            </a:r>
          </a:p>
          <a:p>
            <a:pPr marL="158750" indent="0">
              <a:buNone/>
            </a:pPr>
            <a:endParaRPr lang="en-US" sz="1800" dirty="0">
              <a:latin typeface="Consolas" panose="020B0609020204030204" pitchFamily="49" charset="0"/>
            </a:endParaRPr>
          </a:p>
          <a:p>
            <a:pPr marL="158750" indent="0">
              <a:buNone/>
            </a:pPr>
            <a:r>
              <a:rPr lang="en-US" sz="1800" dirty="0" err="1">
                <a:latin typeface="Consolas" panose="020B0609020204030204" pitchFamily="49" charset="0"/>
              </a:rPr>
              <a:t>url</a:t>
            </a:r>
            <a:r>
              <a:rPr lang="en-US" sz="1800" dirty="0">
                <a:latin typeface="Consolas" panose="020B0609020204030204" pitchFamily="49" charset="0"/>
              </a:rPr>
              <a:t> = "www.google.com" </a:t>
            </a:r>
          </a:p>
          <a:p>
            <a:pPr marL="158750" indent="0">
              <a:buNone/>
            </a:pPr>
            <a:br>
              <a:rPr lang="en-US" sz="1800" dirty="0">
                <a:latin typeface="Consolas" panose="020B0609020204030204" pitchFamily="49" charset="0"/>
              </a:rPr>
            </a:br>
            <a:r>
              <a:rPr lang="en-US" sz="1800" dirty="0">
                <a:latin typeface="Consolas" panose="020B0609020204030204" pitchFamily="49" charset="0"/>
              </a:rPr>
              <a:t>response = </a:t>
            </a:r>
            <a:r>
              <a:rPr lang="en-US" sz="1800" dirty="0" err="1">
                <a:latin typeface="Consolas" panose="020B0609020204030204" pitchFamily="49" charset="0"/>
              </a:rPr>
              <a:t>requests.get</a:t>
            </a:r>
            <a:r>
              <a:rPr lang="en-US" sz="1800" dirty="0">
                <a:latin typeface="Consolas" panose="020B0609020204030204" pitchFamily="49" charset="0"/>
              </a:rPr>
              <a:t>(</a:t>
            </a:r>
            <a:r>
              <a:rPr lang="en-US" sz="1800" dirty="0" err="1">
                <a:latin typeface="Consolas" panose="020B0609020204030204" pitchFamily="49" charset="0"/>
              </a:rPr>
              <a:t>url</a:t>
            </a:r>
            <a:r>
              <a:rPr lang="en-US" sz="1800" dirty="0">
                <a:latin typeface="Consolas" panose="020B0609020204030204" pitchFamily="49" charset="0"/>
              </a:rPr>
              <a:t>)</a:t>
            </a:r>
          </a:p>
          <a:p>
            <a:pPr marL="0" indent="0">
              <a:buNone/>
            </a:pPr>
            <a:endParaRPr lang="en-US" altLang="en-US" sz="1700" dirty="0"/>
          </a:p>
        </p:txBody>
      </p:sp>
      <p:pic>
        <p:nvPicPr>
          <p:cNvPr id="36866" name="Picture 2" descr="What a Dog Wants: Understanding Your ...">
            <a:extLst>
              <a:ext uri="{FF2B5EF4-FFF2-40B4-BE49-F238E27FC236}">
                <a16:creationId xmlns:a16="http://schemas.microsoft.com/office/drawing/2014/main" id="{B2894E79-9452-6189-A893-445533531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145" r="6689"/>
          <a:stretch>
            <a:fillRect/>
          </a:stretch>
        </p:blipFill>
        <p:spPr bwMode="auto">
          <a:xfrm>
            <a:off x="4391167" y="877414"/>
            <a:ext cx="4090159" cy="4984683"/>
          </a:xfrm>
          <a:prstGeom prst="rect">
            <a:avLst/>
          </a:prstGeom>
          <a:noFill/>
          <a:extLst>
            <a:ext uri="{909E8E84-426E-40DD-AFC4-6F175D3DCCD1}">
              <a14:hiddenFill xmlns:a14="http://schemas.microsoft.com/office/drawing/2010/main">
                <a:solidFill>
                  <a:srgbClr val="FFFFFF"/>
                </a:solidFill>
              </a14:hiddenFill>
            </a:ext>
          </a:extLst>
        </p:spPr>
      </p:pic>
      <p:sp>
        <p:nvSpPr>
          <p:cNvPr id="5124" name="Slide Number Placeholder 3">
            <a:extLst>
              <a:ext uri="{FF2B5EF4-FFF2-40B4-BE49-F238E27FC236}">
                <a16:creationId xmlns:a16="http://schemas.microsoft.com/office/drawing/2014/main" id="{9DC59D40-6F6B-F889-74D8-9B7ED7983489}"/>
              </a:ext>
            </a:extLst>
          </p:cNvPr>
          <p:cNvSpPr>
            <a:spLocks noGrp="1"/>
          </p:cNvSpPr>
          <p:nvPr>
            <p:ph type="sldNum" sz="quarter" idx="12"/>
          </p:nvPr>
        </p:nvSpPr>
        <p:spPr>
          <a:xfrm>
            <a:off x="6457950" y="6356350"/>
            <a:ext cx="20574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spcAft>
                <a:spcPts val="600"/>
              </a:spcAft>
              <a:buFontTx/>
              <a:buNone/>
            </a:pPr>
            <a:fld id="{0EC2FA38-2799-461D-95A1-CB3CAB9488BD}" type="slidenum">
              <a:rPr lang="en-US" altLang="en-US" sz="1800"/>
              <a:pPr>
                <a:lnSpc>
                  <a:spcPct val="90000"/>
                </a:lnSpc>
                <a:spcBef>
                  <a:spcPct val="0"/>
                </a:spcBef>
                <a:spcAft>
                  <a:spcPts val="600"/>
                </a:spcAft>
                <a:buFontTx/>
                <a:buNone/>
              </a:pPr>
              <a:t>2</a:t>
            </a:fld>
            <a:endParaRPr lang="en-US" altLang="en-US" sz="1800"/>
          </a:p>
        </p:txBody>
      </p:sp>
      <p:grpSp>
        <p:nvGrpSpPr>
          <p:cNvPr id="36893" name="Group 36892">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36894" name="Rectangle 36893">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5" name="Rectangle 36894">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8189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AB035-322D-154B-E39A-0E379636158D}"/>
              </a:ext>
            </a:extLst>
          </p:cNvPr>
          <p:cNvSpPr>
            <a:spLocks noGrp="1"/>
          </p:cNvSpPr>
          <p:nvPr>
            <p:ph type="title"/>
          </p:nvPr>
        </p:nvSpPr>
        <p:spPr/>
        <p:txBody>
          <a:bodyPr/>
          <a:lstStyle/>
          <a:p>
            <a:r>
              <a:rPr lang="en-US" dirty="0"/>
              <a:t>Web hosted data example</a:t>
            </a:r>
          </a:p>
        </p:txBody>
      </p:sp>
      <p:pic>
        <p:nvPicPr>
          <p:cNvPr id="6" name="Content Placeholder 5">
            <a:extLst>
              <a:ext uri="{FF2B5EF4-FFF2-40B4-BE49-F238E27FC236}">
                <a16:creationId xmlns:a16="http://schemas.microsoft.com/office/drawing/2014/main" id="{3CB9B2C9-5D16-6B27-5B36-4BFF83960EEF}"/>
              </a:ext>
            </a:extLst>
          </p:cNvPr>
          <p:cNvPicPr>
            <a:picLocks noGrp="1" noChangeAspect="1"/>
          </p:cNvPicPr>
          <p:nvPr>
            <p:ph idx="1"/>
          </p:nvPr>
        </p:nvPicPr>
        <p:blipFill>
          <a:blip r:embed="rId3"/>
          <a:stretch>
            <a:fillRect/>
          </a:stretch>
        </p:blipFill>
        <p:spPr bwMode="auto">
          <a:xfrm>
            <a:off x="773280" y="914400"/>
            <a:ext cx="744504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5507949D-C309-9153-B66C-CE197EEDDC2C}"/>
              </a:ext>
            </a:extLst>
          </p:cNvPr>
          <p:cNvSpPr>
            <a:spLocks noGrp="1"/>
          </p:cNvSpPr>
          <p:nvPr>
            <p:ph type="sldNum" sz="quarter" idx="12"/>
          </p:nvPr>
        </p:nvSpPr>
        <p:spPr/>
        <p:txBody>
          <a:bodyPr/>
          <a:lstStyle/>
          <a:p>
            <a:fld id="{50037C83-E66B-4BE1-9C52-23A37E74D27E}" type="slidenum">
              <a:rPr lang="en-US" altLang="en-US" smtClean="0"/>
              <a:pPr/>
              <a:t>3</a:t>
            </a:fld>
            <a:endParaRPr lang="en-US" altLang="en-US"/>
          </a:p>
        </p:txBody>
      </p:sp>
      <p:sp>
        <p:nvSpPr>
          <p:cNvPr id="7" name="Rectangle 6">
            <a:extLst>
              <a:ext uri="{FF2B5EF4-FFF2-40B4-BE49-F238E27FC236}">
                <a16:creationId xmlns:a16="http://schemas.microsoft.com/office/drawing/2014/main" id="{03C27874-F4EE-3B89-A64B-55521F3B6873}"/>
              </a:ext>
            </a:extLst>
          </p:cNvPr>
          <p:cNvSpPr/>
          <p:nvPr/>
        </p:nvSpPr>
        <p:spPr>
          <a:xfrm>
            <a:off x="6096000" y="1295400"/>
            <a:ext cx="2286000" cy="53340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4011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DF76C-69C7-EDA8-D797-320CD1E26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D45B0-4D47-D484-C03E-AE7C476CFBBE}"/>
              </a:ext>
            </a:extLst>
          </p:cNvPr>
          <p:cNvSpPr>
            <a:spLocks noGrp="1"/>
          </p:cNvSpPr>
          <p:nvPr>
            <p:ph type="title"/>
          </p:nvPr>
        </p:nvSpPr>
        <p:spPr/>
        <p:txBody>
          <a:bodyPr/>
          <a:lstStyle/>
          <a:p>
            <a:r>
              <a:rPr lang="en-US" dirty="0"/>
              <a:t>Web hosted data example</a:t>
            </a:r>
          </a:p>
        </p:txBody>
      </p:sp>
      <p:sp>
        <p:nvSpPr>
          <p:cNvPr id="4" name="Slide Number Placeholder 3">
            <a:extLst>
              <a:ext uri="{FF2B5EF4-FFF2-40B4-BE49-F238E27FC236}">
                <a16:creationId xmlns:a16="http://schemas.microsoft.com/office/drawing/2014/main" id="{263C76C2-B48F-A258-0989-A0B8BA6CC766}"/>
              </a:ext>
            </a:extLst>
          </p:cNvPr>
          <p:cNvSpPr>
            <a:spLocks noGrp="1"/>
          </p:cNvSpPr>
          <p:nvPr>
            <p:ph type="sldNum" sz="quarter" idx="12"/>
          </p:nvPr>
        </p:nvSpPr>
        <p:spPr/>
        <p:txBody>
          <a:bodyPr/>
          <a:lstStyle/>
          <a:p>
            <a:fld id="{50037C83-E66B-4BE1-9C52-23A37E74D27E}" type="slidenum">
              <a:rPr lang="en-US" altLang="en-US" smtClean="0"/>
              <a:pPr/>
              <a:t>4</a:t>
            </a:fld>
            <a:endParaRPr lang="en-US" altLang="en-US"/>
          </a:p>
        </p:txBody>
      </p:sp>
      <p:sp>
        <p:nvSpPr>
          <p:cNvPr id="7" name="Rectangle 6">
            <a:extLst>
              <a:ext uri="{FF2B5EF4-FFF2-40B4-BE49-F238E27FC236}">
                <a16:creationId xmlns:a16="http://schemas.microsoft.com/office/drawing/2014/main" id="{20D3C281-512E-471E-6716-00C2D7348F63}"/>
              </a:ext>
            </a:extLst>
          </p:cNvPr>
          <p:cNvSpPr/>
          <p:nvPr/>
        </p:nvSpPr>
        <p:spPr>
          <a:xfrm>
            <a:off x="6096000" y="1295400"/>
            <a:ext cx="2286000" cy="53340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3DF7FA-1226-6228-6E55-BCB30905E200}"/>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D5A1D998-03AC-77AC-BD05-734E0E167008}"/>
              </a:ext>
            </a:extLst>
          </p:cNvPr>
          <p:cNvPicPr>
            <a:picLocks noChangeAspect="1"/>
          </p:cNvPicPr>
          <p:nvPr/>
        </p:nvPicPr>
        <p:blipFill>
          <a:blip r:embed="rId3"/>
          <a:stretch>
            <a:fillRect/>
          </a:stretch>
        </p:blipFill>
        <p:spPr>
          <a:xfrm>
            <a:off x="304800" y="990600"/>
            <a:ext cx="8153400" cy="5110645"/>
          </a:xfrm>
          <a:prstGeom prst="rect">
            <a:avLst/>
          </a:prstGeom>
        </p:spPr>
      </p:pic>
    </p:spTree>
    <p:extLst>
      <p:ext uri="{BB962C8B-B14F-4D97-AF65-F5344CB8AC3E}">
        <p14:creationId xmlns:p14="http://schemas.microsoft.com/office/powerpoint/2010/main" val="1518509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89C4-C641-3FAF-4953-4BC9165A32EA}"/>
              </a:ext>
            </a:extLst>
          </p:cNvPr>
          <p:cNvSpPr>
            <a:spLocks noGrp="1"/>
          </p:cNvSpPr>
          <p:nvPr>
            <p:ph type="title"/>
          </p:nvPr>
        </p:nvSpPr>
        <p:spPr>
          <a:xfrm>
            <a:off x="825500" y="228600"/>
            <a:ext cx="8001000" cy="457200"/>
          </a:xfrm>
        </p:spPr>
        <p:txBody>
          <a:bodyPr/>
          <a:lstStyle/>
          <a:p>
            <a:r>
              <a:rPr lang="en-US" dirty="0"/>
              <a:t>Fetching and writing a data file</a:t>
            </a:r>
          </a:p>
        </p:txBody>
      </p:sp>
      <p:sp>
        <p:nvSpPr>
          <p:cNvPr id="3" name="Text Placeholder 2">
            <a:extLst>
              <a:ext uri="{FF2B5EF4-FFF2-40B4-BE49-F238E27FC236}">
                <a16:creationId xmlns:a16="http://schemas.microsoft.com/office/drawing/2014/main" id="{93F7326A-9FD9-7A8C-06B5-410E9278F989}"/>
              </a:ext>
            </a:extLst>
          </p:cNvPr>
          <p:cNvSpPr>
            <a:spLocks noGrp="1"/>
          </p:cNvSpPr>
          <p:nvPr>
            <p:ph type="body" idx="1"/>
          </p:nvPr>
        </p:nvSpPr>
        <p:spPr>
          <a:xfrm>
            <a:off x="152400" y="1143000"/>
            <a:ext cx="8686800" cy="4191000"/>
          </a:xfrm>
        </p:spPr>
        <p:txBody>
          <a:bodyPr>
            <a:normAutofit/>
          </a:bodyPr>
          <a:lstStyle/>
          <a:p>
            <a:pPr marL="158750" indent="0">
              <a:buNone/>
            </a:pPr>
            <a:r>
              <a:rPr lang="en-US" sz="1400" dirty="0"/>
              <a:t>import requests, </a:t>
            </a:r>
            <a:r>
              <a:rPr lang="en-US" sz="1400" dirty="0" err="1"/>
              <a:t>os</a:t>
            </a:r>
            <a:endParaRPr lang="en-US" sz="1400" dirty="0"/>
          </a:p>
          <a:p>
            <a:pPr marL="158750" indent="0">
              <a:buNone/>
            </a:pPr>
            <a:endParaRPr lang="en-US" sz="1400" dirty="0"/>
          </a:p>
          <a:p>
            <a:pPr marL="158750" indent="0">
              <a:spcBef>
                <a:spcPct val="0"/>
              </a:spcBef>
              <a:buNone/>
            </a:pPr>
            <a:r>
              <a:rPr lang="en-US" sz="1200" i="1" kern="1200" dirty="0">
                <a:solidFill>
                  <a:schemeClr val="accent6">
                    <a:lumMod val="75000"/>
                  </a:schemeClr>
                </a:solidFill>
                <a:latin typeface="Arial" panose="020B0604020202020204" pitchFamily="34" charset="0"/>
              </a:rPr>
              <a:t># Hard-coded URL for the 2026 CSV</a:t>
            </a:r>
          </a:p>
          <a:p>
            <a:pPr marL="158750" indent="0">
              <a:buNone/>
            </a:pPr>
            <a:r>
              <a:rPr lang="en-US" sz="1400" dirty="0" err="1"/>
              <a:t>csv_url</a:t>
            </a:r>
            <a:r>
              <a:rPr lang="en-US" sz="1400" dirty="0"/>
              <a:t> = "https://fawn.ifas.ufl.edu/data/</a:t>
            </a:r>
            <a:r>
              <a:rPr lang="en-US" sz="1400" dirty="0" err="1"/>
              <a:t>fawnpub</a:t>
            </a:r>
            <a:r>
              <a:rPr lang="en-US" sz="1400" dirty="0"/>
              <a:t>/</a:t>
            </a:r>
            <a:r>
              <a:rPr lang="en-US" sz="1400" dirty="0" err="1"/>
              <a:t>daily_summaries</a:t>
            </a:r>
            <a:r>
              <a:rPr lang="en-US" sz="1400" dirty="0"/>
              <a:t>/BY_YEAR/2026_daily.csv"</a:t>
            </a:r>
          </a:p>
          <a:p>
            <a:pPr marL="158750" indent="0">
              <a:buNone/>
            </a:pPr>
            <a:r>
              <a:rPr lang="en-US" sz="1400" dirty="0" err="1"/>
              <a:t>outputDir</a:t>
            </a:r>
            <a:r>
              <a:rPr lang="en-US" sz="1400" dirty="0"/>
              <a:t> = "C:/gispy/scratch/ "</a:t>
            </a:r>
          </a:p>
          <a:p>
            <a:pPr marL="158750" indent="0">
              <a:buNone/>
            </a:pPr>
            <a:endParaRPr lang="en-US" sz="1400" dirty="0"/>
          </a:p>
          <a:p>
            <a:pPr marL="158750" indent="0">
              <a:spcBef>
                <a:spcPct val="0"/>
              </a:spcBef>
              <a:buNone/>
            </a:pPr>
            <a:r>
              <a:rPr lang="en-US" sz="1200" i="1" kern="1200" dirty="0">
                <a:solidFill>
                  <a:schemeClr val="accent6">
                    <a:lumMod val="75000"/>
                  </a:schemeClr>
                </a:solidFill>
                <a:latin typeface="Arial" panose="020B0604020202020204" pitchFamily="34" charset="0"/>
              </a:rPr>
              <a:t># Fetch the dataset</a:t>
            </a:r>
          </a:p>
          <a:p>
            <a:pPr marL="158750" indent="0">
              <a:buNone/>
            </a:pPr>
            <a:r>
              <a:rPr lang="en-US" sz="1400" dirty="0"/>
              <a:t>response = </a:t>
            </a:r>
            <a:r>
              <a:rPr lang="en-US" sz="1400" dirty="0" err="1"/>
              <a:t>requests.get</a:t>
            </a:r>
            <a:r>
              <a:rPr lang="en-US" sz="1400" dirty="0"/>
              <a:t>(</a:t>
            </a:r>
            <a:r>
              <a:rPr lang="en-US" sz="1400" dirty="0" err="1"/>
              <a:t>csv_url</a:t>
            </a:r>
            <a:r>
              <a:rPr lang="en-US" sz="1400" dirty="0"/>
              <a:t>)</a:t>
            </a:r>
          </a:p>
          <a:p>
            <a:pPr marL="158750" indent="0">
              <a:buNone/>
            </a:pPr>
            <a:r>
              <a:rPr lang="en-US" sz="1400" dirty="0" err="1"/>
              <a:t>outputName</a:t>
            </a:r>
            <a:r>
              <a:rPr lang="en-US" sz="1400" dirty="0"/>
              <a:t> = </a:t>
            </a:r>
            <a:r>
              <a:rPr lang="en-US" sz="1400" dirty="0" err="1"/>
              <a:t>os.path.join</a:t>
            </a:r>
            <a:r>
              <a:rPr lang="en-US" sz="1400" dirty="0"/>
              <a:t>(</a:t>
            </a:r>
            <a:r>
              <a:rPr lang="en-US" sz="1400" dirty="0" err="1"/>
              <a:t>outputDir</a:t>
            </a:r>
            <a:r>
              <a:rPr lang="en-US" sz="1400" dirty="0"/>
              <a:t>, </a:t>
            </a:r>
            <a:r>
              <a:rPr lang="en-US" sz="1400" dirty="0" err="1"/>
              <a:t>os.path.basename</a:t>
            </a:r>
            <a:r>
              <a:rPr lang="en-US" sz="1400" dirty="0"/>
              <a:t>(</a:t>
            </a:r>
            <a:r>
              <a:rPr lang="en-US" sz="1400" dirty="0" err="1"/>
              <a:t>csv_url</a:t>
            </a:r>
            <a:r>
              <a:rPr lang="en-US" sz="1400" dirty="0"/>
              <a:t>))</a:t>
            </a:r>
          </a:p>
          <a:p>
            <a:pPr marL="158750" indent="0">
              <a:buNone/>
            </a:pPr>
            <a:endParaRPr lang="en-US" sz="1400" dirty="0"/>
          </a:p>
          <a:p>
            <a:pPr marL="158750" indent="0">
              <a:buNone/>
            </a:pPr>
            <a:r>
              <a:rPr lang="en-US" sz="1200" i="1" kern="1200" dirty="0">
                <a:solidFill>
                  <a:schemeClr val="accent6">
                    <a:lumMod val="75000"/>
                  </a:schemeClr>
                </a:solidFill>
                <a:latin typeface="Arial" panose="020B0604020202020204" pitchFamily="34" charset="0"/>
              </a:rPr>
              <a:t># Write the dataset locally</a:t>
            </a:r>
            <a:endParaRPr lang="en-US" sz="1200" dirty="0"/>
          </a:p>
          <a:p>
            <a:pPr marL="158750" indent="0">
              <a:buNone/>
            </a:pPr>
            <a:r>
              <a:rPr lang="en-US" sz="1400" dirty="0"/>
              <a:t>with open(</a:t>
            </a:r>
            <a:r>
              <a:rPr lang="en-US" sz="1400" dirty="0" err="1"/>
              <a:t>outputName</a:t>
            </a:r>
            <a:r>
              <a:rPr lang="en-US" sz="1400" dirty="0"/>
              <a:t>, "</a:t>
            </a:r>
            <a:r>
              <a:rPr lang="en-US" sz="1400" dirty="0" err="1"/>
              <a:t>wb</a:t>
            </a:r>
            <a:r>
              <a:rPr lang="en-US" sz="1400" dirty="0"/>
              <a:t>") as f:</a:t>
            </a:r>
          </a:p>
          <a:p>
            <a:pPr marL="158750" indent="0">
              <a:buNone/>
            </a:pPr>
            <a:r>
              <a:rPr lang="en-US" sz="1400" dirty="0"/>
              <a:t>    </a:t>
            </a:r>
            <a:r>
              <a:rPr lang="en-US" sz="1400" dirty="0" err="1"/>
              <a:t>f.write</a:t>
            </a:r>
            <a:r>
              <a:rPr lang="en-US" sz="1400" dirty="0"/>
              <a:t>(</a:t>
            </a:r>
            <a:r>
              <a:rPr lang="en-US" sz="1400" dirty="0" err="1"/>
              <a:t>response.content</a:t>
            </a:r>
            <a:r>
              <a:rPr lang="en-US" sz="1400" dirty="0"/>
              <a:t>)</a:t>
            </a:r>
          </a:p>
          <a:p>
            <a:pPr marL="158750" indent="0">
              <a:buNone/>
            </a:pPr>
            <a:endParaRPr lang="en-US" sz="1600" dirty="0"/>
          </a:p>
          <a:p>
            <a:pPr marL="158750" indent="0">
              <a:buNone/>
            </a:pPr>
            <a:r>
              <a:rPr lang="en-US" sz="1400" dirty="0"/>
              <a:t>print(f"{</a:t>
            </a:r>
            <a:r>
              <a:rPr lang="en-US" sz="1400" dirty="0" err="1"/>
              <a:t>os.path.basename</a:t>
            </a:r>
            <a:r>
              <a:rPr lang="en-US" sz="1400" dirty="0"/>
              <a:t>(</a:t>
            </a:r>
            <a:r>
              <a:rPr lang="en-US" sz="1400" dirty="0" err="1"/>
              <a:t>csv_url</a:t>
            </a:r>
            <a:r>
              <a:rPr lang="en-US" sz="1400" dirty="0"/>
              <a:t>)} downloaded to {</a:t>
            </a:r>
            <a:r>
              <a:rPr lang="en-US" sz="1400" dirty="0" err="1"/>
              <a:t>outputDir</a:t>
            </a:r>
            <a:r>
              <a:rPr lang="en-US" sz="1400" dirty="0"/>
              <a:t>}.")</a:t>
            </a:r>
            <a:endParaRPr lang="en-US" dirty="0"/>
          </a:p>
        </p:txBody>
      </p:sp>
      <p:pic>
        <p:nvPicPr>
          <p:cNvPr id="4" name="Picture 3">
            <a:extLst>
              <a:ext uri="{FF2B5EF4-FFF2-40B4-BE49-F238E27FC236}">
                <a16:creationId xmlns:a16="http://schemas.microsoft.com/office/drawing/2014/main" id="{1B897B7E-1DAB-3152-A565-6822EA3839E4}"/>
              </a:ext>
            </a:extLst>
          </p:cNvPr>
          <p:cNvPicPr>
            <a:picLocks noChangeAspect="1"/>
          </p:cNvPicPr>
          <p:nvPr/>
        </p:nvPicPr>
        <p:blipFill>
          <a:blip r:embed="rId3"/>
          <a:stretch>
            <a:fillRect/>
          </a:stretch>
        </p:blipFill>
        <p:spPr>
          <a:xfrm>
            <a:off x="6172200" y="2929638"/>
            <a:ext cx="2508259" cy="232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055C4FBE-F342-4B28-AC96-8F4635AA1A08}"/>
              </a:ext>
            </a:extLst>
          </p:cNvPr>
          <p:cNvSpPr txBox="1"/>
          <p:nvPr/>
        </p:nvSpPr>
        <p:spPr>
          <a:xfrm>
            <a:off x="5962900" y="2504188"/>
            <a:ext cx="2876300"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FAWN data hosting webpage</a:t>
            </a:r>
          </a:p>
        </p:txBody>
      </p:sp>
    </p:spTree>
    <p:extLst>
      <p:ext uri="{BB962C8B-B14F-4D97-AF65-F5344CB8AC3E}">
        <p14:creationId xmlns:p14="http://schemas.microsoft.com/office/powerpoint/2010/main" val="2421359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3AA0E730-2E75-E4FD-421A-EB853CA946E6}"/>
              </a:ext>
            </a:extLst>
          </p:cNvPr>
          <p:cNvSpPr>
            <a:spLocks noGrp="1"/>
          </p:cNvSpPr>
          <p:nvPr>
            <p:ph type="title"/>
          </p:nvPr>
        </p:nvSpPr>
        <p:spPr/>
        <p:txBody>
          <a:bodyPr/>
          <a:lstStyle/>
          <a:p>
            <a:r>
              <a:rPr lang="en-US" altLang="en-US" dirty="0"/>
              <a:t>Fetching HTML</a:t>
            </a:r>
          </a:p>
        </p:txBody>
      </p:sp>
      <p:sp>
        <p:nvSpPr>
          <p:cNvPr id="5123" name="Content Placeholder 2">
            <a:extLst>
              <a:ext uri="{FF2B5EF4-FFF2-40B4-BE49-F238E27FC236}">
                <a16:creationId xmlns:a16="http://schemas.microsoft.com/office/drawing/2014/main" id="{1357FE2D-F018-1BEB-636E-062478085201}"/>
              </a:ext>
            </a:extLst>
          </p:cNvPr>
          <p:cNvSpPr>
            <a:spLocks noGrp="1"/>
          </p:cNvSpPr>
          <p:nvPr>
            <p:ph idx="1"/>
          </p:nvPr>
        </p:nvSpPr>
        <p:spPr>
          <a:xfrm>
            <a:off x="152400" y="914400"/>
            <a:ext cx="8515350" cy="5410200"/>
          </a:xfrm>
        </p:spPr>
        <p:txBody>
          <a:bodyPr/>
          <a:lstStyle/>
          <a:p>
            <a:r>
              <a:rPr lang="en-US" altLang="en-US" sz="2800" dirty="0"/>
              <a:t>requests</a:t>
            </a:r>
          </a:p>
          <a:p>
            <a:pPr lvl="1"/>
            <a:r>
              <a:rPr lang="en-US" altLang="en-US" sz="2400" dirty="0"/>
              <a:t>Module for fetching web page content</a:t>
            </a:r>
          </a:p>
          <a:p>
            <a:pPr lvl="1"/>
            <a:r>
              <a:rPr lang="en-US" altLang="en-US" sz="2400" b="1" dirty="0"/>
              <a:t>get</a:t>
            </a:r>
            <a:r>
              <a:rPr lang="en-US" altLang="en-US" sz="2400" dirty="0"/>
              <a:t> method returns a response object </a:t>
            </a:r>
          </a:p>
          <a:p>
            <a:pPr lvl="1"/>
            <a:r>
              <a:rPr lang="en-US" altLang="en-US" sz="2400" dirty="0"/>
              <a:t>with a </a:t>
            </a:r>
            <a:r>
              <a:rPr lang="en-US" altLang="en-US" sz="2400" b="1" dirty="0"/>
              <a:t>text</a:t>
            </a:r>
            <a:r>
              <a:rPr lang="en-US" altLang="en-US" sz="2400" dirty="0"/>
              <a:t> property</a:t>
            </a:r>
            <a:endParaRPr lang="en-US" altLang="en-US" dirty="0"/>
          </a:p>
        </p:txBody>
      </p:sp>
      <p:sp>
        <p:nvSpPr>
          <p:cNvPr id="5124" name="Slide Number Placeholder 3">
            <a:extLst>
              <a:ext uri="{FF2B5EF4-FFF2-40B4-BE49-F238E27FC236}">
                <a16:creationId xmlns:a16="http://schemas.microsoft.com/office/drawing/2014/main" id="{A505DD8E-97F1-8533-53D3-828D2D72B7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EC2FA38-2799-461D-95A1-CB3CAB9488BD}" type="slidenum">
              <a:rPr lang="en-US" altLang="en-US" sz="1400">
                <a:solidFill>
                  <a:srgbClr val="008000"/>
                </a:solidFill>
              </a:rPr>
              <a:pPr>
                <a:spcBef>
                  <a:spcPct val="0"/>
                </a:spcBef>
                <a:buFontTx/>
                <a:buNone/>
              </a:pPr>
              <a:t>6</a:t>
            </a:fld>
            <a:endParaRPr lang="en-US" altLang="en-US" sz="1400">
              <a:solidFill>
                <a:srgbClr val="008000"/>
              </a:solidFill>
            </a:endParaRPr>
          </a:p>
        </p:txBody>
      </p:sp>
      <p:pic>
        <p:nvPicPr>
          <p:cNvPr id="5127" name="Picture 8" descr="Image result for fetch">
            <a:extLst>
              <a:ext uri="{FF2B5EF4-FFF2-40B4-BE49-F238E27FC236}">
                <a16:creationId xmlns:a16="http://schemas.microsoft.com/office/drawing/2014/main" id="{61368D3A-8615-14CC-B37C-46D52DE160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46063"/>
            <a:ext cx="2868613"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0072F20-F829-731D-D357-BFA91888BC8D}"/>
              </a:ext>
            </a:extLst>
          </p:cNvPr>
          <p:cNvPicPr>
            <a:picLocks noChangeAspect="1"/>
          </p:cNvPicPr>
          <p:nvPr/>
        </p:nvPicPr>
        <p:blipFill>
          <a:blip r:embed="rId4"/>
          <a:srcRect l="1728"/>
          <a:stretch>
            <a:fillRect/>
          </a:stretch>
        </p:blipFill>
        <p:spPr>
          <a:xfrm>
            <a:off x="0" y="3061723"/>
            <a:ext cx="8368206" cy="1993560"/>
          </a:xfrm>
          <a:prstGeom prst="rect">
            <a:avLst/>
          </a:prstGeom>
        </p:spPr>
      </p:pic>
      <p:pic>
        <p:nvPicPr>
          <p:cNvPr id="5126" name="Picture 7">
            <a:extLst>
              <a:ext uri="{FF2B5EF4-FFF2-40B4-BE49-F238E27FC236}">
                <a16:creationId xmlns:a16="http://schemas.microsoft.com/office/drawing/2014/main" id="{83A717CD-DB06-8752-C00F-3DE3A83F36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7891" y="4845273"/>
            <a:ext cx="35718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FDDD2CB0-11A9-6B61-B909-47BBA41A1645}"/>
              </a:ext>
            </a:extLst>
          </p:cNvPr>
          <p:cNvSpPr txBox="1"/>
          <p:nvPr/>
        </p:nvSpPr>
        <p:spPr>
          <a:xfrm>
            <a:off x="7597486" y="4519097"/>
            <a:ext cx="1546514"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Python output</a:t>
            </a:r>
          </a:p>
        </p:txBody>
      </p:sp>
      <p:sp>
        <p:nvSpPr>
          <p:cNvPr id="5" name="TextBox 4">
            <a:extLst>
              <a:ext uri="{FF2B5EF4-FFF2-40B4-BE49-F238E27FC236}">
                <a16:creationId xmlns:a16="http://schemas.microsoft.com/office/drawing/2014/main" id="{C7D55C57-8FB8-30E9-4B5E-FA7FB881AE6D}"/>
              </a:ext>
            </a:extLst>
          </p:cNvPr>
          <p:cNvSpPr txBox="1"/>
          <p:nvPr/>
        </p:nvSpPr>
        <p:spPr>
          <a:xfrm>
            <a:off x="2514599" y="5366776"/>
            <a:ext cx="2581275" cy="646331"/>
          </a:xfrm>
          <a:prstGeom prst="rect">
            <a:avLst/>
          </a:prstGeom>
          <a:noFill/>
        </p:spPr>
        <p:txBody>
          <a:bodyPr wrap="square" rtlCol="0">
            <a:spAutoFit/>
          </a:bodyPr>
          <a:lstStyle/>
          <a:p>
            <a:r>
              <a:rPr lang="en-US" dirty="0"/>
              <a:t>Split the text contents based on \n</a:t>
            </a:r>
          </a:p>
        </p:txBody>
      </p:sp>
      <p:cxnSp>
        <p:nvCxnSpPr>
          <p:cNvPr id="7" name="Connector: Curved 6">
            <a:extLst>
              <a:ext uri="{FF2B5EF4-FFF2-40B4-BE49-F238E27FC236}">
                <a16:creationId xmlns:a16="http://schemas.microsoft.com/office/drawing/2014/main" id="{C29DF5C2-23E2-578E-76D0-0B4EF270E0A2}"/>
              </a:ext>
            </a:extLst>
          </p:cNvPr>
          <p:cNvCxnSpPr>
            <a:cxnSpLocks/>
            <a:stCxn id="5" idx="0"/>
          </p:cNvCxnSpPr>
          <p:nvPr/>
        </p:nvCxnSpPr>
        <p:spPr>
          <a:xfrm rot="5400000" flipH="1" flipV="1">
            <a:off x="3591333" y="4850206"/>
            <a:ext cx="730474" cy="302666"/>
          </a:xfrm>
          <a:prstGeom prst="curvedConnector3">
            <a:avLst>
              <a:gd name="adj1" fmla="val 50000"/>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5C65-DB1B-EAE9-C5F0-71E0321BCEA2}"/>
              </a:ext>
            </a:extLst>
          </p:cNvPr>
          <p:cNvSpPr>
            <a:spLocks noGrp="1"/>
          </p:cNvSpPr>
          <p:nvPr>
            <p:ph type="title"/>
          </p:nvPr>
        </p:nvSpPr>
        <p:spPr>
          <a:xfrm>
            <a:off x="564112" y="380746"/>
            <a:ext cx="8015775" cy="994200"/>
          </a:xfrm>
        </p:spPr>
        <p:txBody>
          <a:bodyPr>
            <a:normAutofit fontScale="90000"/>
          </a:bodyPr>
          <a:lstStyle/>
          <a:p>
            <a:r>
              <a:rPr lang="en-US" sz="3600" dirty="0"/>
              <a:t>Application: Fetch HTML with data links</a:t>
            </a:r>
            <a:endParaRPr lang="en-US" dirty="0"/>
          </a:p>
        </p:txBody>
      </p:sp>
      <p:sp>
        <p:nvSpPr>
          <p:cNvPr id="7" name="TextBox 6">
            <a:extLst>
              <a:ext uri="{FF2B5EF4-FFF2-40B4-BE49-F238E27FC236}">
                <a16:creationId xmlns:a16="http://schemas.microsoft.com/office/drawing/2014/main" id="{0AAF3AC1-6093-C0E7-D9A8-77F92592AC34}"/>
              </a:ext>
            </a:extLst>
          </p:cNvPr>
          <p:cNvSpPr txBox="1"/>
          <p:nvPr/>
        </p:nvSpPr>
        <p:spPr>
          <a:xfrm>
            <a:off x="376911" y="2125295"/>
            <a:ext cx="4888772" cy="2277547"/>
          </a:xfrm>
          <a:prstGeom prst="rect">
            <a:avLst/>
          </a:prstGeom>
          <a:noFill/>
        </p:spPr>
        <p:txBody>
          <a:bodyPr wrap="square">
            <a:spAutoFit/>
          </a:bodyPr>
          <a:lstStyle/>
          <a:p>
            <a:r>
              <a:rPr lang="en-US" sz="1100" i="1" dirty="0">
                <a:solidFill>
                  <a:schemeClr val="accent6">
                    <a:lumMod val="75000"/>
                  </a:schemeClr>
                </a:solidFill>
              </a:rPr>
              <a:t># listWeatherData.py</a:t>
            </a:r>
          </a:p>
          <a:p>
            <a:r>
              <a:rPr lang="en-US" sz="1100" i="1" dirty="0">
                <a:solidFill>
                  <a:schemeClr val="accent6">
                    <a:lumMod val="75000"/>
                  </a:schemeClr>
                </a:solidFill>
              </a:rPr>
              <a:t># Purpose: Read and print the links in an HTML data page.</a:t>
            </a:r>
          </a:p>
          <a:p>
            <a:r>
              <a:rPr lang="en-US" sz="1100" dirty="0"/>
              <a:t>import bs4</a:t>
            </a:r>
          </a:p>
          <a:p>
            <a:r>
              <a:rPr lang="en-US" sz="1100" dirty="0"/>
              <a:t>import requests</a:t>
            </a:r>
          </a:p>
          <a:p>
            <a:r>
              <a:rPr lang="en-US" sz="1100" dirty="0"/>
              <a:t>import sys</a:t>
            </a:r>
          </a:p>
          <a:p>
            <a:endParaRPr lang="en-US" sz="1100" dirty="0"/>
          </a:p>
          <a:p>
            <a:r>
              <a:rPr lang="en-US" sz="1100" i="1" dirty="0">
                <a:solidFill>
                  <a:schemeClr val="accent6">
                    <a:lumMod val="75000"/>
                  </a:schemeClr>
                </a:solidFill>
              </a:rPr>
              <a:t># Fetch the HTML file contents.</a:t>
            </a:r>
          </a:p>
          <a:p>
            <a:r>
              <a:rPr lang="en-US" sz="1100" dirty="0" err="1"/>
              <a:t>url</a:t>
            </a:r>
            <a:r>
              <a:rPr lang="en-US" sz="1100" dirty="0"/>
              <a:t> = "https://fawn.ifas.ufl.edu/data/</a:t>
            </a:r>
            <a:r>
              <a:rPr lang="en-US" sz="1100" dirty="0" err="1"/>
              <a:t>fawnpub</a:t>
            </a:r>
            <a:r>
              <a:rPr lang="en-US" sz="1100" dirty="0"/>
              <a:t>/</a:t>
            </a:r>
            <a:r>
              <a:rPr lang="en-US" sz="1100" dirty="0" err="1"/>
              <a:t>daily_summaries</a:t>
            </a:r>
            <a:r>
              <a:rPr lang="en-US" sz="1100" dirty="0"/>
              <a:t>/BY_YEAR/"</a:t>
            </a:r>
          </a:p>
          <a:p>
            <a:r>
              <a:rPr lang="en-US" sz="1100" dirty="0"/>
              <a:t>response = </a:t>
            </a:r>
            <a:r>
              <a:rPr lang="en-US" sz="1100" dirty="0" err="1"/>
              <a:t>requests.get</a:t>
            </a:r>
            <a:r>
              <a:rPr lang="en-US" sz="1100" dirty="0"/>
              <a:t>(</a:t>
            </a:r>
            <a:r>
              <a:rPr lang="en-US" sz="1100" dirty="0" err="1"/>
              <a:t>url</a:t>
            </a:r>
            <a:r>
              <a:rPr lang="en-US" sz="1100" dirty="0"/>
              <a:t>)</a:t>
            </a:r>
          </a:p>
          <a:p>
            <a:r>
              <a:rPr lang="en-US" sz="1100" dirty="0"/>
              <a:t>contents = </a:t>
            </a:r>
            <a:r>
              <a:rPr lang="en-US" sz="1100" dirty="0" err="1"/>
              <a:t>response.text</a:t>
            </a:r>
            <a:endParaRPr lang="en-US" sz="1100" dirty="0"/>
          </a:p>
          <a:p>
            <a:r>
              <a:rPr lang="en-US" sz="1100" dirty="0" err="1"/>
              <a:t>response.close</a:t>
            </a:r>
            <a:r>
              <a:rPr lang="en-US" sz="1100" dirty="0"/>
              <a:t>()</a:t>
            </a:r>
          </a:p>
          <a:p>
            <a:endParaRPr lang="en-US" sz="1100" dirty="0"/>
          </a:p>
          <a:p>
            <a:r>
              <a:rPr lang="en-US" sz="1000" dirty="0"/>
              <a:t>print(contents)  </a:t>
            </a:r>
          </a:p>
        </p:txBody>
      </p:sp>
      <p:pic>
        <p:nvPicPr>
          <p:cNvPr id="15" name="Picture 14">
            <a:extLst>
              <a:ext uri="{FF2B5EF4-FFF2-40B4-BE49-F238E27FC236}">
                <a16:creationId xmlns:a16="http://schemas.microsoft.com/office/drawing/2014/main" id="{D764AF9A-F4CC-029C-7611-8C49372041CA}"/>
              </a:ext>
            </a:extLst>
          </p:cNvPr>
          <p:cNvPicPr>
            <a:picLocks noChangeAspect="1"/>
          </p:cNvPicPr>
          <p:nvPr/>
        </p:nvPicPr>
        <p:blipFill>
          <a:blip r:embed="rId3"/>
          <a:stretch>
            <a:fillRect/>
          </a:stretch>
        </p:blipFill>
        <p:spPr>
          <a:xfrm>
            <a:off x="5430591" y="2278782"/>
            <a:ext cx="2508259" cy="232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68A2969E-66DC-2484-56B3-7BCF64041076}"/>
              </a:ext>
            </a:extLst>
          </p:cNvPr>
          <p:cNvPicPr>
            <a:picLocks noChangeAspect="1"/>
          </p:cNvPicPr>
          <p:nvPr/>
        </p:nvPicPr>
        <p:blipFill rotWithShape="1">
          <a:blip r:embed="rId4"/>
          <a:srcRect t="1716" b="1702"/>
          <a:stretch/>
        </p:blipFill>
        <p:spPr>
          <a:xfrm>
            <a:off x="7213726" y="3212983"/>
            <a:ext cx="1523180" cy="22419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A0A726B1-7B37-48F3-42B6-BDDDAD8D7CE6}"/>
              </a:ext>
            </a:extLst>
          </p:cNvPr>
          <p:cNvSpPr txBox="1"/>
          <p:nvPr/>
        </p:nvSpPr>
        <p:spPr>
          <a:xfrm>
            <a:off x="5353300" y="1905000"/>
            <a:ext cx="2876300"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FAWN data hosting webpage</a:t>
            </a:r>
          </a:p>
        </p:txBody>
      </p:sp>
      <p:sp>
        <p:nvSpPr>
          <p:cNvPr id="17" name="TextBox 16">
            <a:extLst>
              <a:ext uri="{FF2B5EF4-FFF2-40B4-BE49-F238E27FC236}">
                <a16:creationId xmlns:a16="http://schemas.microsoft.com/office/drawing/2014/main" id="{CE400CAF-7D0A-DD5A-3923-10451C8022AA}"/>
              </a:ext>
            </a:extLst>
          </p:cNvPr>
          <p:cNvSpPr txBox="1"/>
          <p:nvPr/>
        </p:nvSpPr>
        <p:spPr>
          <a:xfrm>
            <a:off x="7673840" y="2866606"/>
            <a:ext cx="1546514"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Python output</a:t>
            </a:r>
          </a:p>
        </p:txBody>
      </p:sp>
    </p:spTree>
    <p:extLst>
      <p:ext uri="{BB962C8B-B14F-4D97-AF65-F5344CB8AC3E}">
        <p14:creationId xmlns:p14="http://schemas.microsoft.com/office/powerpoint/2010/main" val="255826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A78FB-5E6F-A9F5-D548-A1DCCC3B4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A9150-785E-6CB1-BB7A-55A6D01B7170}"/>
              </a:ext>
            </a:extLst>
          </p:cNvPr>
          <p:cNvSpPr>
            <a:spLocks noGrp="1"/>
          </p:cNvSpPr>
          <p:nvPr>
            <p:ph type="title"/>
          </p:nvPr>
        </p:nvSpPr>
        <p:spPr>
          <a:xfrm>
            <a:off x="431322" y="213607"/>
            <a:ext cx="8015775" cy="994200"/>
          </a:xfrm>
        </p:spPr>
        <p:txBody>
          <a:bodyPr>
            <a:normAutofit/>
          </a:bodyPr>
          <a:lstStyle/>
          <a:p>
            <a:r>
              <a:rPr lang="en-US" altLang="en-US" sz="3600" dirty="0"/>
              <a:t>Parse html with </a:t>
            </a:r>
            <a:r>
              <a:rPr lang="en-US" altLang="en-US" sz="3600" dirty="0" err="1"/>
              <a:t>BeautifulSoup</a:t>
            </a:r>
            <a:r>
              <a:rPr lang="en-US" altLang="en-US" sz="3600" dirty="0"/>
              <a:t> (bs4)</a:t>
            </a:r>
            <a:endParaRPr lang="en-US" dirty="0"/>
          </a:p>
        </p:txBody>
      </p:sp>
      <p:sp>
        <p:nvSpPr>
          <p:cNvPr id="7" name="TextBox 6">
            <a:extLst>
              <a:ext uri="{FF2B5EF4-FFF2-40B4-BE49-F238E27FC236}">
                <a16:creationId xmlns:a16="http://schemas.microsoft.com/office/drawing/2014/main" id="{F4617105-F9B0-FEFD-7565-187DF84F0287}"/>
              </a:ext>
            </a:extLst>
          </p:cNvPr>
          <p:cNvSpPr txBox="1"/>
          <p:nvPr/>
        </p:nvSpPr>
        <p:spPr>
          <a:xfrm>
            <a:off x="431322" y="1371600"/>
            <a:ext cx="4888772" cy="3801041"/>
          </a:xfrm>
          <a:prstGeom prst="rect">
            <a:avLst/>
          </a:prstGeom>
          <a:noFill/>
        </p:spPr>
        <p:txBody>
          <a:bodyPr wrap="square">
            <a:spAutoFit/>
          </a:bodyPr>
          <a:lstStyle/>
          <a:p>
            <a:r>
              <a:rPr lang="en-US" sz="1100" i="1" dirty="0">
                <a:solidFill>
                  <a:schemeClr val="accent6">
                    <a:lumMod val="75000"/>
                  </a:schemeClr>
                </a:solidFill>
              </a:rPr>
              <a:t># listWeatherData.py</a:t>
            </a:r>
          </a:p>
          <a:p>
            <a:r>
              <a:rPr lang="en-US" sz="1100" i="1" dirty="0">
                <a:solidFill>
                  <a:schemeClr val="accent6">
                    <a:lumMod val="75000"/>
                  </a:schemeClr>
                </a:solidFill>
              </a:rPr>
              <a:t># Purpose: Read and print the links in an HTML data page.</a:t>
            </a:r>
          </a:p>
          <a:p>
            <a:r>
              <a:rPr lang="en-US" sz="1100" dirty="0"/>
              <a:t>import bs4</a:t>
            </a:r>
          </a:p>
          <a:p>
            <a:r>
              <a:rPr lang="en-US" sz="1100" dirty="0"/>
              <a:t>import requests</a:t>
            </a:r>
          </a:p>
          <a:p>
            <a:r>
              <a:rPr lang="en-US" sz="1100" dirty="0"/>
              <a:t>import sys</a:t>
            </a:r>
          </a:p>
          <a:p>
            <a:endParaRPr lang="en-US" sz="1100" dirty="0"/>
          </a:p>
          <a:p>
            <a:r>
              <a:rPr lang="en-US" sz="1100" i="1" dirty="0">
                <a:solidFill>
                  <a:schemeClr val="accent6">
                    <a:lumMod val="75000"/>
                  </a:schemeClr>
                </a:solidFill>
              </a:rPr>
              <a:t># Fetch the HTML file contents.</a:t>
            </a:r>
            <a:endParaRPr lang="en-US" sz="1100" dirty="0">
              <a:solidFill>
                <a:schemeClr val="accent6">
                  <a:lumMod val="75000"/>
                </a:schemeClr>
              </a:solidFill>
            </a:endParaRPr>
          </a:p>
          <a:p>
            <a:r>
              <a:rPr lang="en-US" sz="1100" dirty="0" err="1"/>
              <a:t>url</a:t>
            </a:r>
            <a:r>
              <a:rPr lang="en-US" sz="1100" dirty="0"/>
              <a:t> = "https://fawn.ifas.ufl.edu/data/</a:t>
            </a:r>
            <a:r>
              <a:rPr lang="en-US" sz="1100" dirty="0" err="1"/>
              <a:t>fawnpub</a:t>
            </a:r>
            <a:r>
              <a:rPr lang="en-US" sz="1100" dirty="0"/>
              <a:t>/</a:t>
            </a:r>
            <a:r>
              <a:rPr lang="en-US" sz="1100" dirty="0" err="1"/>
              <a:t>daily_summaries</a:t>
            </a:r>
            <a:r>
              <a:rPr lang="en-US" sz="1100" dirty="0"/>
              <a:t>/BY_YEAR/"</a:t>
            </a:r>
          </a:p>
          <a:p>
            <a:r>
              <a:rPr lang="en-US" sz="1100" dirty="0"/>
              <a:t>response = </a:t>
            </a:r>
            <a:r>
              <a:rPr lang="en-US" sz="1100" dirty="0" err="1"/>
              <a:t>requests.get</a:t>
            </a:r>
            <a:r>
              <a:rPr lang="en-US" sz="1100" dirty="0"/>
              <a:t>(</a:t>
            </a:r>
            <a:r>
              <a:rPr lang="en-US" sz="1100" dirty="0" err="1"/>
              <a:t>url</a:t>
            </a:r>
            <a:r>
              <a:rPr lang="en-US" sz="1100" dirty="0"/>
              <a:t>)</a:t>
            </a:r>
          </a:p>
          <a:p>
            <a:r>
              <a:rPr lang="en-US" sz="1100" dirty="0"/>
              <a:t>contents = </a:t>
            </a:r>
            <a:r>
              <a:rPr lang="en-US" sz="1100" dirty="0" err="1"/>
              <a:t>response.text</a:t>
            </a:r>
            <a:endParaRPr lang="en-US" sz="1100" dirty="0"/>
          </a:p>
          <a:p>
            <a:r>
              <a:rPr lang="en-US" sz="1100" dirty="0" err="1"/>
              <a:t>response.close</a:t>
            </a:r>
            <a:r>
              <a:rPr lang="en-US" sz="1100" dirty="0"/>
              <a:t>()</a:t>
            </a:r>
          </a:p>
          <a:p>
            <a:endParaRPr lang="en-US" sz="1100" dirty="0"/>
          </a:p>
          <a:p>
            <a:r>
              <a:rPr lang="en-US" sz="1100" i="1" dirty="0">
                <a:solidFill>
                  <a:schemeClr val="accent6">
                    <a:lumMod val="75000"/>
                  </a:schemeClr>
                </a:solidFill>
              </a:rPr>
              <a:t># Create a soup object from the HTML contents.</a:t>
            </a:r>
          </a:p>
          <a:p>
            <a:r>
              <a:rPr lang="en-US" sz="1100" dirty="0"/>
              <a:t>soup = bs4.BeautifulSoup(contents)</a:t>
            </a:r>
          </a:p>
          <a:p>
            <a:endParaRPr lang="en-US" sz="1100" i="1" dirty="0"/>
          </a:p>
          <a:p>
            <a:r>
              <a:rPr lang="en-US" sz="1100" i="1" dirty="0">
                <a:solidFill>
                  <a:schemeClr val="accent6">
                    <a:lumMod val="75000"/>
                  </a:schemeClr>
                </a:solidFill>
              </a:rPr>
              <a:t># Find all the hyperlinks in the page.</a:t>
            </a:r>
            <a:endParaRPr lang="en-US" sz="1100" dirty="0">
              <a:solidFill>
                <a:schemeClr val="accent6">
                  <a:lumMod val="75000"/>
                </a:schemeClr>
              </a:solidFill>
            </a:endParaRPr>
          </a:p>
          <a:p>
            <a:r>
              <a:rPr lang="en-US" sz="1100" dirty="0" err="1"/>
              <a:t>linkTags</a:t>
            </a:r>
            <a:r>
              <a:rPr lang="en-US" sz="1100" dirty="0"/>
              <a:t> = </a:t>
            </a:r>
            <a:r>
              <a:rPr lang="en-US" sz="1100" dirty="0" err="1"/>
              <a:t>soup.findAll</a:t>
            </a:r>
            <a:r>
              <a:rPr lang="en-US" sz="1100" dirty="0"/>
              <a:t>("a")</a:t>
            </a:r>
          </a:p>
          <a:p>
            <a:endParaRPr lang="en-US" sz="1100" dirty="0"/>
          </a:p>
          <a:p>
            <a:r>
              <a:rPr lang="en-US" sz="1100" i="1" dirty="0">
                <a:solidFill>
                  <a:schemeClr val="accent6">
                    <a:lumMod val="75000"/>
                  </a:schemeClr>
                </a:solidFill>
              </a:rPr>
              <a:t># Print each hyperlink reference.</a:t>
            </a:r>
          </a:p>
          <a:p>
            <a:r>
              <a:rPr lang="en-US" sz="1100" b="1" dirty="0"/>
              <a:t>for</a:t>
            </a:r>
            <a:r>
              <a:rPr lang="en-US" sz="1100" dirty="0"/>
              <a:t> </a:t>
            </a:r>
            <a:r>
              <a:rPr lang="en-US" sz="1100" dirty="0" err="1"/>
              <a:t>linkTag</a:t>
            </a:r>
            <a:r>
              <a:rPr lang="en-US" sz="1100" dirty="0"/>
              <a:t> </a:t>
            </a:r>
            <a:r>
              <a:rPr lang="en-US" sz="1100" b="1" dirty="0"/>
              <a:t>in</a:t>
            </a:r>
            <a:r>
              <a:rPr lang="en-US" sz="1100" dirty="0"/>
              <a:t> </a:t>
            </a:r>
            <a:r>
              <a:rPr lang="en-US" sz="1100" dirty="0" err="1"/>
              <a:t>linkTags</a:t>
            </a:r>
            <a:r>
              <a:rPr lang="en-US" sz="1100" dirty="0"/>
              <a:t>:</a:t>
            </a:r>
          </a:p>
          <a:p>
            <a:r>
              <a:rPr lang="en-US" sz="1100" dirty="0"/>
              <a:t>     print(</a:t>
            </a:r>
            <a:r>
              <a:rPr lang="en-US" sz="1100" dirty="0" err="1"/>
              <a:t>f"Link</a:t>
            </a:r>
            <a:r>
              <a:rPr lang="en-US" sz="1100" dirty="0"/>
              <a:t>: {</a:t>
            </a:r>
            <a:r>
              <a:rPr lang="en-US" sz="1100" dirty="0" err="1"/>
              <a:t>linkTag</a:t>
            </a:r>
            <a:r>
              <a:rPr lang="en-US" sz="1100" dirty="0"/>
              <a:t>['</a:t>
            </a:r>
            <a:r>
              <a:rPr lang="en-US" sz="1100" dirty="0" err="1"/>
              <a:t>href</a:t>
            </a:r>
            <a:r>
              <a:rPr lang="en-US" sz="1100" dirty="0"/>
              <a:t>']}")</a:t>
            </a:r>
          </a:p>
          <a:p>
            <a:r>
              <a:rPr lang="en-US" sz="1000" dirty="0"/>
              <a:t>  </a:t>
            </a:r>
          </a:p>
        </p:txBody>
      </p:sp>
      <p:pic>
        <p:nvPicPr>
          <p:cNvPr id="15" name="Picture 14">
            <a:extLst>
              <a:ext uri="{FF2B5EF4-FFF2-40B4-BE49-F238E27FC236}">
                <a16:creationId xmlns:a16="http://schemas.microsoft.com/office/drawing/2014/main" id="{9E2569B3-B0A1-CC68-C7ED-7ABDA94D0F2F}"/>
              </a:ext>
            </a:extLst>
          </p:cNvPr>
          <p:cNvPicPr>
            <a:picLocks noChangeAspect="1"/>
          </p:cNvPicPr>
          <p:nvPr/>
        </p:nvPicPr>
        <p:blipFill>
          <a:blip r:embed="rId3"/>
          <a:stretch>
            <a:fillRect/>
          </a:stretch>
        </p:blipFill>
        <p:spPr>
          <a:xfrm>
            <a:off x="5105400" y="3832801"/>
            <a:ext cx="2508259" cy="232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2C199B40-864E-52F1-434E-43B1148EA0EE}"/>
              </a:ext>
            </a:extLst>
          </p:cNvPr>
          <p:cNvPicPr>
            <a:picLocks noChangeAspect="1"/>
          </p:cNvPicPr>
          <p:nvPr/>
        </p:nvPicPr>
        <p:blipFill rotWithShape="1">
          <a:blip r:embed="rId4"/>
          <a:srcRect t="1716" b="1702"/>
          <a:stretch/>
        </p:blipFill>
        <p:spPr>
          <a:xfrm>
            <a:off x="7213726" y="4387491"/>
            <a:ext cx="1523180" cy="22419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C8C6A69D-4A5C-94B1-664A-576D3C7D02CA}"/>
              </a:ext>
            </a:extLst>
          </p:cNvPr>
          <p:cNvSpPr txBox="1"/>
          <p:nvPr/>
        </p:nvSpPr>
        <p:spPr>
          <a:xfrm>
            <a:off x="4996452" y="3463469"/>
            <a:ext cx="2876300"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FAWN data hosting webpage</a:t>
            </a:r>
          </a:p>
        </p:txBody>
      </p:sp>
      <p:sp>
        <p:nvSpPr>
          <p:cNvPr id="17" name="TextBox 16">
            <a:extLst>
              <a:ext uri="{FF2B5EF4-FFF2-40B4-BE49-F238E27FC236}">
                <a16:creationId xmlns:a16="http://schemas.microsoft.com/office/drawing/2014/main" id="{5D49E5C5-6126-ECE2-8782-06C9E59A62CB}"/>
              </a:ext>
            </a:extLst>
          </p:cNvPr>
          <p:cNvSpPr txBox="1"/>
          <p:nvPr/>
        </p:nvSpPr>
        <p:spPr>
          <a:xfrm>
            <a:off x="7673840" y="4041114"/>
            <a:ext cx="1546514"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Python output</a:t>
            </a:r>
          </a:p>
        </p:txBody>
      </p:sp>
    </p:spTree>
    <p:extLst>
      <p:ext uri="{BB962C8B-B14F-4D97-AF65-F5344CB8AC3E}">
        <p14:creationId xmlns:p14="http://schemas.microsoft.com/office/powerpoint/2010/main" val="320788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A78FB-5E6F-A9F5-D548-A1DCCC3B4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A9150-785E-6CB1-BB7A-55A6D01B7170}"/>
              </a:ext>
            </a:extLst>
          </p:cNvPr>
          <p:cNvSpPr>
            <a:spLocks noGrp="1"/>
          </p:cNvSpPr>
          <p:nvPr>
            <p:ph type="title"/>
          </p:nvPr>
        </p:nvSpPr>
        <p:spPr>
          <a:xfrm>
            <a:off x="721131" y="226307"/>
            <a:ext cx="8015775" cy="994200"/>
          </a:xfrm>
        </p:spPr>
        <p:txBody>
          <a:bodyPr>
            <a:normAutofit/>
          </a:bodyPr>
          <a:lstStyle/>
          <a:p>
            <a:r>
              <a:rPr lang="en-US" altLang="en-US" sz="3600" dirty="0"/>
              <a:t>Download the linked csv's</a:t>
            </a:r>
            <a:endParaRPr lang="en-US" dirty="0"/>
          </a:p>
        </p:txBody>
      </p:sp>
      <p:sp>
        <p:nvSpPr>
          <p:cNvPr id="7" name="TextBox 6">
            <a:extLst>
              <a:ext uri="{FF2B5EF4-FFF2-40B4-BE49-F238E27FC236}">
                <a16:creationId xmlns:a16="http://schemas.microsoft.com/office/drawing/2014/main" id="{F4617105-F9B0-FEFD-7565-187DF84F0287}"/>
              </a:ext>
            </a:extLst>
          </p:cNvPr>
          <p:cNvSpPr txBox="1"/>
          <p:nvPr/>
        </p:nvSpPr>
        <p:spPr>
          <a:xfrm>
            <a:off x="350439" y="990600"/>
            <a:ext cx="5993706" cy="5816977"/>
          </a:xfrm>
          <a:prstGeom prst="rect">
            <a:avLst/>
          </a:prstGeom>
          <a:noFill/>
        </p:spPr>
        <p:txBody>
          <a:bodyPr wrap="square">
            <a:spAutoFit/>
          </a:bodyPr>
          <a:lstStyle/>
          <a:p>
            <a:r>
              <a:rPr lang="en-US" sz="1200" i="1" dirty="0">
                <a:solidFill>
                  <a:schemeClr val="accent6">
                    <a:lumMod val="75000"/>
                  </a:schemeClr>
                </a:solidFill>
              </a:rPr>
              <a:t># listWeatherData.py</a:t>
            </a:r>
          </a:p>
          <a:p>
            <a:r>
              <a:rPr lang="en-US" sz="1200" i="1" dirty="0">
                <a:solidFill>
                  <a:schemeClr val="accent6">
                    <a:lumMod val="75000"/>
                  </a:schemeClr>
                </a:solidFill>
              </a:rPr>
              <a:t># Purpose: Read links in an HTML data page and download the CSV datasets.</a:t>
            </a:r>
          </a:p>
          <a:p>
            <a:r>
              <a:rPr lang="en-US" sz="1200" dirty="0"/>
              <a:t>import bs4</a:t>
            </a:r>
          </a:p>
          <a:p>
            <a:r>
              <a:rPr lang="en-US" sz="1200" dirty="0"/>
              <a:t>import requests</a:t>
            </a:r>
          </a:p>
          <a:p>
            <a:r>
              <a:rPr lang="en-US" sz="1200" dirty="0"/>
              <a:t>import sys, </a:t>
            </a:r>
            <a:r>
              <a:rPr lang="en-US" sz="1200" dirty="0" err="1"/>
              <a:t>os</a:t>
            </a:r>
            <a:endParaRPr lang="en-US" sz="1200" dirty="0"/>
          </a:p>
          <a:p>
            <a:endParaRPr lang="en-US" sz="1200" dirty="0"/>
          </a:p>
          <a:p>
            <a:r>
              <a:rPr lang="en-US" sz="1200" i="1" dirty="0">
                <a:solidFill>
                  <a:schemeClr val="accent6">
                    <a:lumMod val="75000"/>
                  </a:schemeClr>
                </a:solidFill>
              </a:rPr>
              <a:t># Fetch the HTML file contents.</a:t>
            </a:r>
            <a:endParaRPr lang="en-US" sz="1200" dirty="0">
              <a:solidFill>
                <a:schemeClr val="accent6">
                  <a:lumMod val="75000"/>
                </a:schemeClr>
              </a:solidFill>
            </a:endParaRPr>
          </a:p>
          <a:p>
            <a:r>
              <a:rPr lang="en-US" sz="1200" dirty="0" err="1"/>
              <a:t>url</a:t>
            </a:r>
            <a:r>
              <a:rPr lang="en-US" sz="1200" dirty="0"/>
              <a:t> = "https://fawn.ifas.ufl.edu/data/</a:t>
            </a:r>
            <a:r>
              <a:rPr lang="en-US" sz="1200" dirty="0" err="1"/>
              <a:t>fawnpub</a:t>
            </a:r>
            <a:r>
              <a:rPr lang="en-US" sz="1200" dirty="0"/>
              <a:t>/</a:t>
            </a:r>
            <a:r>
              <a:rPr lang="en-US" sz="1200" dirty="0" err="1"/>
              <a:t>daily_summaries</a:t>
            </a:r>
            <a:r>
              <a:rPr lang="en-US" sz="1200" dirty="0"/>
              <a:t>/BY_YEAR/"</a:t>
            </a:r>
          </a:p>
          <a:p>
            <a:r>
              <a:rPr lang="en-US" sz="1200" dirty="0"/>
              <a:t>response = </a:t>
            </a:r>
            <a:r>
              <a:rPr lang="en-US" sz="1200" dirty="0" err="1"/>
              <a:t>requests.get</a:t>
            </a:r>
            <a:r>
              <a:rPr lang="en-US" sz="1200" dirty="0"/>
              <a:t>(</a:t>
            </a:r>
            <a:r>
              <a:rPr lang="en-US" sz="1200" dirty="0" err="1"/>
              <a:t>url</a:t>
            </a:r>
            <a:r>
              <a:rPr lang="en-US" sz="1200" dirty="0"/>
              <a:t>)</a:t>
            </a:r>
          </a:p>
          <a:p>
            <a:r>
              <a:rPr lang="en-US" sz="1200" dirty="0"/>
              <a:t>contents = </a:t>
            </a:r>
            <a:r>
              <a:rPr lang="en-US" sz="1200" dirty="0" err="1"/>
              <a:t>response.text</a:t>
            </a:r>
            <a:endParaRPr lang="en-US" sz="1200" dirty="0"/>
          </a:p>
          <a:p>
            <a:r>
              <a:rPr lang="en-US" sz="1200" dirty="0" err="1"/>
              <a:t>response.close</a:t>
            </a:r>
            <a:r>
              <a:rPr lang="en-US" sz="1200" dirty="0"/>
              <a:t>()</a:t>
            </a:r>
          </a:p>
          <a:p>
            <a:endParaRPr lang="en-US" sz="1200" dirty="0"/>
          </a:p>
          <a:p>
            <a:r>
              <a:rPr lang="en-US" sz="1200" i="1" dirty="0">
                <a:solidFill>
                  <a:schemeClr val="accent6">
                    <a:lumMod val="75000"/>
                  </a:schemeClr>
                </a:solidFill>
              </a:rPr>
              <a:t># Create a soup object from the HTML contents.</a:t>
            </a:r>
          </a:p>
          <a:p>
            <a:r>
              <a:rPr lang="en-US" sz="1200" dirty="0"/>
              <a:t>soup = bs4.BeautifulSoup(contents)</a:t>
            </a:r>
          </a:p>
          <a:p>
            <a:endParaRPr lang="en-US" sz="1200" i="1" dirty="0"/>
          </a:p>
          <a:p>
            <a:r>
              <a:rPr lang="en-US" sz="1200" i="1" dirty="0">
                <a:solidFill>
                  <a:schemeClr val="accent6">
                    <a:lumMod val="75000"/>
                  </a:schemeClr>
                </a:solidFill>
              </a:rPr>
              <a:t># Find all the hyperlinks in the page.</a:t>
            </a:r>
            <a:endParaRPr lang="en-US" sz="1200" dirty="0">
              <a:solidFill>
                <a:schemeClr val="accent6">
                  <a:lumMod val="75000"/>
                </a:schemeClr>
              </a:solidFill>
            </a:endParaRPr>
          </a:p>
          <a:p>
            <a:r>
              <a:rPr lang="en-US" sz="1200" dirty="0" err="1"/>
              <a:t>linkTags</a:t>
            </a:r>
            <a:r>
              <a:rPr lang="en-US" sz="1200" dirty="0"/>
              <a:t> = </a:t>
            </a:r>
            <a:r>
              <a:rPr lang="en-US" sz="1200" dirty="0" err="1"/>
              <a:t>soup.findAll</a:t>
            </a:r>
            <a:r>
              <a:rPr lang="en-US" sz="1200" dirty="0"/>
              <a:t>("a")</a:t>
            </a:r>
          </a:p>
          <a:p>
            <a:endParaRPr lang="en-US" sz="1200" dirty="0"/>
          </a:p>
          <a:p>
            <a:r>
              <a:rPr lang="en-US" sz="1200" i="1" dirty="0">
                <a:solidFill>
                  <a:schemeClr val="accent6">
                    <a:lumMod val="75000"/>
                  </a:schemeClr>
                </a:solidFill>
              </a:rPr>
              <a:t># Get each linked csv.</a:t>
            </a:r>
            <a:endParaRPr lang="en-US" sz="1200" dirty="0"/>
          </a:p>
          <a:p>
            <a:r>
              <a:rPr lang="en-US" sz="1200" dirty="0"/>
              <a:t>for </a:t>
            </a:r>
            <a:r>
              <a:rPr lang="en-US" sz="1200" dirty="0" err="1"/>
              <a:t>linkTag</a:t>
            </a:r>
            <a:r>
              <a:rPr lang="en-US" sz="1200" dirty="0"/>
              <a:t> in </a:t>
            </a:r>
            <a:r>
              <a:rPr lang="en-US" sz="1200" dirty="0" err="1"/>
              <a:t>linkTags</a:t>
            </a:r>
            <a:r>
              <a:rPr lang="en-US" sz="1200" dirty="0"/>
              <a:t>:</a:t>
            </a:r>
          </a:p>
          <a:p>
            <a:r>
              <a:rPr lang="en-US" sz="1200" dirty="0"/>
              <a:t>    </a:t>
            </a:r>
            <a:r>
              <a:rPr lang="en-US" sz="1200" dirty="0" err="1"/>
              <a:t>theLink</a:t>
            </a:r>
            <a:r>
              <a:rPr lang="en-US" sz="1200" dirty="0"/>
              <a:t> = </a:t>
            </a:r>
            <a:r>
              <a:rPr lang="en-US" sz="1200" dirty="0" err="1"/>
              <a:t>linkTag</a:t>
            </a:r>
            <a:r>
              <a:rPr lang="en-US" sz="1200" dirty="0"/>
              <a:t>['</a:t>
            </a:r>
            <a:r>
              <a:rPr lang="en-US" sz="1200" dirty="0" err="1"/>
              <a:t>href</a:t>
            </a:r>
            <a:r>
              <a:rPr lang="en-US" sz="1200" dirty="0"/>
              <a:t>']</a:t>
            </a:r>
          </a:p>
          <a:p>
            <a:r>
              <a:rPr lang="en-US" sz="1200" dirty="0"/>
              <a:t>    if </a:t>
            </a:r>
            <a:r>
              <a:rPr lang="en-US" sz="1200" dirty="0" err="1"/>
              <a:t>theLink.endswith</a:t>
            </a:r>
            <a:r>
              <a:rPr lang="en-US" sz="1200" dirty="0"/>
              <a:t>(".csv"):</a:t>
            </a:r>
          </a:p>
          <a:p>
            <a:r>
              <a:rPr lang="en-US" sz="1200" dirty="0"/>
              <a:t>        print(</a:t>
            </a:r>
            <a:r>
              <a:rPr lang="en-US" sz="1200" dirty="0" err="1"/>
              <a:t>f"Link</a:t>
            </a:r>
            <a:r>
              <a:rPr lang="en-US" sz="1200" dirty="0"/>
              <a:t>: {</a:t>
            </a:r>
            <a:r>
              <a:rPr lang="en-US" sz="1200" dirty="0" err="1"/>
              <a:t>linkTag</a:t>
            </a:r>
            <a:r>
              <a:rPr lang="en-US" sz="1200" dirty="0"/>
              <a:t>['</a:t>
            </a:r>
            <a:r>
              <a:rPr lang="en-US" sz="1200" dirty="0" err="1"/>
              <a:t>href</a:t>
            </a:r>
            <a:r>
              <a:rPr lang="en-US" sz="1200" dirty="0"/>
              <a:t>']}")</a:t>
            </a:r>
          </a:p>
          <a:p>
            <a:r>
              <a:rPr lang="en-US" sz="1200" dirty="0"/>
              <a:t>        </a:t>
            </a:r>
            <a:r>
              <a:rPr lang="en-US" sz="1200" i="1" dirty="0">
                <a:solidFill>
                  <a:schemeClr val="accent6">
                    <a:lumMod val="75000"/>
                  </a:schemeClr>
                </a:solidFill>
              </a:rPr>
              <a:t># Fetch and write</a:t>
            </a:r>
          </a:p>
          <a:p>
            <a:r>
              <a:rPr lang="en-US" sz="1200" dirty="0"/>
              <a:t>        </a:t>
            </a:r>
            <a:r>
              <a:rPr lang="en-US" sz="1200" dirty="0" err="1"/>
              <a:t>full_link</a:t>
            </a:r>
            <a:r>
              <a:rPr lang="en-US" sz="1200" dirty="0"/>
              <a:t> = </a:t>
            </a:r>
            <a:r>
              <a:rPr lang="en-US" sz="1200" dirty="0" err="1"/>
              <a:t>url</a:t>
            </a:r>
            <a:r>
              <a:rPr lang="en-US" sz="1200" dirty="0"/>
              <a:t> + </a:t>
            </a:r>
            <a:r>
              <a:rPr lang="en-US" sz="1200" dirty="0" err="1"/>
              <a:t>theLink</a:t>
            </a:r>
            <a:endParaRPr lang="en-US" sz="1200" dirty="0"/>
          </a:p>
          <a:p>
            <a:r>
              <a:rPr lang="en-US" sz="1200" dirty="0"/>
              <a:t>        </a:t>
            </a:r>
            <a:r>
              <a:rPr lang="en-US" sz="1200" dirty="0" err="1"/>
              <a:t>outputName</a:t>
            </a:r>
            <a:r>
              <a:rPr lang="en-US" sz="1200" dirty="0"/>
              <a:t> = </a:t>
            </a:r>
            <a:r>
              <a:rPr lang="en-US" sz="1200" dirty="0" err="1"/>
              <a:t>os.path.join</a:t>
            </a:r>
            <a:r>
              <a:rPr lang="en-US" sz="1200" dirty="0"/>
              <a:t>(</a:t>
            </a:r>
            <a:r>
              <a:rPr lang="en-US" sz="1200" dirty="0" err="1"/>
              <a:t>outputDir</a:t>
            </a:r>
            <a:r>
              <a:rPr lang="en-US" sz="1200" dirty="0"/>
              <a:t>, </a:t>
            </a:r>
            <a:r>
              <a:rPr lang="en-US" sz="1200" dirty="0" err="1"/>
              <a:t>os.path.basename</a:t>
            </a:r>
            <a:r>
              <a:rPr lang="en-US" sz="1200" dirty="0"/>
              <a:t>(</a:t>
            </a:r>
            <a:r>
              <a:rPr lang="en-US" sz="1200" dirty="0" err="1"/>
              <a:t>theLink</a:t>
            </a:r>
            <a:r>
              <a:rPr lang="en-US" sz="1200" dirty="0"/>
              <a:t>))</a:t>
            </a:r>
          </a:p>
          <a:p>
            <a:r>
              <a:rPr lang="en-US" sz="1200" dirty="0"/>
              <a:t>        response = </a:t>
            </a:r>
            <a:r>
              <a:rPr lang="en-US" sz="1200" dirty="0" err="1"/>
              <a:t>requests.get</a:t>
            </a:r>
            <a:r>
              <a:rPr lang="en-US" sz="1200" dirty="0"/>
              <a:t>(</a:t>
            </a:r>
            <a:r>
              <a:rPr lang="en-US" sz="1200" dirty="0" err="1"/>
              <a:t>full_link</a:t>
            </a:r>
            <a:r>
              <a:rPr lang="en-US" sz="1200" dirty="0"/>
              <a:t>)</a:t>
            </a:r>
          </a:p>
          <a:p>
            <a:r>
              <a:rPr lang="en-US" sz="1200" dirty="0"/>
              <a:t>        with open(</a:t>
            </a:r>
            <a:r>
              <a:rPr lang="en-US" sz="1200" dirty="0" err="1"/>
              <a:t>outputName</a:t>
            </a:r>
            <a:r>
              <a:rPr lang="en-US" sz="1200" dirty="0"/>
              <a:t>, "</a:t>
            </a:r>
            <a:r>
              <a:rPr lang="en-US" sz="1200" dirty="0" err="1"/>
              <a:t>wb</a:t>
            </a:r>
            <a:r>
              <a:rPr lang="en-US" sz="1200" dirty="0"/>
              <a:t>") as f:</a:t>
            </a:r>
          </a:p>
          <a:p>
            <a:r>
              <a:rPr lang="en-US" sz="1200" dirty="0"/>
              <a:t>            </a:t>
            </a:r>
            <a:r>
              <a:rPr lang="en-US" sz="1200" dirty="0" err="1"/>
              <a:t>f.write</a:t>
            </a:r>
            <a:r>
              <a:rPr lang="en-US" sz="1200" dirty="0"/>
              <a:t>(</a:t>
            </a:r>
            <a:r>
              <a:rPr lang="en-US" sz="1200" dirty="0" err="1"/>
              <a:t>response.content</a:t>
            </a:r>
            <a:r>
              <a:rPr lang="en-US" sz="1200" dirty="0"/>
              <a:t>)</a:t>
            </a:r>
          </a:p>
          <a:p>
            <a:r>
              <a:rPr lang="en-US" sz="1200" dirty="0"/>
              <a:t>        </a:t>
            </a:r>
          </a:p>
          <a:p>
            <a:r>
              <a:rPr lang="en-US" sz="1200" dirty="0"/>
              <a:t>        print(f"{</a:t>
            </a:r>
            <a:r>
              <a:rPr lang="en-US" sz="1200" dirty="0" err="1"/>
              <a:t>os.path.basename</a:t>
            </a:r>
            <a:r>
              <a:rPr lang="en-US" sz="1200" dirty="0"/>
              <a:t>(</a:t>
            </a:r>
            <a:r>
              <a:rPr lang="en-US" sz="1200" dirty="0" err="1"/>
              <a:t>theLink</a:t>
            </a:r>
            <a:r>
              <a:rPr lang="en-US" sz="1200" dirty="0"/>
              <a:t>)} downloaded successfully to {</a:t>
            </a:r>
            <a:r>
              <a:rPr lang="en-US" sz="1200" dirty="0" err="1"/>
              <a:t>outputDir</a:t>
            </a:r>
            <a:r>
              <a:rPr lang="en-US" sz="1200" dirty="0"/>
              <a:t>}.")</a:t>
            </a:r>
            <a:r>
              <a:rPr lang="en-US" sz="900" dirty="0"/>
              <a:t>  </a:t>
            </a:r>
          </a:p>
        </p:txBody>
      </p:sp>
      <p:pic>
        <p:nvPicPr>
          <p:cNvPr id="15" name="Picture 14">
            <a:extLst>
              <a:ext uri="{FF2B5EF4-FFF2-40B4-BE49-F238E27FC236}">
                <a16:creationId xmlns:a16="http://schemas.microsoft.com/office/drawing/2014/main" id="{9E2569B3-B0A1-CC68-C7ED-7ABDA94D0F2F}"/>
              </a:ext>
            </a:extLst>
          </p:cNvPr>
          <p:cNvPicPr>
            <a:picLocks noChangeAspect="1"/>
          </p:cNvPicPr>
          <p:nvPr/>
        </p:nvPicPr>
        <p:blipFill>
          <a:blip r:embed="rId3"/>
          <a:stretch>
            <a:fillRect/>
          </a:stretch>
        </p:blipFill>
        <p:spPr>
          <a:xfrm>
            <a:off x="6439889" y="1413095"/>
            <a:ext cx="2508259" cy="232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2C199B40-864E-52F1-434E-43B1148EA0EE}"/>
              </a:ext>
            </a:extLst>
          </p:cNvPr>
          <p:cNvPicPr>
            <a:picLocks noChangeAspect="1"/>
          </p:cNvPicPr>
          <p:nvPr/>
        </p:nvPicPr>
        <p:blipFill rotWithShape="1">
          <a:blip r:embed="rId4"/>
          <a:srcRect t="1716" b="1702"/>
          <a:stretch/>
        </p:blipFill>
        <p:spPr>
          <a:xfrm>
            <a:off x="6553200" y="4311291"/>
            <a:ext cx="1523180" cy="22419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C8C6A69D-4A5C-94B1-664A-576D3C7D02CA}"/>
              </a:ext>
            </a:extLst>
          </p:cNvPr>
          <p:cNvSpPr txBox="1"/>
          <p:nvPr/>
        </p:nvSpPr>
        <p:spPr>
          <a:xfrm>
            <a:off x="6248400" y="1111256"/>
            <a:ext cx="2876300"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FAWN data hosting webpage</a:t>
            </a:r>
          </a:p>
        </p:txBody>
      </p:sp>
      <p:sp>
        <p:nvSpPr>
          <p:cNvPr id="17" name="TextBox 16">
            <a:extLst>
              <a:ext uri="{FF2B5EF4-FFF2-40B4-BE49-F238E27FC236}">
                <a16:creationId xmlns:a16="http://schemas.microsoft.com/office/drawing/2014/main" id="{5D49E5C5-6126-ECE2-8782-06C9E59A62CB}"/>
              </a:ext>
            </a:extLst>
          </p:cNvPr>
          <p:cNvSpPr txBox="1"/>
          <p:nvPr/>
        </p:nvSpPr>
        <p:spPr>
          <a:xfrm>
            <a:off x="7013314" y="3964914"/>
            <a:ext cx="1546514"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Python output</a:t>
            </a:r>
          </a:p>
        </p:txBody>
      </p:sp>
    </p:spTree>
    <p:extLst>
      <p:ext uri="{BB962C8B-B14F-4D97-AF65-F5344CB8AC3E}">
        <p14:creationId xmlns:p14="http://schemas.microsoft.com/office/powerpoint/2010/main" val="119388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4C7C1-AC77-16CC-0B1D-42915F1F6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4E6D5-1893-623E-7645-65C9085393FF}"/>
              </a:ext>
            </a:extLst>
          </p:cNvPr>
          <p:cNvSpPr>
            <a:spLocks noGrp="1"/>
          </p:cNvSpPr>
          <p:nvPr>
            <p:ph type="title"/>
          </p:nvPr>
        </p:nvSpPr>
        <p:spPr>
          <a:xfrm>
            <a:off x="721131" y="226307"/>
            <a:ext cx="8015775" cy="994200"/>
          </a:xfrm>
        </p:spPr>
        <p:txBody>
          <a:bodyPr>
            <a:normAutofit/>
          </a:bodyPr>
          <a:lstStyle/>
          <a:p>
            <a:r>
              <a:rPr lang="en-US" altLang="en-US" sz="3600" dirty="0"/>
              <a:t>Uncompress a file</a:t>
            </a:r>
            <a:endParaRPr lang="en-US" dirty="0"/>
          </a:p>
        </p:txBody>
      </p:sp>
      <p:sp>
        <p:nvSpPr>
          <p:cNvPr id="7" name="TextBox 6">
            <a:extLst>
              <a:ext uri="{FF2B5EF4-FFF2-40B4-BE49-F238E27FC236}">
                <a16:creationId xmlns:a16="http://schemas.microsoft.com/office/drawing/2014/main" id="{2B3DB33A-079E-807A-E6B8-22BBFB6135F7}"/>
              </a:ext>
            </a:extLst>
          </p:cNvPr>
          <p:cNvSpPr txBox="1"/>
          <p:nvPr/>
        </p:nvSpPr>
        <p:spPr>
          <a:xfrm>
            <a:off x="350438" y="990600"/>
            <a:ext cx="7574361" cy="4539704"/>
          </a:xfrm>
          <a:prstGeom prst="rect">
            <a:avLst/>
          </a:prstGeom>
          <a:noFill/>
        </p:spPr>
        <p:txBody>
          <a:bodyPr wrap="square">
            <a:spAutoFit/>
          </a:bodyPr>
          <a:lstStyle/>
          <a:p>
            <a:r>
              <a:rPr lang="en-US" sz="2000" i="1" dirty="0">
                <a:solidFill>
                  <a:schemeClr val="accent6">
                    <a:lumMod val="75000"/>
                  </a:schemeClr>
                </a:solidFill>
              </a:rPr>
              <a:t># unzip_file.py</a:t>
            </a:r>
          </a:p>
          <a:p>
            <a:r>
              <a:rPr lang="en-US" sz="2000" i="1" dirty="0">
                <a:solidFill>
                  <a:schemeClr val="accent6">
                    <a:lumMod val="75000"/>
                  </a:schemeClr>
                </a:solidFill>
              </a:rPr>
              <a:t># Purpose: Uncompress a </a:t>
            </a:r>
            <a:r>
              <a:rPr lang="en-US" sz="2000" i="1" dirty="0" err="1">
                <a:solidFill>
                  <a:schemeClr val="accent6">
                    <a:lumMod val="75000"/>
                  </a:schemeClr>
                </a:solidFill>
              </a:rPr>
              <a:t>zipfile</a:t>
            </a:r>
            <a:r>
              <a:rPr lang="en-US" sz="2000" i="1" dirty="0">
                <a:solidFill>
                  <a:schemeClr val="accent6">
                    <a:lumMod val="75000"/>
                  </a:schemeClr>
                </a:solidFill>
              </a:rPr>
              <a:t>.</a:t>
            </a:r>
          </a:p>
          <a:p>
            <a:r>
              <a:rPr lang="en-US" sz="2000" dirty="0"/>
              <a:t>import </a:t>
            </a:r>
            <a:r>
              <a:rPr lang="en-US" sz="2000" dirty="0" err="1"/>
              <a:t>zipfile</a:t>
            </a:r>
            <a:endParaRPr lang="en-US" sz="2000" dirty="0"/>
          </a:p>
          <a:p>
            <a:r>
              <a:rPr lang="en-US" sz="2000" dirty="0"/>
              <a:t>import </a:t>
            </a:r>
            <a:r>
              <a:rPr lang="en-US" sz="2000" dirty="0" err="1"/>
              <a:t>os</a:t>
            </a:r>
            <a:endParaRPr lang="en-US" sz="2000" dirty="0"/>
          </a:p>
          <a:p>
            <a:endParaRPr lang="en-US" sz="2000" dirty="0"/>
          </a:p>
          <a:p>
            <a:r>
              <a:rPr lang="en-US" sz="2000" i="1" dirty="0">
                <a:solidFill>
                  <a:schemeClr val="accent6">
                    <a:lumMod val="75000"/>
                  </a:schemeClr>
                </a:solidFill>
              </a:rPr>
              <a:t># Specify the compressed file and destination directory.</a:t>
            </a:r>
            <a:endParaRPr lang="en-US" sz="2000" dirty="0">
              <a:solidFill>
                <a:schemeClr val="accent6">
                  <a:lumMod val="75000"/>
                </a:schemeClr>
              </a:solidFill>
            </a:endParaRPr>
          </a:p>
          <a:p>
            <a:r>
              <a:rPr lang="en-US" sz="2000" dirty="0" err="1"/>
              <a:t>zipPath</a:t>
            </a:r>
            <a:r>
              <a:rPr lang="en-US" sz="2000" dirty="0"/>
              <a:t> = </a:t>
            </a:r>
            <a:r>
              <a:rPr lang="en-US" sz="2000" dirty="0" err="1"/>
              <a:t>r"C</a:t>
            </a:r>
            <a:r>
              <a:rPr lang="en-US" sz="2000" dirty="0"/>
              <a:t>:\gispy\data\ch20\getty.zip"</a:t>
            </a:r>
          </a:p>
          <a:p>
            <a:r>
              <a:rPr lang="en-US" sz="2000" dirty="0" err="1"/>
              <a:t>outputDir</a:t>
            </a:r>
            <a:r>
              <a:rPr lang="en-US" sz="2000" dirty="0"/>
              <a:t> = "C:/gispy/scratch/"</a:t>
            </a:r>
          </a:p>
          <a:p>
            <a:endParaRPr lang="en-US" sz="2000" dirty="0"/>
          </a:p>
          <a:p>
            <a:r>
              <a:rPr lang="en-US" sz="2000" i="1" dirty="0">
                <a:solidFill>
                  <a:schemeClr val="accent6">
                    <a:lumMod val="75000"/>
                  </a:schemeClr>
                </a:solidFill>
              </a:rPr>
              <a:t># Extract the zip contents and write it to the output directory.</a:t>
            </a:r>
          </a:p>
          <a:p>
            <a:r>
              <a:rPr lang="en-US" sz="2000" dirty="0"/>
              <a:t>print(</a:t>
            </a:r>
            <a:r>
              <a:rPr lang="en-US" sz="2000" dirty="0" err="1"/>
              <a:t>f"Extracting</a:t>
            </a:r>
            <a:r>
              <a:rPr lang="en-US" sz="2000" dirty="0"/>
              <a:t> to {</a:t>
            </a:r>
            <a:r>
              <a:rPr lang="en-US" sz="2000" dirty="0" err="1"/>
              <a:t>outputDir</a:t>
            </a:r>
            <a:r>
              <a:rPr lang="en-US" sz="2000" dirty="0"/>
              <a:t>}...")</a:t>
            </a:r>
          </a:p>
          <a:p>
            <a:r>
              <a:rPr lang="en-US" sz="2000" dirty="0"/>
              <a:t>with </a:t>
            </a:r>
            <a:r>
              <a:rPr lang="en-US" sz="2000" dirty="0" err="1"/>
              <a:t>zipfile.ZipFile</a:t>
            </a:r>
            <a:r>
              <a:rPr lang="en-US" sz="2000" dirty="0"/>
              <a:t>(</a:t>
            </a:r>
            <a:r>
              <a:rPr lang="en-US" sz="2000" dirty="0" err="1"/>
              <a:t>zipPath</a:t>
            </a:r>
            <a:r>
              <a:rPr lang="en-US" sz="2000" dirty="0"/>
              <a:t>, 'r') as </a:t>
            </a:r>
            <a:r>
              <a:rPr lang="en-US" sz="2000" dirty="0" err="1"/>
              <a:t>zip_ref</a:t>
            </a:r>
            <a:r>
              <a:rPr lang="en-US" sz="2000" dirty="0"/>
              <a:t>:</a:t>
            </a:r>
          </a:p>
          <a:p>
            <a:r>
              <a:rPr lang="en-US" sz="2000" dirty="0"/>
              <a:t>    </a:t>
            </a:r>
            <a:r>
              <a:rPr lang="en-US" sz="2000" dirty="0" err="1"/>
              <a:t>zip_ref.extractall</a:t>
            </a:r>
            <a:r>
              <a:rPr lang="en-US" sz="2000" dirty="0"/>
              <a:t>(</a:t>
            </a:r>
            <a:r>
              <a:rPr lang="en-US" sz="2000" dirty="0" err="1"/>
              <a:t>outputDir</a:t>
            </a:r>
            <a:r>
              <a:rPr lang="en-US" sz="2000" dirty="0"/>
              <a:t>)</a:t>
            </a:r>
          </a:p>
          <a:p>
            <a:r>
              <a:rPr lang="en-US" sz="2000" dirty="0"/>
              <a:t>    print(f"{</a:t>
            </a:r>
            <a:r>
              <a:rPr lang="en-US" sz="2000" dirty="0" err="1"/>
              <a:t>os.path.basename</a:t>
            </a:r>
            <a:r>
              <a:rPr lang="en-US" sz="2000" dirty="0"/>
              <a:t>(</a:t>
            </a:r>
            <a:r>
              <a:rPr lang="en-US" sz="2000" dirty="0" err="1"/>
              <a:t>zipPath</a:t>
            </a:r>
            <a:r>
              <a:rPr lang="en-US" sz="2000" dirty="0"/>
              <a:t>)} unzipped in {</a:t>
            </a:r>
            <a:r>
              <a:rPr lang="en-US" sz="2000" dirty="0" err="1"/>
              <a:t>outputDir</a:t>
            </a:r>
            <a:r>
              <a:rPr lang="en-US" sz="2000" dirty="0"/>
              <a:t>}")</a:t>
            </a:r>
          </a:p>
          <a:p>
            <a:r>
              <a:rPr lang="en-US" sz="900" dirty="0"/>
              <a:t>  </a:t>
            </a:r>
          </a:p>
        </p:txBody>
      </p:sp>
    </p:spTree>
    <p:extLst>
      <p:ext uri="{BB962C8B-B14F-4D97-AF65-F5344CB8AC3E}">
        <p14:creationId xmlns:p14="http://schemas.microsoft.com/office/powerpoint/2010/main" val="386998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3561-9E13-3E52-6317-ECBEE9810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30300-97AA-580E-E610-8E0E4375F0DF}"/>
              </a:ext>
            </a:extLst>
          </p:cNvPr>
          <p:cNvSpPr>
            <a:spLocks noGrp="1"/>
          </p:cNvSpPr>
          <p:nvPr>
            <p:ph type="title"/>
          </p:nvPr>
        </p:nvSpPr>
        <p:spPr>
          <a:xfrm>
            <a:off x="721131" y="226307"/>
            <a:ext cx="8015775" cy="994200"/>
          </a:xfrm>
        </p:spPr>
        <p:txBody>
          <a:bodyPr>
            <a:normAutofit/>
          </a:bodyPr>
          <a:lstStyle/>
          <a:p>
            <a:r>
              <a:rPr lang="en-US" altLang="en-US" sz="3600" dirty="0"/>
              <a:t>Uncompress the </a:t>
            </a:r>
            <a:r>
              <a:rPr lang="en-US" altLang="en-US" sz="3600" dirty="0" err="1"/>
              <a:t>zipfiles</a:t>
            </a:r>
            <a:endParaRPr lang="en-US" dirty="0"/>
          </a:p>
        </p:txBody>
      </p:sp>
      <p:sp>
        <p:nvSpPr>
          <p:cNvPr id="7" name="TextBox 6">
            <a:extLst>
              <a:ext uri="{FF2B5EF4-FFF2-40B4-BE49-F238E27FC236}">
                <a16:creationId xmlns:a16="http://schemas.microsoft.com/office/drawing/2014/main" id="{29BE0F3E-0FE0-59E2-C6AD-16D1E131652B}"/>
              </a:ext>
            </a:extLst>
          </p:cNvPr>
          <p:cNvSpPr txBox="1"/>
          <p:nvPr/>
        </p:nvSpPr>
        <p:spPr>
          <a:xfrm>
            <a:off x="350439" y="1066800"/>
            <a:ext cx="5993706" cy="5709255"/>
          </a:xfrm>
          <a:prstGeom prst="rect">
            <a:avLst/>
          </a:prstGeom>
          <a:noFill/>
        </p:spPr>
        <p:txBody>
          <a:bodyPr wrap="square">
            <a:spAutoFit/>
          </a:bodyPr>
          <a:lstStyle/>
          <a:p>
            <a:r>
              <a:rPr lang="en-US" sz="1050" i="1" dirty="0">
                <a:solidFill>
                  <a:schemeClr val="accent6">
                    <a:lumMod val="75000"/>
                  </a:schemeClr>
                </a:solidFill>
              </a:rPr>
              <a:t># parse_fetch_unzip_weatherdata.py</a:t>
            </a:r>
          </a:p>
          <a:p>
            <a:r>
              <a:rPr lang="en-US" sz="1050" i="1" dirty="0">
                <a:solidFill>
                  <a:schemeClr val="accent6">
                    <a:lumMod val="75000"/>
                  </a:schemeClr>
                </a:solidFill>
              </a:rPr>
              <a:t># Purpose: Download and extract the linked csv's</a:t>
            </a:r>
          </a:p>
          <a:p>
            <a:r>
              <a:rPr lang="en-US" sz="1100" dirty="0"/>
              <a:t>import bs4, </a:t>
            </a:r>
            <a:r>
              <a:rPr lang="en-US" sz="1100" dirty="0" err="1"/>
              <a:t>os</a:t>
            </a:r>
            <a:r>
              <a:rPr lang="en-US" sz="1100" dirty="0"/>
              <a:t>, requests, sys, </a:t>
            </a:r>
            <a:r>
              <a:rPr lang="en-US" sz="1100" dirty="0" err="1"/>
              <a:t>zipfile</a:t>
            </a:r>
            <a:endParaRPr lang="en-US" sz="1100" dirty="0"/>
          </a:p>
          <a:p>
            <a:endParaRPr lang="en-US" sz="1100" dirty="0"/>
          </a:p>
          <a:p>
            <a:r>
              <a:rPr lang="en-US" sz="1100" i="1" dirty="0">
                <a:solidFill>
                  <a:schemeClr val="accent6">
                    <a:lumMod val="75000"/>
                  </a:schemeClr>
                </a:solidFill>
              </a:rPr>
              <a:t># Fetch the HTML file contents.</a:t>
            </a:r>
            <a:endParaRPr lang="en-US" sz="1100" dirty="0">
              <a:solidFill>
                <a:schemeClr val="accent6">
                  <a:lumMod val="75000"/>
                </a:schemeClr>
              </a:solidFill>
            </a:endParaRPr>
          </a:p>
          <a:p>
            <a:r>
              <a:rPr lang="en-US" sz="1100" dirty="0" err="1"/>
              <a:t>url</a:t>
            </a:r>
            <a:r>
              <a:rPr lang="en-US" sz="1100" dirty="0"/>
              <a:t> = "https://fawn.ifas.ufl.edu/data/</a:t>
            </a:r>
            <a:r>
              <a:rPr lang="en-US" sz="1100" dirty="0" err="1"/>
              <a:t>fawnpub</a:t>
            </a:r>
            <a:r>
              <a:rPr lang="en-US" sz="1100" dirty="0"/>
              <a:t>/</a:t>
            </a:r>
            <a:r>
              <a:rPr lang="en-US" sz="1100" dirty="0" err="1"/>
              <a:t>daily_summaries</a:t>
            </a:r>
            <a:r>
              <a:rPr lang="en-US" sz="1100" dirty="0"/>
              <a:t>/BY_YEAR/"</a:t>
            </a:r>
          </a:p>
          <a:p>
            <a:r>
              <a:rPr lang="en-US" sz="1100" dirty="0"/>
              <a:t>response = </a:t>
            </a:r>
            <a:r>
              <a:rPr lang="en-US" sz="1100" dirty="0" err="1"/>
              <a:t>requests.get</a:t>
            </a:r>
            <a:r>
              <a:rPr lang="en-US" sz="1100" dirty="0"/>
              <a:t>(</a:t>
            </a:r>
            <a:r>
              <a:rPr lang="en-US" sz="1100" dirty="0" err="1"/>
              <a:t>url</a:t>
            </a:r>
            <a:r>
              <a:rPr lang="en-US" sz="1100" dirty="0"/>
              <a:t>)</a:t>
            </a:r>
          </a:p>
          <a:p>
            <a:r>
              <a:rPr lang="en-US" sz="1100" dirty="0"/>
              <a:t>contents = </a:t>
            </a:r>
            <a:r>
              <a:rPr lang="en-US" sz="1100" dirty="0" err="1"/>
              <a:t>response.text</a:t>
            </a:r>
            <a:endParaRPr lang="en-US" sz="1100" dirty="0"/>
          </a:p>
          <a:p>
            <a:r>
              <a:rPr lang="en-US" sz="1100" dirty="0" err="1"/>
              <a:t>response.close</a:t>
            </a:r>
            <a:r>
              <a:rPr lang="en-US" sz="1100" dirty="0"/>
              <a:t>()</a:t>
            </a:r>
          </a:p>
          <a:p>
            <a:endParaRPr lang="en-US" sz="1100" dirty="0"/>
          </a:p>
          <a:p>
            <a:r>
              <a:rPr lang="en-US" sz="1100" i="1" dirty="0">
                <a:solidFill>
                  <a:schemeClr val="accent6">
                    <a:lumMod val="75000"/>
                  </a:schemeClr>
                </a:solidFill>
              </a:rPr>
              <a:t># Create a soup object from the HTML contents.</a:t>
            </a:r>
          </a:p>
          <a:p>
            <a:r>
              <a:rPr lang="en-US" sz="1100" dirty="0"/>
              <a:t>soup = bs4.BeautifulSoup(contents)</a:t>
            </a:r>
          </a:p>
          <a:p>
            <a:endParaRPr lang="en-US" sz="1100" i="1" dirty="0"/>
          </a:p>
          <a:p>
            <a:r>
              <a:rPr lang="en-US" sz="1100" i="1" dirty="0">
                <a:solidFill>
                  <a:schemeClr val="accent6">
                    <a:lumMod val="75000"/>
                  </a:schemeClr>
                </a:solidFill>
              </a:rPr>
              <a:t># Find all the hyperlinks in the page.</a:t>
            </a:r>
            <a:endParaRPr lang="en-US" sz="1100" dirty="0">
              <a:solidFill>
                <a:schemeClr val="accent6">
                  <a:lumMod val="75000"/>
                </a:schemeClr>
              </a:solidFill>
            </a:endParaRPr>
          </a:p>
          <a:p>
            <a:r>
              <a:rPr lang="en-US" sz="1100" dirty="0" err="1"/>
              <a:t>linkTags</a:t>
            </a:r>
            <a:r>
              <a:rPr lang="en-US" sz="1100" dirty="0"/>
              <a:t> = </a:t>
            </a:r>
            <a:r>
              <a:rPr lang="en-US" sz="1100" dirty="0" err="1"/>
              <a:t>soup.findAll</a:t>
            </a:r>
            <a:r>
              <a:rPr lang="en-US" sz="1100" dirty="0"/>
              <a:t>("a")</a:t>
            </a:r>
          </a:p>
          <a:p>
            <a:endParaRPr lang="en-US" sz="1100" dirty="0"/>
          </a:p>
          <a:p>
            <a:r>
              <a:rPr lang="en-US" sz="1100" i="1" dirty="0">
                <a:solidFill>
                  <a:schemeClr val="accent6">
                    <a:lumMod val="75000"/>
                  </a:schemeClr>
                </a:solidFill>
              </a:rPr>
              <a:t># Get each linked csv.</a:t>
            </a:r>
            <a:endParaRPr lang="en-US" sz="1100" dirty="0"/>
          </a:p>
          <a:p>
            <a:r>
              <a:rPr lang="en-US" sz="1100" dirty="0"/>
              <a:t>for </a:t>
            </a:r>
            <a:r>
              <a:rPr lang="en-US" sz="1100" dirty="0" err="1"/>
              <a:t>linkTag</a:t>
            </a:r>
            <a:r>
              <a:rPr lang="en-US" sz="1100" dirty="0"/>
              <a:t> in </a:t>
            </a:r>
            <a:r>
              <a:rPr lang="en-US" sz="1100" dirty="0" err="1"/>
              <a:t>linkTags</a:t>
            </a:r>
            <a:r>
              <a:rPr lang="en-US" sz="1100" dirty="0"/>
              <a:t>:</a:t>
            </a:r>
          </a:p>
          <a:p>
            <a:r>
              <a:rPr lang="en-US" sz="1100" dirty="0"/>
              <a:t>    </a:t>
            </a:r>
            <a:r>
              <a:rPr lang="en-US" sz="1100" dirty="0" err="1"/>
              <a:t>theLink</a:t>
            </a:r>
            <a:r>
              <a:rPr lang="en-US" sz="1100" dirty="0"/>
              <a:t> = </a:t>
            </a:r>
            <a:r>
              <a:rPr lang="en-US" sz="1100" dirty="0" err="1"/>
              <a:t>linkTag</a:t>
            </a:r>
            <a:r>
              <a:rPr lang="en-US" sz="1100" dirty="0"/>
              <a:t>['</a:t>
            </a:r>
            <a:r>
              <a:rPr lang="en-US" sz="1100" dirty="0" err="1"/>
              <a:t>href</a:t>
            </a:r>
            <a:r>
              <a:rPr lang="en-US" sz="1100" dirty="0"/>
              <a:t>']</a:t>
            </a:r>
          </a:p>
          <a:p>
            <a:r>
              <a:rPr lang="en-US" sz="1100" dirty="0"/>
              <a:t>    if </a:t>
            </a:r>
            <a:r>
              <a:rPr lang="en-US" sz="1100" dirty="0" err="1"/>
              <a:t>theLink.endswith</a:t>
            </a:r>
            <a:r>
              <a:rPr lang="en-US" sz="1100" dirty="0"/>
              <a:t>(".csv") or </a:t>
            </a:r>
            <a:r>
              <a:rPr lang="en-US" sz="1100" dirty="0" err="1"/>
              <a:t>theLink.endswith</a:t>
            </a:r>
            <a:r>
              <a:rPr lang="en-US" sz="1100" dirty="0"/>
              <a:t>(".zip") :</a:t>
            </a:r>
          </a:p>
          <a:p>
            <a:r>
              <a:rPr lang="en-US" sz="1100" dirty="0"/>
              <a:t>        print(</a:t>
            </a:r>
            <a:r>
              <a:rPr lang="en-US" sz="1100" dirty="0" err="1"/>
              <a:t>f"Link</a:t>
            </a:r>
            <a:r>
              <a:rPr lang="en-US" sz="1100" dirty="0"/>
              <a:t>: {</a:t>
            </a:r>
            <a:r>
              <a:rPr lang="en-US" sz="1100" dirty="0" err="1"/>
              <a:t>linkTag</a:t>
            </a:r>
            <a:r>
              <a:rPr lang="en-US" sz="1100" dirty="0"/>
              <a:t>['</a:t>
            </a:r>
            <a:r>
              <a:rPr lang="en-US" sz="1100" dirty="0" err="1"/>
              <a:t>href</a:t>
            </a:r>
            <a:r>
              <a:rPr lang="en-US" sz="1100" dirty="0"/>
              <a:t>']}")</a:t>
            </a:r>
          </a:p>
          <a:p>
            <a:r>
              <a:rPr lang="en-US" sz="1100" dirty="0"/>
              <a:t>        </a:t>
            </a:r>
            <a:r>
              <a:rPr lang="en-US" sz="1100" i="1" dirty="0">
                <a:solidFill>
                  <a:schemeClr val="accent6">
                    <a:lumMod val="75000"/>
                  </a:schemeClr>
                </a:solidFill>
              </a:rPr>
              <a:t># Fetch and write</a:t>
            </a:r>
          </a:p>
          <a:p>
            <a:r>
              <a:rPr lang="en-US" sz="1100" dirty="0"/>
              <a:t>        </a:t>
            </a:r>
            <a:r>
              <a:rPr lang="en-US" sz="1100" dirty="0" err="1"/>
              <a:t>full_link</a:t>
            </a:r>
            <a:r>
              <a:rPr lang="en-US" sz="1100" dirty="0"/>
              <a:t> = </a:t>
            </a:r>
            <a:r>
              <a:rPr lang="en-US" sz="1100" dirty="0" err="1"/>
              <a:t>url</a:t>
            </a:r>
            <a:r>
              <a:rPr lang="en-US" sz="1100" dirty="0"/>
              <a:t> + </a:t>
            </a:r>
            <a:r>
              <a:rPr lang="en-US" sz="1100" dirty="0" err="1"/>
              <a:t>theLink</a:t>
            </a:r>
            <a:endParaRPr lang="en-US" sz="1100" dirty="0"/>
          </a:p>
          <a:p>
            <a:r>
              <a:rPr lang="en-US" sz="1100" dirty="0"/>
              <a:t>        </a:t>
            </a:r>
            <a:r>
              <a:rPr lang="en-US" sz="1100" dirty="0" err="1"/>
              <a:t>outputName</a:t>
            </a:r>
            <a:r>
              <a:rPr lang="en-US" sz="1100" dirty="0"/>
              <a:t> = </a:t>
            </a:r>
            <a:r>
              <a:rPr lang="en-US" sz="1100" dirty="0" err="1"/>
              <a:t>os.path.join</a:t>
            </a:r>
            <a:r>
              <a:rPr lang="en-US" sz="1100" dirty="0"/>
              <a:t>(</a:t>
            </a:r>
            <a:r>
              <a:rPr lang="en-US" sz="1100" dirty="0" err="1"/>
              <a:t>outputDir</a:t>
            </a:r>
            <a:r>
              <a:rPr lang="en-US" sz="1100" dirty="0"/>
              <a:t>, </a:t>
            </a:r>
            <a:r>
              <a:rPr lang="en-US" sz="1100" dirty="0" err="1"/>
              <a:t>os.path.basename</a:t>
            </a:r>
            <a:r>
              <a:rPr lang="en-US" sz="1100" dirty="0"/>
              <a:t>(</a:t>
            </a:r>
            <a:r>
              <a:rPr lang="en-US" sz="1100" dirty="0" err="1"/>
              <a:t>theLink</a:t>
            </a:r>
            <a:r>
              <a:rPr lang="en-US" sz="1100" dirty="0"/>
              <a:t>))</a:t>
            </a:r>
          </a:p>
          <a:p>
            <a:r>
              <a:rPr lang="en-US" sz="1100" dirty="0"/>
              <a:t>        response = </a:t>
            </a:r>
            <a:r>
              <a:rPr lang="en-US" sz="1100" dirty="0" err="1"/>
              <a:t>requests.get</a:t>
            </a:r>
            <a:r>
              <a:rPr lang="en-US" sz="1100" dirty="0"/>
              <a:t>(</a:t>
            </a:r>
            <a:r>
              <a:rPr lang="en-US" sz="1100" dirty="0" err="1"/>
              <a:t>full_link</a:t>
            </a:r>
            <a:r>
              <a:rPr lang="en-US" sz="1100" dirty="0"/>
              <a:t>)</a:t>
            </a:r>
          </a:p>
          <a:p>
            <a:r>
              <a:rPr lang="en-US" sz="1100" dirty="0"/>
              <a:t>        with open(</a:t>
            </a:r>
            <a:r>
              <a:rPr lang="en-US" sz="1100" dirty="0" err="1"/>
              <a:t>outputName</a:t>
            </a:r>
            <a:r>
              <a:rPr lang="en-US" sz="1100" dirty="0"/>
              <a:t>, "</a:t>
            </a:r>
            <a:r>
              <a:rPr lang="en-US" sz="1100" dirty="0" err="1"/>
              <a:t>wb</a:t>
            </a:r>
            <a:r>
              <a:rPr lang="en-US" sz="1100" dirty="0"/>
              <a:t>") as f:</a:t>
            </a:r>
          </a:p>
          <a:p>
            <a:r>
              <a:rPr lang="en-US" sz="1100" dirty="0"/>
              <a:t>            </a:t>
            </a:r>
            <a:r>
              <a:rPr lang="en-US" sz="1100" dirty="0" err="1"/>
              <a:t>f.write</a:t>
            </a:r>
            <a:r>
              <a:rPr lang="en-US" sz="1100" dirty="0"/>
              <a:t>(</a:t>
            </a:r>
            <a:r>
              <a:rPr lang="en-US" sz="1100" dirty="0" err="1"/>
              <a:t>response.content</a:t>
            </a:r>
            <a:r>
              <a:rPr lang="en-US" sz="1100" dirty="0"/>
              <a:t>)</a:t>
            </a:r>
          </a:p>
          <a:p>
            <a:endParaRPr lang="en-US" sz="1400" dirty="0"/>
          </a:p>
          <a:p>
            <a:r>
              <a:rPr lang="en-US" sz="1100" dirty="0"/>
              <a:t>        </a:t>
            </a:r>
            <a:r>
              <a:rPr lang="en-US" sz="1100" i="1" dirty="0">
                <a:solidFill>
                  <a:schemeClr val="accent6">
                    <a:lumMod val="75000"/>
                  </a:schemeClr>
                </a:solidFill>
              </a:rPr>
              <a:t># Uncompress the </a:t>
            </a:r>
            <a:r>
              <a:rPr lang="en-US" sz="1100" i="1" dirty="0" err="1">
                <a:solidFill>
                  <a:schemeClr val="accent6">
                    <a:lumMod val="75000"/>
                  </a:schemeClr>
                </a:solidFill>
              </a:rPr>
              <a:t>zipfiles</a:t>
            </a:r>
            <a:r>
              <a:rPr lang="en-US" sz="1100" i="1" dirty="0">
                <a:solidFill>
                  <a:schemeClr val="accent6">
                    <a:lumMod val="75000"/>
                  </a:schemeClr>
                </a:solidFill>
              </a:rPr>
              <a:t>.</a:t>
            </a:r>
            <a:endParaRPr lang="en-US" sz="1100" dirty="0"/>
          </a:p>
          <a:p>
            <a:r>
              <a:rPr lang="en-US" sz="1100" dirty="0"/>
              <a:t>        with </a:t>
            </a:r>
            <a:r>
              <a:rPr lang="en-US" sz="1100" dirty="0" err="1"/>
              <a:t>zipfile.ZipFile</a:t>
            </a:r>
            <a:r>
              <a:rPr lang="en-US" sz="1100" dirty="0"/>
              <a:t>(</a:t>
            </a:r>
            <a:r>
              <a:rPr lang="en-US" sz="1100" dirty="0" err="1"/>
              <a:t>zipPath</a:t>
            </a:r>
            <a:r>
              <a:rPr lang="en-US" sz="1100" dirty="0"/>
              <a:t>, 'r') as </a:t>
            </a:r>
            <a:r>
              <a:rPr lang="en-US" sz="1100" dirty="0" err="1"/>
              <a:t>zip_ref</a:t>
            </a:r>
            <a:r>
              <a:rPr lang="en-US" sz="1100" dirty="0"/>
              <a:t>:</a:t>
            </a:r>
          </a:p>
          <a:p>
            <a:r>
              <a:rPr lang="en-US" sz="1100" dirty="0"/>
              <a:t>            </a:t>
            </a:r>
            <a:r>
              <a:rPr lang="en-US" sz="1100" dirty="0" err="1"/>
              <a:t>zip_ref.extractall</a:t>
            </a:r>
            <a:r>
              <a:rPr lang="en-US" sz="1100" dirty="0"/>
              <a:t>(</a:t>
            </a:r>
            <a:r>
              <a:rPr lang="en-US" sz="1100" dirty="0" err="1"/>
              <a:t>outputDir</a:t>
            </a:r>
            <a:r>
              <a:rPr lang="en-US" sz="1100" dirty="0"/>
              <a:t>)</a:t>
            </a:r>
          </a:p>
          <a:p>
            <a:endParaRPr lang="en-US" sz="1100" dirty="0"/>
          </a:p>
          <a:p>
            <a:r>
              <a:rPr lang="en-US" sz="1100" dirty="0"/>
              <a:t>print(</a:t>
            </a:r>
            <a:r>
              <a:rPr lang="en-US" sz="1100" dirty="0" err="1"/>
              <a:t>f"Downloaded</a:t>
            </a:r>
            <a:r>
              <a:rPr lang="en-US" sz="1100" dirty="0"/>
              <a:t> and uncompressed zip files to {</a:t>
            </a:r>
            <a:r>
              <a:rPr lang="en-US" sz="1100" dirty="0" err="1"/>
              <a:t>outputDir</a:t>
            </a:r>
            <a:r>
              <a:rPr lang="en-US" sz="1100" dirty="0"/>
              <a:t>}") </a:t>
            </a:r>
          </a:p>
        </p:txBody>
      </p:sp>
      <p:pic>
        <p:nvPicPr>
          <p:cNvPr id="15" name="Picture 14">
            <a:extLst>
              <a:ext uri="{FF2B5EF4-FFF2-40B4-BE49-F238E27FC236}">
                <a16:creationId xmlns:a16="http://schemas.microsoft.com/office/drawing/2014/main" id="{10AF8E42-9E01-1DC4-DE8A-2E511C9EE483}"/>
              </a:ext>
            </a:extLst>
          </p:cNvPr>
          <p:cNvPicPr>
            <a:picLocks noChangeAspect="1"/>
          </p:cNvPicPr>
          <p:nvPr/>
        </p:nvPicPr>
        <p:blipFill>
          <a:blip r:embed="rId3"/>
          <a:stretch>
            <a:fillRect/>
          </a:stretch>
        </p:blipFill>
        <p:spPr>
          <a:xfrm>
            <a:off x="6439889" y="1413095"/>
            <a:ext cx="2508259" cy="232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89E4B167-3430-F65B-34D6-9BDC3BDA3E5E}"/>
              </a:ext>
            </a:extLst>
          </p:cNvPr>
          <p:cNvSpPr txBox="1"/>
          <p:nvPr/>
        </p:nvSpPr>
        <p:spPr>
          <a:xfrm>
            <a:off x="6237995" y="1043763"/>
            <a:ext cx="2876300"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FAWN data hosting webpage</a:t>
            </a:r>
          </a:p>
        </p:txBody>
      </p:sp>
      <p:sp>
        <p:nvSpPr>
          <p:cNvPr id="17" name="TextBox 16">
            <a:extLst>
              <a:ext uri="{FF2B5EF4-FFF2-40B4-BE49-F238E27FC236}">
                <a16:creationId xmlns:a16="http://schemas.microsoft.com/office/drawing/2014/main" id="{1DA40EB1-8075-2DFD-0130-E20D739F3C37}"/>
              </a:ext>
            </a:extLst>
          </p:cNvPr>
          <p:cNvSpPr txBox="1"/>
          <p:nvPr/>
        </p:nvSpPr>
        <p:spPr>
          <a:xfrm>
            <a:off x="5256811" y="3933731"/>
            <a:ext cx="1746697" cy="369332"/>
          </a:xfrm>
          <a:prstGeom prst="rect">
            <a:avLst/>
          </a:prstGeom>
          <a:noFill/>
        </p:spPr>
        <p:txBody>
          <a:bodyPr wrap="none" rtlCol="0">
            <a:spAutoFit/>
          </a:bodyPr>
          <a:lstStyle/>
          <a:p>
            <a:r>
              <a:rPr lang="en-US" dirty="0">
                <a:solidFill>
                  <a:srgbClr val="5698D3"/>
                </a:solidFill>
                <a:latin typeface="Abadi Extra Light" panose="020B0204020104020204" pitchFamily="34" charset="0"/>
              </a:rPr>
              <a:t>Directory output</a:t>
            </a:r>
          </a:p>
        </p:txBody>
      </p:sp>
      <p:pic>
        <p:nvPicPr>
          <p:cNvPr id="4" name="Picture 3">
            <a:extLst>
              <a:ext uri="{FF2B5EF4-FFF2-40B4-BE49-F238E27FC236}">
                <a16:creationId xmlns:a16="http://schemas.microsoft.com/office/drawing/2014/main" id="{378772E6-1789-D19C-36FB-8659C794E0B0}"/>
              </a:ext>
            </a:extLst>
          </p:cNvPr>
          <p:cNvPicPr>
            <a:picLocks noChangeAspect="1"/>
          </p:cNvPicPr>
          <p:nvPr/>
        </p:nvPicPr>
        <p:blipFill>
          <a:blip r:embed="rId4"/>
          <a:stretch>
            <a:fillRect/>
          </a:stretch>
        </p:blipFill>
        <p:spPr>
          <a:xfrm>
            <a:off x="5334000" y="4261122"/>
            <a:ext cx="2667000" cy="2444478"/>
          </a:xfrm>
          <a:prstGeom prst="rect">
            <a:avLst/>
          </a:prstGeom>
        </p:spPr>
      </p:pic>
    </p:spTree>
    <p:extLst>
      <p:ext uri="{BB962C8B-B14F-4D97-AF65-F5344CB8AC3E}">
        <p14:creationId xmlns:p14="http://schemas.microsoft.com/office/powerpoint/2010/main" val="87917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54F8CFC-0932-8207-818F-AB3B90703144}"/>
              </a:ext>
            </a:extLst>
          </p:cNvPr>
          <p:cNvSpPr>
            <a:spLocks noGrp="1"/>
          </p:cNvSpPr>
          <p:nvPr>
            <p:ph type="title"/>
          </p:nvPr>
        </p:nvSpPr>
        <p:spPr/>
        <p:txBody>
          <a:bodyPr/>
          <a:lstStyle/>
          <a:p>
            <a:r>
              <a:rPr lang="en-US" altLang="en-US" dirty="0"/>
              <a:t>Summing up: Topics discussed</a:t>
            </a:r>
          </a:p>
        </p:txBody>
      </p:sp>
      <p:sp>
        <p:nvSpPr>
          <p:cNvPr id="22531" name="Content Placeholder 2">
            <a:extLst>
              <a:ext uri="{FF2B5EF4-FFF2-40B4-BE49-F238E27FC236}">
                <a16:creationId xmlns:a16="http://schemas.microsoft.com/office/drawing/2014/main" id="{1EC06661-8130-A573-C6A2-7330B28CE97C}"/>
              </a:ext>
            </a:extLst>
          </p:cNvPr>
          <p:cNvSpPr>
            <a:spLocks noGrp="1"/>
          </p:cNvSpPr>
          <p:nvPr>
            <p:ph idx="1"/>
          </p:nvPr>
        </p:nvSpPr>
        <p:spPr>
          <a:xfrm>
            <a:off x="609600" y="4800237"/>
            <a:ext cx="8686800" cy="3238500"/>
          </a:xfrm>
        </p:spPr>
        <p:txBody>
          <a:bodyPr/>
          <a:lstStyle/>
          <a:p>
            <a:pPr marL="914400" lvl="2" indent="0">
              <a:buNone/>
            </a:pPr>
            <a:r>
              <a:rPr lang="en-US" altLang="en-US" dirty="0"/>
              <a:t>Fetch web content (html, files)</a:t>
            </a:r>
          </a:p>
          <a:p>
            <a:pPr marL="914400" lvl="2" indent="0">
              <a:buNone/>
            </a:pPr>
            <a:r>
              <a:rPr lang="en-US" altLang="en-US" dirty="0"/>
              <a:t>Parse html with beautiful soup (</a:t>
            </a:r>
            <a:r>
              <a:rPr lang="en-US" dirty="0" err="1"/>
              <a:t>soup.findAll</a:t>
            </a:r>
            <a:r>
              <a:rPr lang="en-US" dirty="0"/>
              <a:t>("a"))</a:t>
            </a:r>
            <a:endParaRPr lang="en-US" altLang="en-US" dirty="0"/>
          </a:p>
          <a:p>
            <a:pPr marL="914400" lvl="2" indent="0">
              <a:buNone/>
            </a:pPr>
            <a:r>
              <a:rPr lang="en-US" altLang="en-US" dirty="0"/>
              <a:t>Write the fetched file locally ("</a:t>
            </a:r>
            <a:r>
              <a:rPr lang="en-US" altLang="en-US" dirty="0" err="1"/>
              <a:t>wb</a:t>
            </a:r>
            <a:r>
              <a:rPr lang="en-US" altLang="en-US" dirty="0"/>
              <a:t>")</a:t>
            </a:r>
          </a:p>
          <a:p>
            <a:pPr marL="914400" lvl="2" indent="0">
              <a:buNone/>
            </a:pPr>
            <a:r>
              <a:rPr lang="en-US" altLang="en-US" dirty="0"/>
              <a:t>Expand compressed files</a:t>
            </a:r>
          </a:p>
          <a:p>
            <a:pPr marL="914400" lvl="2" indent="0">
              <a:buNone/>
            </a:pPr>
            <a:endParaRPr lang="en-US" altLang="en-US" dirty="0">
              <a:ea typeface="ＭＳ Ｐゴシック" panose="020B0600070205080204" pitchFamily="34" charset="-128"/>
            </a:endParaRPr>
          </a:p>
        </p:txBody>
      </p:sp>
      <p:sp>
        <p:nvSpPr>
          <p:cNvPr id="22532" name="Slide Number Placeholder 3">
            <a:extLst>
              <a:ext uri="{FF2B5EF4-FFF2-40B4-BE49-F238E27FC236}">
                <a16:creationId xmlns:a16="http://schemas.microsoft.com/office/drawing/2014/main" id="{494FA7F6-9976-7209-9AAE-D1023B17AD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B801536-8FCD-4AB7-AB53-7EAAA1A3CA73}" type="slidenum">
              <a:rPr lang="en-US" altLang="en-US" sz="1400">
                <a:solidFill>
                  <a:srgbClr val="008000"/>
                </a:solidFill>
                <a:ea typeface="ＭＳ Ｐゴシック" panose="020B0600070205080204" pitchFamily="34" charset="-128"/>
              </a:rPr>
              <a:pPr>
                <a:spcBef>
                  <a:spcPct val="0"/>
                </a:spcBef>
                <a:buFontTx/>
                <a:buNone/>
              </a:pPr>
              <a:t>12</a:t>
            </a:fld>
            <a:endParaRPr lang="en-US" altLang="en-US" sz="1400">
              <a:solidFill>
                <a:srgbClr val="008000"/>
              </a:solidFill>
              <a:ea typeface="ＭＳ Ｐゴシック" panose="020B0600070205080204" pitchFamily="34" charset="-128"/>
            </a:endParaRPr>
          </a:p>
        </p:txBody>
      </p:sp>
      <p:pic>
        <p:nvPicPr>
          <p:cNvPr id="22533" name="Picture 7" descr="Image result for fetch">
            <a:extLst>
              <a:ext uri="{FF2B5EF4-FFF2-40B4-BE49-F238E27FC236}">
                <a16:creationId xmlns:a16="http://schemas.microsoft.com/office/drawing/2014/main" id="{7480FA2A-93E6-E16F-ECF6-A4CC95BA4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685800"/>
            <a:ext cx="5451475" cy="4088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109560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57150">
          <a:solidFill>
            <a:srgbClr val="FF00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52920</TotalTime>
  <Words>3113</Words>
  <Application>Microsoft Office PowerPoint</Application>
  <PresentationFormat>On-screen Show (4:3)</PresentationFormat>
  <Paragraphs>424</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ＭＳ Ｐゴシック</vt:lpstr>
      <vt:lpstr>Abadi Extra Light</vt:lpstr>
      <vt:lpstr>Arial</vt:lpstr>
      <vt:lpstr>Consolas</vt:lpstr>
      <vt:lpstr>Garamond</vt:lpstr>
      <vt:lpstr>Default Design</vt:lpstr>
      <vt:lpstr>Fetching and uncompressingfiles</vt:lpstr>
      <vt:lpstr>Fetching web content</vt:lpstr>
      <vt:lpstr>Web hosted data example</vt:lpstr>
      <vt:lpstr>Web hosted data example</vt:lpstr>
      <vt:lpstr>Fetching and writing a data file</vt:lpstr>
      <vt:lpstr>Fetching HTML</vt:lpstr>
      <vt:lpstr>Application: Fetch HTML with data links</vt:lpstr>
      <vt:lpstr>Parse html with BeautifulSoup (bs4)</vt:lpstr>
      <vt:lpstr>Download the linked csv's</vt:lpstr>
      <vt:lpstr>Uncompress a file</vt:lpstr>
      <vt:lpstr>Uncompress the zipfiles</vt:lpstr>
      <vt:lpstr>Summing up: Topics discussed</vt:lpstr>
    </vt:vector>
  </TitlesOfParts>
  <Company>San Diego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Geoprocessing using Python</dc:title>
  <dc:creator>piotr</dc:creator>
  <cp:lastModifiedBy>Laura Gray Tateosian</cp:lastModifiedBy>
  <cp:revision>466</cp:revision>
  <dcterms:created xsi:type="dcterms:W3CDTF">2004-10-22T02:24:14Z</dcterms:created>
  <dcterms:modified xsi:type="dcterms:W3CDTF">2026-04-27T16:55:59Z</dcterms:modified>
</cp:coreProperties>
</file>